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18463f52cb4e96" /><Relationship Type="http://schemas.openxmlformats.org/officeDocument/2006/relationships/extended-properties" Target="/docProps/app.xml" Id="R22392a580f8b427a" /><Relationship Type="http://schemas.openxmlformats.org/officeDocument/2006/relationships/officeDocument" Target="/ppt/presentation.xml" Id="R782a040f9a8241e9" /></Relationships>
</file>

<file path=ppt/presentation.xml><?xml version="1.0" encoding="utf-8"?>
<p:presentation xmlns:p="http://schemas.openxmlformats.org/presentationml/2006/main">
  <p:sldMasterIdLst>
    <p:sldMasterId xmlns:r="http://schemas.openxmlformats.org/officeDocument/2006/relationships" id="2147483648" r:id="R4a0aadc722da48d1"/>
  </p:sldMasterIdLst>
  <p:notesMasterIdLst>
    <p:notesMasterId xmlns:r="http://schemas.openxmlformats.org/officeDocument/2006/relationships" r:id="Re5ca90f4cace4a85"/>
  </p:notesMasterIdLst>
  <p:sldIdLst>
    <p:sldId xmlns:r="http://schemas.openxmlformats.org/officeDocument/2006/relationships" id="256" r:id="R315307ab20da401c"/>
    <p:sldId xmlns:r="http://schemas.openxmlformats.org/officeDocument/2006/relationships" id="257" r:id="Rdca6742e76434518"/>
    <p:sldId xmlns:r="http://schemas.openxmlformats.org/officeDocument/2006/relationships" id="258" r:id="R678cca1d56d3460f"/>
    <p:sldId xmlns:r="http://schemas.openxmlformats.org/officeDocument/2006/relationships" id="259" r:id="Rfc2c807eea7247d0"/>
    <p:sldId xmlns:r="http://schemas.openxmlformats.org/officeDocument/2006/relationships" id="260" r:id="Ref612466fdba429e"/>
    <p:sldId xmlns:r="http://schemas.openxmlformats.org/officeDocument/2006/relationships" id="261" r:id="R56bc159a7b064a13"/>
    <p:sldId xmlns:r="http://schemas.openxmlformats.org/officeDocument/2006/relationships" id="262" r:id="R828ed239769d4527"/>
    <p:sldId xmlns:r="http://schemas.openxmlformats.org/officeDocument/2006/relationships" id="263" r:id="R74035b043ccc4f9d"/>
    <p:sldId xmlns:r="http://schemas.openxmlformats.org/officeDocument/2006/relationships" id="264" r:id="Rfe508000a8bb4d9e"/>
    <p:sldId xmlns:r="http://schemas.openxmlformats.org/officeDocument/2006/relationships" id="265" r:id="Raed7476b815240dd"/>
    <p:sldId xmlns:r="http://schemas.openxmlformats.org/officeDocument/2006/relationships" id="266" r:id="R91092e52646e4a5a"/>
    <p:sldId xmlns:r="http://schemas.openxmlformats.org/officeDocument/2006/relationships" id="267" r:id="Rbe534d21c4d7483a"/>
    <p:sldId xmlns:r="http://schemas.openxmlformats.org/officeDocument/2006/relationships" id="268" r:id="Rad6854258a81423c"/>
    <p:sldId xmlns:r="http://schemas.openxmlformats.org/officeDocument/2006/relationships" id="269" r:id="R1cc2f28d3a764882"/>
    <p:sldId xmlns:r="http://schemas.openxmlformats.org/officeDocument/2006/relationships" id="270" r:id="R03601a4ff50a41fd"/>
    <p:sldId xmlns:r="http://schemas.openxmlformats.org/officeDocument/2006/relationships" id="271" r:id="Re56e81ff73ac4eb4"/>
    <p:sldId xmlns:r="http://schemas.openxmlformats.org/officeDocument/2006/relationships" id="272" r:id="R17207bc918ba4a1f"/>
    <p:sldId xmlns:r="http://schemas.openxmlformats.org/officeDocument/2006/relationships" id="273" r:id="R7be52fdeb5e84708"/>
    <p:sldId xmlns:r="http://schemas.openxmlformats.org/officeDocument/2006/relationships" id="274" r:id="Re6be5c1f09c74b95"/>
    <p:sldId xmlns:r="http://schemas.openxmlformats.org/officeDocument/2006/relationships" id="275" r:id="R110370c26a9d4691"/>
    <p:sldId xmlns:r="http://schemas.openxmlformats.org/officeDocument/2006/relationships" id="276" r:id="R54f3d08794fd4f99"/>
    <p:sldId xmlns:r="http://schemas.openxmlformats.org/officeDocument/2006/relationships" id="277" r:id="Re9af8c15f61a468f"/>
    <p:sldId xmlns:r="http://schemas.openxmlformats.org/officeDocument/2006/relationships" id="278" r:id="R34cdc50d7c824c49"/>
    <p:sldId xmlns:r="http://schemas.openxmlformats.org/officeDocument/2006/relationships" id="279" r:id="Rc50434ad8d63404e"/>
    <p:sldId xmlns:r="http://schemas.openxmlformats.org/officeDocument/2006/relationships" id="280" r:id="Rbd2ae8100b2d418e"/>
    <p:sldId xmlns:r="http://schemas.openxmlformats.org/officeDocument/2006/relationships" id="281" r:id="R46696c93bc494465"/>
    <p:sldId xmlns:r="http://schemas.openxmlformats.org/officeDocument/2006/relationships" id="282" r:id="Rc5e08216123f465f"/>
    <p:sldId xmlns:r="http://schemas.openxmlformats.org/officeDocument/2006/relationships" id="283" r:id="Rf2049f8fe3f04da5"/>
    <p:sldId xmlns:r="http://schemas.openxmlformats.org/officeDocument/2006/relationships" id="284" r:id="R34f1565ada83497b"/>
    <p:sldId xmlns:r="http://schemas.openxmlformats.org/officeDocument/2006/relationships" id="285" r:id="R366f8c74fce24700"/>
    <p:sldId xmlns:r="http://schemas.openxmlformats.org/officeDocument/2006/relationships" id="286" r:id="R88f80e91fd234c4a"/>
    <p:sldId xmlns:r="http://schemas.openxmlformats.org/officeDocument/2006/relationships" id="287" r:id="R905d93616f91400d"/>
    <p:sldId xmlns:r="http://schemas.openxmlformats.org/officeDocument/2006/relationships" id="288" r:id="R06621501df95437b"/>
    <p:sldId xmlns:r="http://schemas.openxmlformats.org/officeDocument/2006/relationships" id="289" r:id="Rd4744e1115b042bd"/>
    <p:sldId xmlns:r="http://schemas.openxmlformats.org/officeDocument/2006/relationships" id="290" r:id="Rdb222ad7513e4d5c"/>
    <p:sldId xmlns:r="http://schemas.openxmlformats.org/officeDocument/2006/relationships" id="291" r:id="Rfa1ca2448bac4333"/>
    <p:sldId xmlns:r="http://schemas.openxmlformats.org/officeDocument/2006/relationships" id="292" r:id="R7f401c65d9494105"/>
    <p:sldId xmlns:r="http://schemas.openxmlformats.org/officeDocument/2006/relationships" id="293" r:id="R1438be51a1734a3f"/>
    <p:sldId xmlns:r="http://schemas.openxmlformats.org/officeDocument/2006/relationships" id="294" r:id="Rb49187bd490c4431"/>
    <p:sldId xmlns:r="http://schemas.openxmlformats.org/officeDocument/2006/relationships" id="295" r:id="R1a7ca70ba165473d"/>
    <p:sldId xmlns:r="http://schemas.openxmlformats.org/officeDocument/2006/relationships" id="296" r:id="R87fe6e24b4164417"/>
    <p:sldId xmlns:r="http://schemas.openxmlformats.org/officeDocument/2006/relationships" id="297" r:id="R6061234f032745b1"/>
    <p:sldId xmlns:r="http://schemas.openxmlformats.org/officeDocument/2006/relationships" id="298" r:id="R85c34d17bb284ced"/>
    <p:sldId xmlns:r="http://schemas.openxmlformats.org/officeDocument/2006/relationships" id="299" r:id="Rf177413c178a4f62"/>
    <p:sldId xmlns:r="http://schemas.openxmlformats.org/officeDocument/2006/relationships" id="300" r:id="R0781ee7f465d434e"/>
    <p:sldId xmlns:r="http://schemas.openxmlformats.org/officeDocument/2006/relationships" id="301" r:id="R130a10ee64444f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c3272394564be1" /><Relationship Type="http://schemas.openxmlformats.org/officeDocument/2006/relationships/slideMaster" Target="/ppt/slideMasters/slideMaster1.xml" Id="R4a0aadc722da48d1" /><Relationship Type="http://schemas.openxmlformats.org/officeDocument/2006/relationships/notesMaster" Target="/ppt/notesMasters/notesMaster1.xml" Id="Re5ca90f4cace4a85" /><Relationship Type="http://schemas.openxmlformats.org/officeDocument/2006/relationships/presProps" Target="/ppt/presProps.xml" Id="R0bfbb237be274ed2" /><Relationship Type="http://schemas.openxmlformats.org/officeDocument/2006/relationships/tableStyles" Target="/ppt/tableStyles.xml" Id="R6655581d599340e2" /><Relationship Type="http://schemas.openxmlformats.org/officeDocument/2006/relationships/slide" Target="/ppt/slides/slide1.xml" Id="R315307ab20da401c" /><Relationship Type="http://schemas.openxmlformats.org/officeDocument/2006/relationships/slide" Target="/ppt/slides/slide2.xml" Id="Rdca6742e76434518" /><Relationship Type="http://schemas.openxmlformats.org/officeDocument/2006/relationships/slide" Target="/ppt/slides/slide3.xml" Id="R678cca1d56d3460f" /><Relationship Type="http://schemas.openxmlformats.org/officeDocument/2006/relationships/slide" Target="/ppt/slides/slide4.xml" Id="Rfc2c807eea7247d0" /><Relationship Type="http://schemas.openxmlformats.org/officeDocument/2006/relationships/slide" Target="/ppt/slides/slide5.xml" Id="Ref612466fdba429e" /><Relationship Type="http://schemas.openxmlformats.org/officeDocument/2006/relationships/slide" Target="/ppt/slides/slide6.xml" Id="R56bc159a7b064a13" /><Relationship Type="http://schemas.openxmlformats.org/officeDocument/2006/relationships/slide" Target="/ppt/slides/slide7.xml" Id="R828ed239769d4527" /><Relationship Type="http://schemas.openxmlformats.org/officeDocument/2006/relationships/slide" Target="/ppt/slides/slide8.xml" Id="R74035b043ccc4f9d" /><Relationship Type="http://schemas.openxmlformats.org/officeDocument/2006/relationships/slide" Target="/ppt/slides/slide9.xml" Id="Rfe508000a8bb4d9e" /><Relationship Type="http://schemas.openxmlformats.org/officeDocument/2006/relationships/slide" Target="/ppt/slides/slide10.xml" Id="Raed7476b815240dd" /><Relationship Type="http://schemas.openxmlformats.org/officeDocument/2006/relationships/slide" Target="/ppt/slides/slide11.xml" Id="R91092e52646e4a5a" /><Relationship Type="http://schemas.openxmlformats.org/officeDocument/2006/relationships/slide" Target="/ppt/slides/slide12.xml" Id="Rbe534d21c4d7483a" /><Relationship Type="http://schemas.openxmlformats.org/officeDocument/2006/relationships/slide" Target="/ppt/slides/slide13.xml" Id="Rad6854258a81423c" /><Relationship Type="http://schemas.openxmlformats.org/officeDocument/2006/relationships/slide" Target="/ppt/slides/slide14.xml" Id="R1cc2f28d3a764882" /><Relationship Type="http://schemas.openxmlformats.org/officeDocument/2006/relationships/slide" Target="/ppt/slides/slide15.xml" Id="R03601a4ff50a41fd" /><Relationship Type="http://schemas.openxmlformats.org/officeDocument/2006/relationships/slide" Target="/ppt/slides/slide16.xml" Id="Re56e81ff73ac4eb4" /><Relationship Type="http://schemas.openxmlformats.org/officeDocument/2006/relationships/slide" Target="/ppt/slides/slide17.xml" Id="R17207bc918ba4a1f" /><Relationship Type="http://schemas.openxmlformats.org/officeDocument/2006/relationships/slide" Target="/ppt/slides/slide18.xml" Id="R7be52fdeb5e84708" /><Relationship Type="http://schemas.openxmlformats.org/officeDocument/2006/relationships/slide" Target="/ppt/slides/slide19.xml" Id="Re6be5c1f09c74b95" /><Relationship Type="http://schemas.openxmlformats.org/officeDocument/2006/relationships/slide" Target="/ppt/slides/slide20.xml" Id="R110370c26a9d4691" /><Relationship Type="http://schemas.openxmlformats.org/officeDocument/2006/relationships/slide" Target="/ppt/slides/slide21.xml" Id="R54f3d08794fd4f99" /><Relationship Type="http://schemas.openxmlformats.org/officeDocument/2006/relationships/slide" Target="/ppt/slides/slide22.xml" Id="Re9af8c15f61a468f" /><Relationship Type="http://schemas.openxmlformats.org/officeDocument/2006/relationships/slide" Target="/ppt/slides/slide23.xml" Id="R34cdc50d7c824c49" /><Relationship Type="http://schemas.openxmlformats.org/officeDocument/2006/relationships/slide" Target="/ppt/slides/slide24.xml" Id="Rc50434ad8d63404e" /><Relationship Type="http://schemas.openxmlformats.org/officeDocument/2006/relationships/slide" Target="/ppt/slides/slide25.xml" Id="Rbd2ae8100b2d418e" /><Relationship Type="http://schemas.openxmlformats.org/officeDocument/2006/relationships/slide" Target="/ppt/slides/slide26.xml" Id="R46696c93bc494465" /><Relationship Type="http://schemas.openxmlformats.org/officeDocument/2006/relationships/slide" Target="/ppt/slides/slide27.xml" Id="Rc5e08216123f465f" /><Relationship Type="http://schemas.openxmlformats.org/officeDocument/2006/relationships/slide" Target="/ppt/slides/slide28.xml" Id="Rf2049f8fe3f04da5" /><Relationship Type="http://schemas.openxmlformats.org/officeDocument/2006/relationships/slide" Target="/ppt/slides/slide29.xml" Id="R34f1565ada83497b" /><Relationship Type="http://schemas.openxmlformats.org/officeDocument/2006/relationships/slide" Target="/ppt/slides/slide30.xml" Id="R366f8c74fce24700" /><Relationship Type="http://schemas.openxmlformats.org/officeDocument/2006/relationships/slide" Target="/ppt/slides/slide31.xml" Id="R88f80e91fd234c4a" /><Relationship Type="http://schemas.openxmlformats.org/officeDocument/2006/relationships/slide" Target="/ppt/slides/slide32.xml" Id="R905d93616f91400d" /><Relationship Type="http://schemas.openxmlformats.org/officeDocument/2006/relationships/slide" Target="/ppt/slides/slide33.xml" Id="R06621501df95437b" /><Relationship Type="http://schemas.openxmlformats.org/officeDocument/2006/relationships/slide" Target="/ppt/slides/slide34.xml" Id="Rd4744e1115b042bd" /><Relationship Type="http://schemas.openxmlformats.org/officeDocument/2006/relationships/slide" Target="/ppt/slides/slide35.xml" Id="Rdb222ad7513e4d5c" /><Relationship Type="http://schemas.openxmlformats.org/officeDocument/2006/relationships/slide" Target="/ppt/slides/slide36.xml" Id="Rfa1ca2448bac4333" /><Relationship Type="http://schemas.openxmlformats.org/officeDocument/2006/relationships/slide" Target="/ppt/slides/slide37.xml" Id="R7f401c65d9494105" /><Relationship Type="http://schemas.openxmlformats.org/officeDocument/2006/relationships/slide" Target="/ppt/slides/slide38.xml" Id="R1438be51a1734a3f" /><Relationship Type="http://schemas.openxmlformats.org/officeDocument/2006/relationships/slide" Target="/ppt/slides/slide39.xml" Id="Rb49187bd490c4431" /><Relationship Type="http://schemas.openxmlformats.org/officeDocument/2006/relationships/slide" Target="/ppt/slides/slide40.xml" Id="R1a7ca70ba165473d" /><Relationship Type="http://schemas.openxmlformats.org/officeDocument/2006/relationships/slide" Target="/ppt/slides/slide41.xml" Id="R87fe6e24b4164417" /><Relationship Type="http://schemas.openxmlformats.org/officeDocument/2006/relationships/slide" Target="/ppt/slides/slide42.xml" Id="R6061234f032745b1" /><Relationship Type="http://schemas.openxmlformats.org/officeDocument/2006/relationships/slide" Target="/ppt/slides/slide43.xml" Id="R85c34d17bb284ced" /><Relationship Type="http://schemas.openxmlformats.org/officeDocument/2006/relationships/slide" Target="/ppt/slides/slide44.xml" Id="Rf177413c178a4f62" /><Relationship Type="http://schemas.openxmlformats.org/officeDocument/2006/relationships/slide" Target="/ppt/slides/slide45.xml" Id="R0781ee7f465d434e" /><Relationship Type="http://schemas.openxmlformats.org/officeDocument/2006/relationships/slide" Target="/ppt/slides/slide46.xml" Id="R130a10ee64444f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c2d73183ef49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Python — lecture">
      <a:dk1>
        <a:srgbClr val="131518"/>
      </a:dk1>
      <a:lt1>
        <a:srgbClr val="FFFFFF"/>
      </a:lt1>
      <a:dk2>
        <a:srgbClr val="535A61"/>
      </a:dk2>
      <a:lt2>
        <a:srgbClr val="F0F1F2"/>
      </a:lt2>
      <a:accent1>
        <a:srgbClr val="286DA6"/>
      </a:accent1>
      <a:accent2>
        <a:srgbClr val="6DCBF4"/>
      </a:accent2>
      <a:accent3>
        <a:srgbClr val="30343A"/>
      </a:accent3>
      <a:accent4>
        <a:srgbClr val="808890"/>
      </a:accent4>
      <a:accent5>
        <a:srgbClr val="A8ADB3"/>
      </a:accent5>
      <a:accent6>
        <a:srgbClr val="DCECF8"/>
      </a:accent6>
      <a:hlink>
        <a:srgbClr val="286DA6"/>
      </a:hlink>
      <a:folHlink>
        <a:srgbClr val="286DA6"/>
      </a:folHlink>
    </a:clrScheme>
    <a:fontScheme name="Office">
      <a:majorFont>
        <a:latin typeface="Calibri Light"/>
        <a:ea typeface="Calibri Light"/>
        <a:cs typeface="Calibri Light"/>
      </a:majorFont>
      <a:minorFont>
        <a:latin typeface="Calibri"/>
        <a:ea typeface="Calibri"/>
        <a:cs typeface="Calibri"/>
      </a:minorFont>
    </a:fontScheme>
    <a:fmtScheme name="Python — l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0e414fd3754bd4" /><Relationship Type="http://schemas.openxmlformats.org/officeDocument/2006/relationships/notesMaster" Target="/ppt/notesMasters/notesMaster1.xml" Id="Rdc30206774ac49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ce6a8b1394491a" /><Relationship Type="http://schemas.openxmlformats.org/officeDocument/2006/relationships/notesMaster" Target="/ppt/notesMasters/notesMaster1.xml" Id="R2438e2d00da24c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5359f31caf46bf" /><Relationship Type="http://schemas.openxmlformats.org/officeDocument/2006/relationships/notesMaster" Target="/ppt/notesMasters/notesMaster1.xml" Id="Rc0c2a25fddd046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eb48dd99f04e0c" /><Relationship Type="http://schemas.openxmlformats.org/officeDocument/2006/relationships/notesMaster" Target="/ppt/notesMasters/notesMaster1.xml" Id="Rc6c23bee28bd41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799a15416c4d41" /><Relationship Type="http://schemas.openxmlformats.org/officeDocument/2006/relationships/notesMaster" Target="/ppt/notesMasters/notesMaster1.xml" Id="R4c8d61ad54c440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c9b661e3904079" /><Relationship Type="http://schemas.openxmlformats.org/officeDocument/2006/relationships/notesMaster" Target="/ppt/notesMasters/notesMaster1.xml" Id="R7acdee5242e548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5e8ef673b14939" /><Relationship Type="http://schemas.openxmlformats.org/officeDocument/2006/relationships/notesMaster" Target="/ppt/notesMasters/notesMaster1.xml" Id="R36aeae6542ff40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f38944cfc14cfc" /><Relationship Type="http://schemas.openxmlformats.org/officeDocument/2006/relationships/notesMaster" Target="/ppt/notesMasters/notesMaster1.xml" Id="R74c183483aba4f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846b281f6347de" /><Relationship Type="http://schemas.openxmlformats.org/officeDocument/2006/relationships/notesMaster" Target="/ppt/notesMasters/notesMaster1.xml" Id="R0d69d650fa3746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ff5492ad474556" /><Relationship Type="http://schemas.openxmlformats.org/officeDocument/2006/relationships/notesMaster" Target="/ppt/notesMasters/notesMaster1.xml" Id="R7c0219ede12b44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3382d5ff1749b7" /><Relationship Type="http://schemas.openxmlformats.org/officeDocument/2006/relationships/notesMaster" Target="/ppt/notesMasters/notesMaster1.xml" Id="R0855614b2d0249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8f75e0fafa4f03" /><Relationship Type="http://schemas.openxmlformats.org/officeDocument/2006/relationships/notesMaster" Target="/ppt/notesMasters/notesMaster1.xml" Id="R99f8bd90b00f41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b16c3aca494111" /><Relationship Type="http://schemas.openxmlformats.org/officeDocument/2006/relationships/notesMaster" Target="/ppt/notesMasters/notesMaster1.xml" Id="Rfd0cb7b4b7eb40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731dcb99554c9d" /><Relationship Type="http://schemas.openxmlformats.org/officeDocument/2006/relationships/notesMaster" Target="/ppt/notesMasters/notesMaster1.xml" Id="R36fd5c39bc764e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438f87317641ac" /><Relationship Type="http://schemas.openxmlformats.org/officeDocument/2006/relationships/notesMaster" Target="/ppt/notesMasters/notesMaster1.xml" Id="R7bd816e8d97e41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01b1f82a85c4b90" /><Relationship Type="http://schemas.openxmlformats.org/officeDocument/2006/relationships/notesMaster" Target="/ppt/notesMasters/notesMaster1.xml" Id="R427b1a212c594d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b92f7adb47491a" /><Relationship Type="http://schemas.openxmlformats.org/officeDocument/2006/relationships/notesMaster" Target="/ppt/notesMasters/notesMaster1.xml" Id="R5d279b8a714549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1e3e7f480e49d3" /><Relationship Type="http://schemas.openxmlformats.org/officeDocument/2006/relationships/notesMaster" Target="/ppt/notesMasters/notesMaster1.xml" Id="Rb8732e06a5334b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8c10f4e9d2401c" /><Relationship Type="http://schemas.openxmlformats.org/officeDocument/2006/relationships/notesMaster" Target="/ppt/notesMasters/notesMaster1.xml" Id="Rc9f534dc148640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a01e9722ad4559" /><Relationship Type="http://schemas.openxmlformats.org/officeDocument/2006/relationships/notesMaster" Target="/ppt/notesMasters/notesMaster1.xml" Id="Rd9e80928ec56498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a241b02ddee4ac4" /><Relationship Type="http://schemas.openxmlformats.org/officeDocument/2006/relationships/notesMaster" Target="/ppt/notesMasters/notesMaster1.xml" Id="Ra6396a241f3f4c1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38670c08fb4735" /><Relationship Type="http://schemas.openxmlformats.org/officeDocument/2006/relationships/notesMaster" Target="/ppt/notesMasters/notesMaster1.xml" Id="Rabe91e2d0cb44f3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e078cfd3d624b80" /><Relationship Type="http://schemas.openxmlformats.org/officeDocument/2006/relationships/notesMaster" Target="/ppt/notesMasters/notesMaster1.xml" Id="Ra203b6a58de94af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26775e6911c4cf5" /><Relationship Type="http://schemas.openxmlformats.org/officeDocument/2006/relationships/notesMaster" Target="/ppt/notesMasters/notesMaster1.xml" Id="Raf5ff5830891468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c60d41d88944ab6" /><Relationship Type="http://schemas.openxmlformats.org/officeDocument/2006/relationships/notesMaster" Target="/ppt/notesMasters/notesMaster1.xml" Id="R23ce98d6cad24b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78e95d9b2c34b54" /><Relationship Type="http://schemas.openxmlformats.org/officeDocument/2006/relationships/notesMaster" Target="/ppt/notesMasters/notesMaster1.xml" Id="Ra13a07d11a84458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b389c44c4ed44cc" /><Relationship Type="http://schemas.openxmlformats.org/officeDocument/2006/relationships/notesMaster" Target="/ppt/notesMasters/notesMaster1.xml" Id="R7d3f0aab777b469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4522c688a6d4f6a" /><Relationship Type="http://schemas.openxmlformats.org/officeDocument/2006/relationships/notesMaster" Target="/ppt/notesMasters/notesMaster1.xml" Id="Rb8d390af42d74f5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0ef3fc4359147bf" /><Relationship Type="http://schemas.openxmlformats.org/officeDocument/2006/relationships/notesMaster" Target="/ppt/notesMasters/notesMaster1.xml" Id="Rc2d7782eeba348b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ab94ad4fa59492a" /><Relationship Type="http://schemas.openxmlformats.org/officeDocument/2006/relationships/notesMaster" Target="/ppt/notesMasters/notesMaster1.xml" Id="R644dde0763b047a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06a0b33369e40b8" /><Relationship Type="http://schemas.openxmlformats.org/officeDocument/2006/relationships/notesMaster" Target="/ppt/notesMasters/notesMaster1.xml" Id="R164fca064d63450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985aa025fb44a2e" /><Relationship Type="http://schemas.openxmlformats.org/officeDocument/2006/relationships/notesMaster" Target="/ppt/notesMasters/notesMaster1.xml" Id="Rc645cffe2737417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cf61d257de94590" /><Relationship Type="http://schemas.openxmlformats.org/officeDocument/2006/relationships/notesMaster" Target="/ppt/notesMasters/notesMaster1.xml" Id="Rf1b9505ccf3549d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d3692aec75e4153" /><Relationship Type="http://schemas.openxmlformats.org/officeDocument/2006/relationships/notesMaster" Target="/ppt/notesMasters/notesMaster1.xml" Id="R55e709aa8e70442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baf9d77af134157" /><Relationship Type="http://schemas.openxmlformats.org/officeDocument/2006/relationships/notesMaster" Target="/ppt/notesMasters/notesMaster1.xml" Id="Rdf590c2f00ae444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51d3c87299b4a80" /><Relationship Type="http://schemas.openxmlformats.org/officeDocument/2006/relationships/notesMaster" Target="/ppt/notesMasters/notesMaster1.xml" Id="R6f019ca5e7834b7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b0722cf906b4bb0" /><Relationship Type="http://schemas.openxmlformats.org/officeDocument/2006/relationships/notesMaster" Target="/ppt/notesMasters/notesMaster1.xml" Id="Re330696400404a4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b4043f2c4f641b5" /><Relationship Type="http://schemas.openxmlformats.org/officeDocument/2006/relationships/notesMaster" Target="/ppt/notesMasters/notesMaster1.xml" Id="R1c7176ed5bec492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70b8681440543b4" /><Relationship Type="http://schemas.openxmlformats.org/officeDocument/2006/relationships/notesMaster" Target="/ppt/notesMasters/notesMaster1.xml" Id="Rb248cb397eee4f8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74f20c414244d78" /><Relationship Type="http://schemas.openxmlformats.org/officeDocument/2006/relationships/notesMaster" Target="/ppt/notesMasters/notesMaster1.xml" Id="R020165ed59244f7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6f69afe8176435c" /><Relationship Type="http://schemas.openxmlformats.org/officeDocument/2006/relationships/notesMaster" Target="/ppt/notesMasters/notesMaster1.xml" Id="R7089379b5e2d435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17b1d07373e47b6" /><Relationship Type="http://schemas.openxmlformats.org/officeDocument/2006/relationships/notesMaster" Target="/ppt/notesMasters/notesMaster1.xml" Id="Rad483c6f418f4c4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5ded75f664e47a6" /><Relationship Type="http://schemas.openxmlformats.org/officeDocument/2006/relationships/notesMaster" Target="/ppt/notesMasters/notesMaster1.xml" Id="R790b46b395bb445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b6f6591346d4bb4" /><Relationship Type="http://schemas.openxmlformats.org/officeDocument/2006/relationships/notesMaster" Target="/ppt/notesMasters/notesMaster1.xml" Id="Rafc4d7ce2448427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d6088099d9041d2" /><Relationship Type="http://schemas.openxmlformats.org/officeDocument/2006/relationships/notesMaster" Target="/ppt/notesMasters/notesMaster1.xml" Id="R5ca228e2b6da440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d1fc32c192b43da" /><Relationship Type="http://schemas.openxmlformats.org/officeDocument/2006/relationships/notesMaster" Target="/ppt/notesMasters/notesMaster1.xml" Id="R130ca28aaef641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Типы данных в Python</a:t>
            </a:r>
          </a:p>
          <a:p xmlns:a="http://schemas.openxmlformats.org/drawingml/2006/main">
            <a:r>
              <a:t>Тайминг: 00–01 мин. Длительность: 1 мин.</a:t>
            </a:r>
          </a:p>
          <a:p xmlns:a="http://schemas.openxmlformats.org/drawingml/2006/main">
            <a:r>
              <a:t/>
            </a:r>
          </a:p>
          <a:p xmlns:a="http://schemas.openxmlformats.org/drawingml/2006/main">
            <a:r>
              <a:t>Начните с тезиса: хороший выбор типа данных определяет корректность программы и стоимость операций. Это первая лекция для студентов третьего курса, поэтому считаем, что переменные, условия и функции уже знакомы по другим языкам. Новые особенности синтаксиса Python объясняем по мере появления. Примеры используют синтаксис Python 3.10+ и стандартную библиотеку, без сторонних пакетов. Общий сценарий рассчитан ровно на 90 минут, включая обсуждение; два последних слайда — справочные. Все ожидаемые результаты показаны в презентации или приведены в этих заметках: показ не требует живого интерпретатора. На первом диагностическом слайде сначала попросите прогноз, а затем вернитесь к нему в конце.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Что напечатает этот код?</a:t>
            </a:r>
          </a:p>
          <a:p xmlns:a="http://schemas.openxmlformats.org/drawingml/2006/main">
            <a:r>
              <a:t>Тайминг: 01–03 мин. Длительность: 2 мин.</a:t>
            </a:r>
          </a:p>
          <a:p xmlns:a="http://schemas.openxmlformats.org/drawingml/2006/main">
            <a:r>
              <a:t/>
            </a:r>
          </a:p>
          <a:p xmlns:a="http://schemas.openxmlformats.org/drawingml/2006/main">
            <a:r>
              <a:t>Дайте аудитории 40 секунд на самостоятельный прогноз, затем соберите два-три варианта. Не раскрывайте правильный ответ на экране. Правильный вывод: [10, 20, 30] и 1. Первый случай связан с общей ссылкой: присваивание b = a не создаёт список. Во втором случае True, 1 и 1.0 равны и имеют одинаковый хеш, поэтому присваивания обновляют одно значение. У словаря остаётся один ключ и значение C. Запомните типичные аргументы студентов: «переменная копирует содержимое» и «разные типы обязательно означают разные ключи». Именно эти модели будем уточнять. Время обсуждения уже включено в две минуты.</a:t>
            </a:r>
          </a:p>
          <a:p xmlns:a="http://schemas.openxmlformats.org/drawingml/2006/main">
            <a:r>
              <a:t/>
            </a:r>
          </a:p>
          <a:p xmlns:a="http://schemas.openxmlformats.org/drawingml/2006/main">
            <a:r>
              <a:t>[Sources]</a:t>
            </a:r>
          </a:p>
          <a:p xmlns:a="http://schemas.openxmlformats.org/drawingml/2006/main">
            <a:r>
              <a:t>- https://docs.python.org/3.14/reference/datamodel.html (проверено 05.09.2026)</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Четыре вопроса к любому типу</a:t>
            </a:r>
          </a:p>
          <a:p xmlns:a="http://schemas.openxmlformats.org/drawingml/2006/main">
            <a:r>
              <a:t>Тайминг: 03–04 мин. Длительность: 1 мин.</a:t>
            </a:r>
          </a:p>
          <a:p xmlns:a="http://schemas.openxmlformats.org/drawingml/2006/main">
            <a:r>
              <a:t/>
            </a:r>
          </a:p>
          <a:p xmlns:a="http://schemas.openxmlformats.org/drawingml/2006/main">
            <a:r>
              <a:t>Это не перечень встроенных имён для заучивания, а способ рассуждать о поведении программы. В конце студенты должны уметь выбрать контейнер под операции, объяснить побочный эффект при совместном использовании объекта, отделить аннотации от проверок во время выполнения и различать экземпляр, класс и метакласс. Не задерживайтесь на плане. Сразу переходите к главному отличию от упрощённой модели «переменная — ячейка с типом».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Имя ссылается на объект</a:t>
            </a:r>
          </a:p>
          <a:p xmlns:a="http://schemas.openxmlformats.org/drawingml/2006/main">
            <a:r>
              <a:t>Тайминг: 04–06 мин. Длительность: 2 мин.</a:t>
            </a:r>
          </a:p>
          <a:p xmlns:a="http://schemas.openxmlformats.org/drawingml/2006/main">
            <a:r>
              <a:t/>
            </a:r>
          </a:p>
          <a:p xmlns:a="http://schemas.openxmlformats.org/drawingml/2006/main">
            <a:r>
              <a:t>Прочитайте схему: два имени ведут к одному объекту списка. Тип принадлежит объекту, а имя служит способом его найти. Идентичность позволяет отличить один объект от другого; значение описывает его содержимое. Функция id возвращает идентификатор, уникальный среди одновременно существующих объектов. В CPython он обычно связан с адресом памяти, но это не общее обещание языка. После уничтожения объекта идентификатор может быть использован повторно. Не рисуйте отдельную копию списка после b = a. Вопрос аудитории: изменится ли количество списков после c = b? Ответ: нет, появится ещё одно имя. Затем обсудим, что происходит при переназначении имени.</a:t>
            </a:r>
          </a:p>
          <a:p xmlns:a="http://schemas.openxmlformats.org/drawingml/2006/main">
            <a:r>
              <a:t/>
            </a:r>
          </a:p>
          <a:p xmlns:a="http://schemas.openxmlformats.org/drawingml/2006/main">
            <a:r>
              <a:t>[Sources]</a:t>
            </a:r>
          </a:p>
          <a:p xmlns:a="http://schemas.openxmlformats.org/drawingml/2006/main">
            <a:r>
              <a:t>- https://docs.python.org/3.14/reference/datamodel.html (проверено 05.09.2026)</a:t>
            </a:r>
          </a:p>
          <a:p xmlns:a="http://schemas.openxmlformats.org/drawingml/2006/main">
            <a:r>
              <a:t>- https://docs.python.org/3.14/library/functions.html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Динамическая типизация имеет правила</a:t>
            </a:r>
          </a:p>
          <a:p xmlns:a="http://schemas.openxmlformats.org/drawingml/2006/main">
            <a:r>
              <a:t>Тайминг: 06–08 мин. Длительность: 2 мин.</a:t>
            </a:r>
          </a:p>
          <a:p xmlns:a="http://schemas.openxmlformats.org/drawingml/2006/main">
            <a:r>
              <a:t/>
            </a:r>
          </a:p>
          <a:p xmlns:a="http://schemas.openxmlformats.org/drawingml/2006/main">
            <a:r>
              <a:t>Объясните различие между моментом проверки и строгостью операции. Python выбирает реализацию операций по объектам во время выполнения. Строка и целое число не складываются автоматически, однако арифметика int и float поддерживается правилами числовых типов. Термин «сильная типизация» полезен как неформальная характеристика, но не имеет единственного строгого определения — поэтому на слайде показаны конкретные правила. TypeError означает неподходящий тип для операции; ValueError — подходящий тип входа, но недопустимое значение. Конструктор int выполняет преобразование, а не «приклеивает тип» к старому объекту. Вызов input возвращает str; числовой ввод нужно преобразовать и при необходимости обработать ошибку.</a:t>
            </a:r>
          </a:p>
          <a:p xmlns:a="http://schemas.openxmlformats.org/drawingml/2006/main">
            <a:r>
              <a:t/>
            </a:r>
          </a:p>
          <a:p xmlns:a="http://schemas.openxmlformats.org/drawingml/2006/main">
            <a:r>
              <a:t>[Sources]</a:t>
            </a:r>
          </a:p>
          <a:p xmlns:a="http://schemas.openxmlformats.org/drawingml/2006/main">
            <a:r>
              <a:t>- https://docs.python.org/3.14/library/functions.html (проверено 05.09.2026)</a:t>
            </a:r>
          </a:p>
          <a:p xmlns:a="http://schemas.openxmlformats.org/drawingml/2006/main">
            <a:r>
              <a:t>- https://docs.python.org/3.14/reference/expressions.html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Равенство и идентичность различаются</a:t>
            </a:r>
          </a:p>
          <a:p xmlns:a="http://schemas.openxmlformats.org/drawingml/2006/main">
            <a:r>
              <a:t>Тайминг: 08–10 мин. Длительность: 2 мин.</a:t>
            </a:r>
          </a:p>
          <a:p xmlns:a="http://schemas.openxmlformats.org/drawingml/2006/main">
            <a:r>
              <a:t/>
            </a:r>
          </a:p>
          <a:p xmlns:a="http://schemas.openxmlformats.org/drawingml/2006/main">
            <a:r>
              <a:t>У двух независимо созданных списков одинаковое содержимое, но разные идентичности. Оператор == может быть настроен пользовательским классом через __eq__; is не перегружается. Спрашивайте «один ли это объект?», а не «похожи ли адреса?». Нельзя проверять содержимое строки через is, даже если небольшой пример однажды дал True. Интернирование строк, кеширование малых целых и оптимизации компилятора способны менять такие наблюдения. Для проверки None используем is, потому что нужен именно специальный объект отсутствия значения. Полезный устный вопрос: может ли a == b быть True при type(a) != type(b)? Да: пример 1 и 1.0, к которому вернёмся при словарях.</a:t>
            </a:r>
          </a:p>
          <a:p xmlns:a="http://schemas.openxmlformats.org/drawingml/2006/main">
            <a:r>
              <a:t/>
            </a:r>
          </a:p>
          <a:p xmlns:a="http://schemas.openxmlformats.org/drawingml/2006/main">
            <a:r>
              <a:t>[Sources]</a:t>
            </a:r>
          </a:p>
          <a:p xmlns:a="http://schemas.openxmlformats.org/drawingml/2006/main">
            <a:r>
              <a:t>- https://docs.python.org/3.14/reference/datamodel.html (проверено 05.09.2026)</a:t>
            </a:r>
          </a:p>
          <a:p xmlns:a="http://schemas.openxmlformats.org/drawingml/2006/main">
            <a:r>
              <a:t>- https://docs.python.org/3.14/faq/programming.html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Изменение объекта или новая привязка?</a:t>
            </a:r>
          </a:p>
          <a:p xmlns:a="http://schemas.openxmlformats.org/drawingml/2006/main">
            <a:r>
              <a:t>Тайминг: 10–12 мин. Длительность: 2 мин.</a:t>
            </a:r>
          </a:p>
          <a:p xmlns:a="http://schemas.openxmlformats.org/drawingml/2006/main">
            <a:r>
              <a:t/>
            </a:r>
          </a:p>
          <a:p xmlns:a="http://schemas.openxmlformats.org/drawingml/2006/main">
            <a:r>
              <a:t>Попросите студентов вслух сказать, какое действие происходит в каждом примере. У списка операция += изменяет существующее содержимое, поэтому второе имя наблюдает изменение. Для int изменение значения существующего объекта невозможно, и имя a привязывается к результату операции. Не обобщайте поведение += на все пользовательские типы: оно задаётся специальным методом и может включать возврат другого объекта. Важно также отличать a += [3] от a = a + [3]: во втором случае создаётся новый список и b сохраняет ссылку на старый. Проговорите, что неизменяемость не мешает многократно присваивать новое значение переменной.</a:t>
            </a:r>
          </a:p>
          <a:p xmlns:a="http://schemas.openxmlformats.org/drawingml/2006/main">
            <a:r>
              <a:t/>
            </a:r>
          </a:p>
          <a:p xmlns:a="http://schemas.openxmlformats.org/drawingml/2006/main">
            <a:r>
              <a:t>[Sources]</a:t>
            </a:r>
          </a:p>
          <a:p xmlns:a="http://schemas.openxmlformats.org/drawingml/2006/main">
            <a:r>
              <a:t>- https://docs.python.org/3.14/reference/expressions.html (проверено 05.09.2026)</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Функция получает доступ к тому же объекту</a:t>
            </a:r>
          </a:p>
          <a:p xmlns:a="http://schemas.openxmlformats.org/drawingml/2006/main">
            <a:r>
              <a:t>Тайминг: 12–14 мин. Длительность: 2 мин.</a:t>
            </a:r>
          </a:p>
          <a:p xmlns:a="http://schemas.openxmlformats.org/drawingml/2006/main">
            <a:r>
              <a:t/>
            </a:r>
          </a:p>
          <a:p xmlns:a="http://schemas.openxmlformats.org/drawingml/2006/main">
            <a:r>
              <a:t>Разберите по шагам: data указывает на список [1]; при вызове параметр items связывается с тем же объектом; append добавляет 2; присваивание items = [99] меняет только локальное имя. Внешнее имя data не переназначается. Не используйте без уточнения фразу «всё передаётся по ссылке», которая у студентов с опытом C++ может означать возможность переназначить внешнюю переменную через ссылочный параметр. Здесь такой возможности нет. Предложите придумать вариант, который действительно заменит содержимое исходного списка: items[:] = [99]. Это пригодится при разговоре о срезах. Для API нужно заранее понимать, должен ли вызов менять переданный объект.</a:t>
            </a:r>
          </a:p>
          <a:p xmlns:a="http://schemas.openxmlformats.org/drawingml/2006/main">
            <a:r>
              <a:t/>
            </a:r>
          </a:p>
          <a:p xmlns:a="http://schemas.openxmlformats.org/drawingml/2006/main">
            <a:r>
              <a:t>[Sources]</a:t>
            </a:r>
          </a:p>
          <a:p xmlns:a="http://schemas.openxmlformats.org/drawingml/2006/main">
            <a:r>
              <a:t>- https://docs.python.org/3.14/faq/programming.html (проверено 05.09.2026)</a:t>
            </a:r>
          </a:p>
          <a:p xmlns:a="http://schemas.openxmlformats.org/drawingml/2006/main">
            <a:r>
              <a:t>- https://docs.python.org/3.14/tutorial/classes.html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Основные семейства типов</a:t>
            </a:r>
          </a:p>
          <a:p xmlns:a="http://schemas.openxmlformats.org/drawingml/2006/main">
            <a:r>
              <a:t>Тайминг: 14–16 мин. Длительность: 2 мин.</a:t>
            </a:r>
          </a:p>
          <a:p xmlns:a="http://schemas.openxmlformats.org/drawingml/2006/main">
            <a:r>
              <a:t/>
            </a:r>
          </a:p>
          <a:p xmlns:a="http://schemas.openxmlformats.org/drawingml/2006/main">
            <a:r>
              <a:t>Таблица — карта следующих разделов, а не полный список всех объектов интерпретатора. Функции, классы, модули, исключения и итераторы тоже являются объектами своих типов. Decimal и Fraction входят в стандартную библиотеку, но не являются встроенными именами: их нужно импортировать. Последовательность задаёт порядок и доступ по позиции; отображение связывает ключ со значением; множество отражает уникальность и принадлежность. Строка одновременно является текстом и неизменяемой последовательностью. Изменяемость контейнера относится к его собственному содержимому, а не автоматически ко всем объектам внутри. Этот нюанс подробно проверим на tuple со списком.</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https://docs.python.org/3.14/library/collections.abc.html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int: точные целые и деление вниз</a:t>
            </a:r>
          </a:p>
          <a:p xmlns:a="http://schemas.openxmlformats.org/drawingml/2006/main">
            <a:r>
              <a:t>Тайминг: 16–18 мин. Длительность: 2 мин.</a:t>
            </a:r>
          </a:p>
          <a:p xmlns:a="http://schemas.openxmlformats.org/drawingml/2006/main">
            <a:r>
              <a:t/>
            </a:r>
          </a:p>
          <a:p xmlns:a="http://schemas.openxmlformats.org/drawingml/2006/main">
            <a:r>
              <a:t>Поясните синтаксис ** как возведение в степень. Целые значения представляются точно, пока операция может быть выполнена с доступными ресурсами. Цена арифметики зависит от числа разрядов, поэтому «нет переполнения» не означает «бесплатно и бесконечно». Оператор / возвращает float даже для двух int: например, 6 / 3 даёт 2.0. На отрицательном числе контраст // и усечения особенно заметен: int(-7 / 3) даст -2, а -7 // 3 даст -3. Для делителя 3 остаток неотрицателен; при отрицательном делителе ненулевой остаток имеет его знак. Проверьте формулу на -7 = (-3)*3 + 2. Деление на ноль приводит к ZeroDivisionError.</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https://docs.python.org/3.14/reference/expressions.html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float хранит приближение</a:t>
            </a:r>
          </a:p>
          <a:p xmlns:a="http://schemas.openxmlformats.org/drawingml/2006/main">
            <a:r>
              <a:t>Тайминг: 18–20 мин. Длительность: 2 мин.</a:t>
            </a:r>
          </a:p>
          <a:p xmlns:a="http://schemas.openxmlformats.org/drawingml/2006/main">
            <a:r>
              <a:t/>
            </a:r>
          </a:p>
          <a:p xmlns:a="http://schemas.openxmlformats.org/drawingml/2006/main">
            <a:r>
              <a:t>Проведите аналогию с десятичной записью одной трети: конечная запись вынуждает округлять. Аналогичная проблема возникает для одной десятой в двоичной системе. Обычно float в CPython соответствует binary64; это характеристика распространённой реализации, а не обещание для любой платформы и реализации Python. Около 15–17 десятичных значащих цифр — ориентир, не фиксированное число цифр после запятой. math.isclose сравнивает с относительным и абсолютным допуском; около нуля часто нужен abs_tol. Значения допуска берутся из требований, масштаба данных и допустимой погрешности. В заметках можно дополнительно упомянуть nan: он не равен даже самому себе, проверяют math.isnan. Не советуйте механически заменить все сравнения на округление.</a:t>
            </a:r>
          </a:p>
          <a:p xmlns:a="http://schemas.openxmlformats.org/drawingml/2006/main">
            <a:r>
              <a:t/>
            </a:r>
          </a:p>
          <a:p xmlns:a="http://schemas.openxmlformats.org/drawingml/2006/main">
            <a:r>
              <a:t>[Sources]</a:t>
            </a:r>
          </a:p>
          <a:p xmlns:a="http://schemas.openxmlformats.org/drawingml/2006/main">
            <a:r>
              <a:t>- https://docs.python.org/3.14/tutorial/floatingpoint.html (проверено 05.09.2026)</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«Ну почти же 0.3…»</a:t>
            </a:r>
          </a:p>
          <a:p xmlns:a="http://schemas.openxmlformats.org/drawingml/2006/main">
            <a:r>
              <a:t>Тайминг: 20–21 мин. Длительность: 1 мин.</a:t>
            </a:r>
          </a:p>
          <a:p xmlns:a="http://schemas.openxmlformats.org/drawingml/2006/main">
            <a:r>
              <a:t/>
            </a:r>
          </a:p>
          <a:p xmlns:a="http://schemas.openxmlformats.org/drawingml/2006/main">
            <a:r>
              <a:t>Короткая пауза после плотного объяснения. Подпись к оригинальной иллюстрации: «Когда ищешь разницу между 0.3 и 0.30000000000000004». Попросите различить математическое число, хранимое двоичное приближение и форматированную строку. format возвращает str и управляет отображением. Это полезно в отчёте, но не меняет исходные float и не задаёт корректную стратегию сравнения. Не превращайте шутку в отдельное обсуждение на несколько минут: одна минута включает переход к типам, которые подходят другим числовым моделям.</a:t>
            </a:r>
          </a:p>
          <a:p xmlns:a="http://schemas.openxmlformats.org/drawingml/2006/main">
            <a:r>
              <a:t/>
            </a:r>
          </a:p>
          <a:p xmlns:a="http://schemas.openxmlformats.org/drawingml/2006/main">
            <a:r>
              <a:t>[Sources]</a:t>
            </a:r>
          </a:p>
          <a:p xmlns:a="http://schemas.openxmlformats.org/drawingml/2006/main">
            <a:r>
              <a:t>Оригинальная иллюстрация создана с помощью imagegen для этой лекции: утка с лупой и почти незаметным зазором. Внешние изображения не использованы.</a:t>
            </a:r>
          </a:p>
          <a:p xmlns:a="http://schemas.openxmlformats.org/drawingml/2006/main">
            <a:r>
              <a:t>[/Sources]</a:t>
            </a:r>
          </a:p>
          <a:p xmlns:a="http://schemas.openxmlformats.org/drawingml/2006/main">
            <a:r>
              <a:t/>
            </a:r>
          </a:p>
          <a:p xmlns:a="http://schemas.openxmlformats.org/drawingml/2006/main">
            <a:r>
              <a:t>[Sources]</a:t>
            </a:r>
          </a:p>
          <a:p xmlns:a="http://schemas.openxmlformats.org/drawingml/2006/main">
            <a:r>
              <a:t>- https://docs.python.org/3.14/tutorial/floatingpoint.html (проверено 05.09.2026)</a:t>
            </a:r>
          </a:p>
          <a:p xmlns:a="http://schemas.openxmlformats.org/drawingml/2006/main">
            <a:r>
              <a:t>- https://docs.python.org/3.14/library/functions.html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Числовой тип выбирают под задачу</a:t>
            </a:r>
          </a:p>
          <a:p xmlns:a="http://schemas.openxmlformats.org/drawingml/2006/main">
            <a:r>
              <a:t>Тайминг: 21–23 мин. Длительность: 2 мин.</a:t>
            </a:r>
          </a:p>
          <a:p xmlns:a="http://schemas.openxmlformats.org/drawingml/2006/main">
            <a:r>
              <a:t/>
            </a:r>
          </a:p>
          <a:p xmlns:a="http://schemas.openxmlformats.org/drawingml/2006/main">
            <a:r>
              <a:t>Покажите, что выбор типа выражает допущения задачи. Для десятичных величин задают нужную точность и правило округления; Decimal следует создавать из строки или целого, если нужно сохранить точное десятичное исходное значение. Decimal(0.1) честно перенесёт двоичную погрешность float, уже существующую до вызова. Decimal не означает, что любая операция точна: например, деление на 3 зависит от контекста. Fraction хранит отношение двух целых и подходит точным рациональным расчётам, но числитель и знаменатель могут расти. Complex нужен в научных и инженерных вычислениях; литерал 4j обозначает мнимую часть. Не смешивайте Decimal и float без явного решения о модели преобразования.</a:t>
            </a:r>
          </a:p>
          <a:p xmlns:a="http://schemas.openxmlformats.org/drawingml/2006/main">
            <a:r>
              <a:t/>
            </a:r>
          </a:p>
          <a:p xmlns:a="http://schemas.openxmlformats.org/drawingml/2006/main">
            <a:r>
              <a:t>[Sources]</a:t>
            </a:r>
          </a:p>
          <a:p xmlns:a="http://schemas.openxmlformats.org/drawingml/2006/main">
            <a:r>
              <a:t>- https://docs.python.org/3.14/library/decimal.html (проверено 05.09.2026)</a:t>
            </a:r>
          </a:p>
          <a:p xmlns:a="http://schemas.openxmlformats.org/drawingml/2006/main">
            <a:r>
              <a:t>- https://docs.python.org/3.14/library/fractions.html (проверено 05.09.2026)</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 bool и проверка истинности</a:t>
            </a:r>
          </a:p>
          <a:p xmlns:a="http://schemas.openxmlformats.org/drawingml/2006/main">
            <a:r>
              <a:t>Тайминг: 23–25 мин. Длительность: 2 мин.</a:t>
            </a:r>
          </a:p>
          <a:p xmlns:a="http://schemas.openxmlformats.org/drawingml/2006/main">
            <a:r>
              <a:t/>
            </a:r>
          </a:p>
          <a:p xmlns:a="http://schemas.openxmlformats.org/drawingml/2006/main">
            <a:r>
              <a:t>Перечислите основные ложные значения: None, False, числовой ноль, пустые последовательности и коллекции. bool имеет ровно два значения и является подклассом int, поэтому bool может участвовать в арифметике. Для числа подходящих элементов бывает уместно sum(condition for ...), но не стоит кодировать логические решения арифметикой без причины. and и or вычисляют правую часть только при необходимости и возвращают один из операндов. Спросите: что вернёт 0 or 10? Ответ 10. Отсюда опасность value or default, когда ноль — корректное пользовательское значение. Пользовательские объекты определяют истинность через __bool__, либо __len__; к протоколам мы вернёмся позже.</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https://docs.python.org/3.14/reference/expressions.html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None не означает ноль или пустоту</a:t>
            </a:r>
          </a:p>
          <a:p xmlns:a="http://schemas.openxmlformats.org/drawingml/2006/main">
            <a:r>
              <a:t>Тайминг: 25–26 мин. Длительность: 1 мин.</a:t>
            </a:r>
          </a:p>
          <a:p xmlns:a="http://schemas.openxmlformats.org/drawingml/2006/main">
            <a:r>
              <a:t/>
            </a:r>
          </a:p>
          <a:p xmlns:a="http://schemas.openxmlformats.org/drawingml/2006/main">
            <a:r>
              <a:t>На примере лимита покажите смысл различения: None — значение не задано; 0 — пользователь явно запрещает вывод элементов; пустой список — результат есть, но он пуст. Проверка if not limit объединит эти ситуации и потому может быть неверной. Уточните, что методы изменяемых коллекций, выполняющие изменение на месте без отдельного результата, часто возвращают None: типичный пример list.sort. Это объясняет одну из самых распространённых ошибок, которую увидим позже. Идентичность None делает проверку is None естественной. Если None само является допустимым значением данных и нужно выделить «не передано», применяют отдельный объект-сентинел, но сейчас достаточно основной модели.</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https://docs.python.org/3.14/tutorial/controlflow.html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 str: текст, Unicode и неизменяемость</a:t>
            </a:r>
          </a:p>
          <a:p xmlns:a="http://schemas.openxmlformats.org/drawingml/2006/main">
            <a:r>
              <a:t>Тайминг: 26–29 мин. Длительность: 3 мин.</a:t>
            </a:r>
          </a:p>
          <a:p xmlns:a="http://schemas.openxmlformats.org/drawingml/2006/main">
            <a:r>
              <a:t/>
            </a:r>
          </a:p>
          <a:p xmlns:a="http://schemas.openxmlformats.org/drawingml/2006/main">
            <a:r>
              <a:t>Сначала разберите базу: str неизменяем, отдельного типа char в Python нет — индексирование возвращает строку длины один по кодовым точкам. upper не меняет исходный s. Затем объясните две записи буквы с акцентом: U+00E9 и U+0065 плюс U+0301. На экране они могут выглядеть одинаково, но иметь разную длину и сравниваться неравными. Одна видимая графема может состоять из нескольких кодовых точек, особенно в эмодзи и письменностях с комбинируемыми знаками. Для нормализации есть unicodedata.normalize; выбрать NFC или другую форму — решение по требованиям к данным. Не называйте len количеством байтов или безоговорочно количеством «букв». Форматирование f"{value:.2f}" также создаёт строку; split, strip и join полезны для обычной обработки текста.</a:t>
            </a:r>
          </a:p>
          <a:p xmlns:a="http://schemas.openxmlformats.org/drawingml/2006/main">
            <a:r>
              <a:t/>
            </a:r>
          </a:p>
          <a:p xmlns:a="http://schemas.openxmlformats.org/drawingml/2006/main">
            <a:r>
              <a:t>[Sources]</a:t>
            </a:r>
          </a:p>
          <a:p xmlns:a="http://schemas.openxmlformats.org/drawingml/2006/main">
            <a:r>
              <a:t>- https://docs.python.org/3.14/howto/unicode.html (проверено 05.09.2026)</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Срез задаёт полуинтервал</a:t>
            </a:r>
          </a:p>
          <a:p xmlns:a="http://schemas.openxmlformats.org/drawingml/2006/main">
            <a:r>
              <a:t>Тайминг: 29–31 мин. Длительность: 2 мин.</a:t>
            </a:r>
          </a:p>
          <a:p xmlns:a="http://schemas.openxmlformats.org/drawingml/2006/main">
            <a:r>
              <a:t/>
            </a:r>
          </a:p>
          <a:p xmlns:a="http://schemas.openxmlformats.org/drawingml/2006/main">
            <a:r>
              <a:t>Пройдите индексы строки от нуля до пяти. Отрицательные индексы отсчитываются от конца, но это не циклическая адресация: s[-100] тоже выходит за границы. Полуинтервал позволяет естественно складывать смежные срезы s[:k] и s[k:]. Пустые границы определяются с учётом знака шага: поэтому запись [::-1] удобна для обратного порядка. Подчеркните, что срез list создаёт новый внешний список с теми же ссылками на элементы, а не глубокую копию вложенного графа. Не переносите эту модель на любую библиотеку: массивы некоторых библиотек могут возвращать представления. Для текущей лекции работаем со встроенными последовательностями. Попросите предсказать s[2:2] — пустая строка.</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https://docs.python.org/3.14/reference/expressions.html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str и bytes разделяют текст и байты</a:t>
            </a:r>
          </a:p>
          <a:p xmlns:a="http://schemas.openxmlformats.org/drawingml/2006/main">
            <a:r>
              <a:t>Тайминг: 31–33 мин. Длительность: 2 мин.</a:t>
            </a:r>
          </a:p>
          <a:p xmlns:a="http://schemas.openxmlformats.org/drawingml/2006/main">
            <a:r>
              <a:t/>
            </a:r>
          </a:p>
          <a:p xmlns:a="http://schemas.openxmlformats.org/drawingml/2006/main">
            <a:r>
              <a:t>Покажите практический рубеж: файл и сеть передают байты, а текстовые операции работают со str. Кодировка нужна, чтобы однозначно сопоставить эти представления. Один символ Я в UTF-8 занимает два байта: 0xD0 и 0xAF, поэтому первый байт имеет десятичное значение 208. Индекс bytes возвращает int, а срез — bytes. Смешивание str и bytes в сложении запрещено; явные encode/decode делают выбор кодировки видимым. Декодирование неподходящей последовательности может вызвать UnicodeDecodeError; отключать ошибки без понимания потери данных не следует. bytearray подходит изменяемому бинарному буферу. Возможность записи через memoryview зависит от исходного буфера: bytes даёт только чтение, bytearray допускает запись.</a:t>
            </a:r>
          </a:p>
          <a:p xmlns:a="http://schemas.openxmlformats.org/drawingml/2006/main">
            <a:r>
              <a:t/>
            </a:r>
          </a:p>
          <a:p xmlns:a="http://schemas.openxmlformats.org/drawingml/2006/main">
            <a:r>
              <a:t>[Sources]</a:t>
            </a:r>
          </a:p>
          <a:p xmlns:a="http://schemas.openxmlformats.org/drawingml/2006/main">
            <a:r>
              <a:t>- https://docs.python.org/3.14/howto/unicode.html (проверено 05.09.2026)</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 list хранит упорядоченные ссылки</a:t>
            </a:r>
          </a:p>
          <a:p xmlns:a="http://schemas.openxmlformats.org/drawingml/2006/main">
            <a:r>
              <a:t>Тайминг: 33–35 мин. Длительность: 2 мин.</a:t>
            </a:r>
          </a:p>
          <a:p xmlns:a="http://schemas.openxmlformats.org/drawingml/2006/main">
            <a:r>
              <a:t/>
            </a:r>
          </a:p>
          <a:p xmlns:a="http://schemas.openxmlformats.org/drawingml/2006/main">
            <a:r>
              <a:t>Список — динамическая последовательность ссылок на объекты. В CPython он реализован как расширяемый массив ссылок, что объясняет быстрый доступ по индексу и затраты на вставку в начале. append([5, 6]) добавляет один вложенный список; extend([5, 6]) добавляет два элемента. pop возвращает удалённое значение, а sort возвращает None, поскольку его смысл — изменить порядок на месте. Поэтому присваивание items = items.sort() потеряет прежнюю привязку имени. Функция sorted(iterable) возвращает новый список и может принимать другой итерируемый источник, например tuple. Кратко упомяните параметр key для сортировки: sorted(words, key=len). Элементы должны быть сопоставимы в выбранной модели порядка.</a:t>
            </a:r>
          </a:p>
          <a:p xmlns:a="http://schemas.openxmlformats.org/drawingml/2006/main">
            <a:r>
              <a:t/>
            </a:r>
          </a:p>
          <a:p xmlns:a="http://schemas.openxmlformats.org/drawingml/2006/main">
            <a:r>
              <a:t>[Sources]</a:t>
            </a:r>
          </a:p>
          <a:p xmlns:a="http://schemas.openxmlformats.org/drawingml/2006/main">
            <a:r>
              <a:t>- https://docs.python.org/3.14/tutorial/datastructures.html (проверено 05.09.2026)</a:t>
            </a:r>
          </a:p>
          <a:p xmlns:a="http://schemas.openxmlformats.org/drawingml/2006/main">
            <a:r>
              <a:t>- https://docs.python.org/3.14/faq/programming.html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tuple фиксирует набор ссылок</a:t>
            </a:r>
          </a:p>
          <a:p xmlns:a="http://schemas.openxmlformats.org/drawingml/2006/main">
            <a:r>
              <a:t>Тайминг: 35–37 мин. Длительность: 2 мин.</a:t>
            </a:r>
          </a:p>
          <a:p xmlns:a="http://schemas.openxmlformats.org/drawingml/2006/main">
            <a:r>
              <a:t/>
            </a:r>
          </a:p>
          <a:p xmlns:a="http://schemas.openxmlformats.org/drawingml/2006/main">
            <a:r>
              <a:t>Свяжите tuple с составной записью: координата, пара ключ-значение, несколько результатов функции. Упаковка x, y формирует кортеж; скобки часто нужны для группировки и читаемости. Распаковка ожидает подходящее количество элементов; starred-форма вроде first, *rest позволяет собрать остаток в список. В примере t содержит ссылку на список и ссылку на строку. Сами ссылки в позициях кортежа нельзя заменить, но внешний контейнер не запрещает методы объектов, на которые ссылается. Это не лазейка, а следствие определения неизменяемости. Подготовьте вопрос для хешируемости: «Может ли такой t быть ключом словаря?» Ответ будет нет из-за списка внутри.</a:t>
            </a:r>
          </a:p>
          <a:p xmlns:a="http://schemas.openxmlformats.org/drawingml/2006/main">
            <a:r>
              <a:t/>
            </a:r>
          </a:p>
          <a:p xmlns:a="http://schemas.openxmlformats.org/drawingml/2006/main">
            <a:r>
              <a:t>[Sources]</a:t>
            </a:r>
          </a:p>
          <a:p xmlns:a="http://schemas.openxmlformats.org/drawingml/2006/main">
            <a:r>
              <a:t>- https://docs.python.org/3.14/tutorial/datastructures.html (проверено 05.09.2026)</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 Три строки. Одна миска.</a:t>
            </a:r>
          </a:p>
          <a:p xmlns:a="http://schemas.openxmlformats.org/drawingml/2006/main">
            <a:r>
              <a:t>Тайминг: 37–39 мин. Длительность: 2 мин.</a:t>
            </a:r>
          </a:p>
          <a:p xmlns:a="http://schemas.openxmlformats.org/drawingml/2006/main">
            <a:r>
              <a:t/>
            </a:r>
          </a:p>
          <a:p xmlns:a="http://schemas.openxmlformats.org/drawingml/2006/main">
            <a:r>
              <a:t>Дайте студентам сначала посмотреть на код, затем свяжите картинку с устройством данных: три места за столом не означают три миски. Внутренний список [0, 0, 0] был создан один раз. Внешнее умножение повторило ссылку на него трижды. Изменение grid[0][0] наблюдается через любую из трёх ссылок. Для независимых строк внутреннее создание нужно выполнить три раза: [[0] * 3 for _ in range(3)]. Здесь for внутри квадратных скобок — списковое включение; его синтаксис систематизируем позже. Умножение внутреннего списка с нулями допустимо, поскольку int неизменяем и присваивание позиции меняет ссылку именно в нужной строке. Не объявляйте умножение списков вообще ошибкой.</a:t>
            </a:r>
          </a:p>
          <a:p xmlns:a="http://schemas.openxmlformats.org/drawingml/2006/main">
            <a:r>
              <a:t/>
            </a:r>
          </a:p>
          <a:p xmlns:a="http://schemas.openxmlformats.org/drawingml/2006/main">
            <a:r>
              <a:t>[Sources]</a:t>
            </a:r>
          </a:p>
          <a:p xmlns:a="http://schemas.openxmlformats.org/drawingml/2006/main">
            <a:r>
              <a:t>Оригинальная иллюстрация создана с помощью imagegen для этой лекции: три утки едят из одной миски. Внешние изображения не использованы.</a:t>
            </a:r>
          </a:p>
          <a:p xmlns:a="http://schemas.openxmlformats.org/drawingml/2006/main">
            <a:r>
              <a:t>[/Sources]</a:t>
            </a:r>
          </a:p>
          <a:p xmlns:a="http://schemas.openxmlformats.org/drawingml/2006/main">
            <a:r>
              <a:t/>
            </a:r>
          </a:p>
          <a:p xmlns:a="http://schemas.openxmlformats.org/drawingml/2006/main">
            <a:r>
              <a:t>[Sources]</a:t>
            </a:r>
          </a:p>
          <a:p xmlns:a="http://schemas.openxmlformats.org/drawingml/2006/main">
            <a:r>
              <a:t>- https://docs.python.org/3.14/faq/programming.html (проверено 05.09.2026)</a:t>
            </a:r>
          </a:p>
          <a:p xmlns:a="http://schemas.openxmlformats.org/drawingml/2006/main">
            <a:r>
              <a:t>- https://docs.python.org/3.14/tutorial/datastructures.html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 Копия бывает поверхностной</a:t>
            </a:r>
          </a:p>
          <a:p xmlns:a="http://schemas.openxmlformats.org/drawingml/2006/main">
            <a:r>
              <a:t>Тайминг: 39–42 мин. Длительность: 3 мин.</a:t>
            </a:r>
          </a:p>
          <a:p xmlns:a="http://schemas.openxmlformats.org/drawingml/2006/main">
            <a:r>
              <a:t/>
            </a:r>
          </a:p>
          <a:p xmlns:a="http://schemas.openxmlformats.org/drawingml/2006/main">
            <a:r>
              <a:t>Сравнивайте два независимых запуска: перед правым примером a снова создаётся как [[1], [2]]. Поверхностная копия создаёт только новый внешний контейнер и переносит ссылки на вложенные элементы. Изменение длины b не изменит длину a, но мутация b[0] наблюдается через a[0]. deepcopy рекурсивно копирует поддерживаемый граф объектов и использует memo для обработки циклов и повторных ссылок. Поэтому он не превращает произвольное совместное использование в полностью независимые объекты и может сохранить внутреннее разделение ссылок. Не обещайте глубокую копию любого ресурса: файлы, соединения и пользовательские классы требуют отдельного решения. Практический выбор — копировать только нужную часть состояния и заранее определить, какая независимость требуется. Дайте аудитории 30 секунд на вопрос: что будет после b.append([3]) в левом примере?</a:t>
            </a:r>
          </a:p>
          <a:p xmlns:a="http://schemas.openxmlformats.org/drawingml/2006/main">
            <a:r>
              <a:t/>
            </a:r>
          </a:p>
          <a:p xmlns:a="http://schemas.openxmlformats.org/drawingml/2006/main">
            <a:r>
              <a:t>[Sources]</a:t>
            </a:r>
          </a:p>
          <a:p xmlns:a="http://schemas.openxmlformats.org/drawingml/2006/main">
            <a:r>
              <a:t>- https://docs.python.org/3.14/library/copy.html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 dict связывает ключ со значением</a:t>
            </a:r>
          </a:p>
          <a:p xmlns:a="http://schemas.openxmlformats.org/drawingml/2006/main">
            <a:r>
              <a:t>Тайминг: 42–45 мин. Длительность: 3 мин.</a:t>
            </a:r>
          </a:p>
          <a:p xmlns:a="http://schemas.openxmlformats.org/drawingml/2006/main">
            <a:r>
              <a:t/>
            </a:r>
          </a:p>
          <a:p xmlns:a="http://schemas.openxmlformats.org/drawingml/2006/main">
            <a:r>
              <a:t>Опишите dict как отображение, а не «список со строковыми индексами»: ключами могут быть любые подходящие хешируемые объекты. Присваивание по существующему ключу заменяет значение, по новому — добавляет пару. Оператор in у dict проверяет ключи, а не значения. Если отсутствие ключа означает ошибку данных, d[key] помогает её обнаружить; если отсутствие нормально, get даёт явное значение по умолчанию. Обратите внимание на тонкость: get возвращает реально сохранённый None, если ключ присутствует со значением None, даже когда задан другой default. Ключи должны быть хешируемыми; сами значения могут быть списками, словарями, функциями и другими объектами. Попросите предложить модель «номер студента → запись о студенте».</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https://docs.python.org/3.14/tutorial/datastructures.html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Словарь помнит порядок вставки</a:t>
            </a:r>
          </a:p>
          <a:p xmlns:a="http://schemas.openxmlformats.org/drawingml/2006/main">
            <a:r>
              <a:t>Тайминг: 45–47 мин. Длительность: 2 мин.</a:t>
            </a:r>
          </a:p>
          <a:p xmlns:a="http://schemas.openxmlformats.org/drawingml/2006/main">
            <a:r>
              <a:t/>
            </a:r>
          </a:p>
          <a:p xmlns:a="http://schemas.openxmlformats.org/drawingml/2006/main">
            <a:r>
              <a:t>Вид keys создан до вставки c, но при чтении отражает новую пару, поскольку это представление словаря, а не независимый снимок. Аналогично ведут себя values и items. Обновление существующего значения сохраняет положение ключа; удаление ключа и повторная вставка помещает его в конец. Это гарантия поведения современных Python, её можно использовать, но она не означает, что ключи отсортированы. Во время итерации добавление или удаление ключей может привести к RuntimeError или некорректному обходу. Если нужно удалять элементы, можно сначала взять list(d) или построить новый словарь. Не смешивайте порядок обхода с равенством dict: словари с одинаковыми парами могут быть равны при разном порядке вставки.</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Ключ должен иметь устойчивый хеш</a:t>
            </a:r>
          </a:p>
          <a:p xmlns:a="http://schemas.openxmlformats.org/drawingml/2006/main">
            <a:r>
              <a:t>Тайминг: 47–50 мин. Длительность: 3 мин.</a:t>
            </a:r>
          </a:p>
          <a:p xmlns:a="http://schemas.openxmlformats.org/drawingml/2006/main">
            <a:r>
              <a:t/>
            </a:r>
          </a:p>
          <a:p xmlns:a="http://schemas.openxmlformats.org/drawingml/2006/main">
            <a:r>
              <a:t>Хеш нужен, чтобы быстро выбрать область поиска, а равенство — чтобы подтвердить совпадение ключа. Совпадение хешей разных объектов возможно и называется коллизией; само по себе оно не делает объекты равными. Хеш используемого ключа должен оставаться стабильным в течение его жизни, а отношение равенства согласовываться с хешем. Для tuple нужно проверить элементы рекурсивно. Не говорите «все изменяемые объекты нехешируемы»: экземпляр обычного пользовательского класса по умолчанию может иметь изменяемые атрибуты и при этом хешироваться по идентичности. Если переопределить __eq__ без __hash__, Python обычно делает экземпляры нехешируемыми. Для атрибутов, участвующих в равенстве и хеше, мутация после использования ключом нарушает контракт.</a:t>
            </a:r>
          </a:p>
          <a:p xmlns:a="http://schemas.openxmlformats.org/drawingml/2006/main">
            <a:r>
              <a:t/>
            </a:r>
          </a:p>
          <a:p xmlns:a="http://schemas.openxmlformats.org/drawingml/2006/main">
            <a:r>
              <a:t>[Sources]</a:t>
            </a:r>
          </a:p>
          <a:p xmlns:a="http://schemas.openxmlformats.org/drawingml/2006/main">
            <a:r>
              <a:t>- https://docs.python.org/3.14/reference/datamodel.html (проверено 05.09.2026)</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 Три записи могут означать один ключ</a:t>
            </a:r>
          </a:p>
          <a:p xmlns:a="http://schemas.openxmlformats.org/drawingml/2006/main">
            <a:r>
              <a:t>Тайминг: 50–52 мин. Длительность: 2 мин.</a:t>
            </a:r>
          </a:p>
          <a:p xmlns:a="http://schemas.openxmlformats.org/drawingml/2006/main">
            <a:r>
              <a:t/>
            </a:r>
          </a:p>
          <a:p xmlns:a="http://schemas.openxmlformats.org/drawingml/2006/main">
            <a:r>
              <a:t>Это ответ на вторую половину открывающего вопроса. Историческая связь bool с int и согласованность числового равенства позволяют True, 1 и 1.0 обращаться к одной записи. Здесь важно не только совпадение хеша: равенство тоже True. При обычной коллизии неравные ключи сохраняются отдельно. Не делайте вывод, что словарь автоматически превращает все ключи в один тип. Он следует правилам сравнения и хеширования объектов. Если прикладная модель обязана различать логический флаг и идентификатор 1, нужно исправить модель ключа: например, явно включить категорию или тип в составной ключ. Дайте студентам предложить такой ключ, но не уходите в проектирование универсального сериализатора.</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 set выражает уникальность</a:t>
            </a:r>
          </a:p>
          <a:p xmlns:a="http://schemas.openxmlformats.org/drawingml/2006/main">
            <a:r>
              <a:t>Тайминг: 52–54 мин. Длительность: 2 мин.</a:t>
            </a:r>
          </a:p>
          <a:p xmlns:a="http://schemas.openxmlformats.org/drawingml/2006/main">
            <a:r>
              <a:t/>
            </a:r>
          </a:p>
          <a:p xmlns:a="http://schemas.openxmlformats.org/drawingml/2006/main">
            <a:r>
              <a:t>Покажите сценарии: набор доступных прав, уникальные теги, пересечение участников двух групп. Повторное добавление равного значения не увеличивает множество. Элементы должны быть хешируемыми, поэтому нельзя положить list в set. Порядок на слайде выбран для чтения, и студент не должен тестировать программу сравнением строкового представления множества. Для детерминированного показа подходящих сравнимых значений можно использовать sorted. У set есть add, update, remove и discard: remove сообщает KeyError при отсутствии, discard спокойно ничего не делает. frozenset не поддерживает изменение, но даёт операции, возвращающие новое множество. Уникализация через set теряет исходный порядок; для сохранения порядка хешируемых элементов можно использовать list(dict.fromkeys(values)).</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https://docs.python.org/3.14/tutorial/datastructures.html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 Тип данных меняет цену алгоритма</a:t>
            </a:r>
          </a:p>
          <a:p xmlns:a="http://schemas.openxmlformats.org/drawingml/2006/main">
            <a:r>
              <a:t>Тайминг: 54–56 мин. Длительность: 2 мин.</a:t>
            </a:r>
          </a:p>
          <a:p xmlns:a="http://schemas.openxmlformats.org/drawingml/2006/main">
            <a:r>
              <a:t/>
            </a:r>
          </a:p>
          <a:p xmlns:a="http://schemas.openxmlformats.org/drawingml/2006/main">
            <a:r>
              <a:t>Напомните, что O описывает рост затрат при увеличении размера, а не точное время в секундах. Доступ к позиции расширяемого массива прямой, а поиск неизвестного значения может потребовать обхода. append иногда вызывает перевыделение буфера; стоимость редких дорогих расширений распределяется по серии операций, отсюда амортизированная O(1). Для dict и set нужны хорошие условия распределения хешей, а стоимость самого хеширования и сравнения ключа считается постоянной. Длинная строка или пользовательский ключ могут изменить эту картину. Для FIFO-очереди pop(0) у списка неудачен; collections.deque даёт эффективные операции на обоих концах. Это не универсальные обещания для всех реализаций Python и не замена измерениям на реальной задаче.</a:t>
            </a:r>
          </a:p>
          <a:p xmlns:a="http://schemas.openxmlformats.org/drawingml/2006/main">
            <a:r>
              <a:t/>
            </a:r>
          </a:p>
          <a:p xmlns:a="http://schemas.openxmlformats.org/drawingml/2006/main">
            <a:r>
              <a:t>[Sources]</a:t>
            </a:r>
          </a:p>
          <a:p xmlns:a="http://schemas.openxmlformats.org/drawingml/2006/main">
            <a:r>
              <a:t>- https://docs.python.org/3.14/library/time-complexity.html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29. Начинайте с нужных операций</a:t>
            </a:r>
          </a:p>
          <a:p xmlns:a="http://schemas.openxmlformats.org/drawingml/2006/main">
            <a:r>
              <a:t>Тайминг: 56–57 мин. Длительность: 1 мин.</a:t>
            </a:r>
          </a:p>
          <a:p xmlns:a="http://schemas.openxmlformats.org/drawingml/2006/main">
            <a:r>
              <a:t/>
            </a:r>
          </a:p>
          <a:p xmlns:a="http://schemas.openxmlformats.org/drawingml/2006/main">
            <a:r>
              <a:t>Попросите быстро подобрать тип для трёх устных требований: «нужны все попытки в исходном порядке», «нужно последнее состояние по id», «нужен ответ, встречался ли id раньше». Это list, dict и set. Обратите внимание: одна система может использовать все три одновременно, так как они отвечают разным запросам. tuple подходит небольшой фиксированной позиционной структуре; если нужно помнить смысл нескольких полей, dataclass улучшает читаемость. Конкретная задача может требовать дополнительных структур, например deque, Counter или массив чисел, но таблица даёт стартовую аргументацию без преждевременного выбора библиотек.</a:t>
            </a:r>
          </a:p>
          <a:p xmlns:a="http://schemas.openxmlformats.org/drawingml/2006/main">
            <a:r>
              <a:t/>
            </a:r>
          </a:p>
          <a:p xmlns:a="http://schemas.openxmlformats.org/drawingml/2006/main">
            <a:r>
              <a:t>[Sources]</a:t>
            </a:r>
          </a:p>
          <a:p xmlns:a="http://schemas.openxmlformats.org/drawingml/2006/main">
            <a:r>
              <a:t>- https://docs.python.org/3.14/tutorial/datastructures.html (проверено 05.09.2026)</a:t>
            </a:r>
          </a:p>
          <a:p xmlns:a="http://schemas.openxmlformats.org/drawingml/2006/main">
            <a:r>
              <a:t>- https://docs.python.org/3.14/library/dataclasses.html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Итерируемое — не обязательно итератор</a:t>
            </a:r>
          </a:p>
          <a:p xmlns:a="http://schemas.openxmlformats.org/drawingml/2006/main">
            <a:r>
              <a:t>Тайминг: 57–60 мин. Длительность: 3 мин.</a:t>
            </a:r>
          </a:p>
          <a:p xmlns:a="http://schemas.openxmlformats.org/drawingml/2006/main">
            <a:r>
              <a:t/>
            </a:r>
          </a:p>
          <a:p xmlns:a="http://schemas.openxmlformats.org/drawingml/2006/main">
            <a:r>
              <a:t>Отделите коллекцию от состояния прохода по ней. У list или range можно получить новый итератор и начать заново. У итератора iter(it) обычно возвращает его самого, поэтому состояние не сбрасывается. Цикл for вызывает iter и затем next до StopIteration; исключение остановки обрабатывается циклом. range хранит компактное описание арифметической прогрессии, поддерживает индексы и срезы, но не является генератором. После next(it) первое значение уже потреблено, поэтому list(it) собирает только 1 и 2. Второй list(it) пуст, тогда как list(r) использует новый обход. Можно спросить, что будет с общим итератором у двух потребителей: они будут забирать элементы из одного состояния.</a:t>
            </a:r>
          </a:p>
          <a:p xmlns:a="http://schemas.openxmlformats.org/drawingml/2006/main">
            <a:r>
              <a:t/>
            </a:r>
          </a:p>
          <a:p xmlns:a="http://schemas.openxmlformats.org/drawingml/2006/main">
            <a:r>
              <a:t>[Sources]</a:t>
            </a:r>
          </a:p>
          <a:p xmlns:a="http://schemas.openxmlformats.org/drawingml/2006/main">
            <a:r>
              <a:t>- https://docs.python.org/3.14/library/collections.abc.html (проверено 05.09.2026)</a:t>
            </a:r>
          </a:p>
          <a:p xmlns:a="http://schemas.openxmlformats.org/drawingml/2006/main">
            <a:r>
              <a:t>- https://docs.python.org/3.14/library/stdtypes.html (проверено 05.09.2026)</a:t>
            </a:r>
          </a:p>
          <a:p xmlns:a="http://schemas.openxmlformats.org/drawingml/2006/main">
            <a:r>
              <a:t>- https://docs.python.org/3.14/tutorial/classes.html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 Вычислить сразу или выдавать по запросу?</a:t>
            </a:r>
          </a:p>
          <a:p xmlns:a="http://schemas.openxmlformats.org/drawingml/2006/main">
            <a:r>
              <a:t>Тайминг: 60–62 мин. Длительность: 2 мин.</a:t>
            </a:r>
          </a:p>
          <a:p xmlns:a="http://schemas.openxmlformats.org/drawingml/2006/main">
            <a:r>
              <a:t/>
            </a:r>
          </a:p>
          <a:p xmlns:a="http://schemas.openxmlformats.org/drawingml/2006/main">
            <a:r>
              <a:t>Поясните синтаксис выражение for переменная in источник и необязательный if. Списковое включение создаёт список, set-включение использует фигурные скобки, а dict-включение задаёт пару key: value. Генераторное выражение создаёт итератор и вычисляет элементы по мере запроса. Сумма не «знает прошлый результат», поэтому второй обход исчерпанного генератора даёт ноль — нейтральный результат sum для пустого входа. Не обещайте O(1) памяти для любого генератора: его состояние и удерживаемый источник тоже занимают память. Левая крайняя итерируемая часть генераторного выражения вычисляется при создании; остальные вычисления обычно откладываются. Для крупного потока sum(x*x for x in source) может обойтись без промежуточного списка.</a:t>
            </a:r>
          </a:p>
          <a:p xmlns:a="http://schemas.openxmlformats.org/drawingml/2006/main">
            <a:r>
              <a:t/>
            </a:r>
          </a:p>
          <a:p xmlns:a="http://schemas.openxmlformats.org/drawingml/2006/main">
            <a:r>
              <a:t>[Sources]</a:t>
            </a:r>
          </a:p>
          <a:p xmlns:a="http://schemas.openxmlformats.org/drawingml/2006/main">
            <a:r>
              <a:t>- https://docs.python.org/3.14/reference/expressions.html (проверено 05.09.2026)</a:t>
            </a:r>
          </a:p>
          <a:p xmlns:a="http://schemas.openxmlformats.org/drawingml/2006/main">
            <a:r>
              <a:t>- https://docs.python.org/3.14/tutorial/datastructures.html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 Значение по умолчанию создаётся один раз</a:t>
            </a:r>
          </a:p>
          <a:p xmlns:a="http://schemas.openxmlformats.org/drawingml/2006/main">
            <a:r>
              <a:t>Тайминг: 62–64 мин. Длительность: 2 мин.</a:t>
            </a:r>
          </a:p>
          <a:p xmlns:a="http://schemas.openxmlformats.org/drawingml/2006/main">
            <a:r>
              <a:t/>
            </a:r>
          </a:p>
          <a:p xmlns:a="http://schemas.openxmlformats.org/drawingml/2006/main">
            <a:r>
              <a:t>Начните с вопроса, почему второй результат содержит единицу. def — исполняемая инструкция; выражения значений по умолчанию вычисляются, когда она выполняется, и результат сохраняется у объекта функции. Поэтому список не пересоздаётся на каждом вызове. Паттерн None нужен, когда требуется новое состояние при отсутствии аргумента. Если передан реальный список, функция по-прежнему меняет его — это отдельный контракт, который нужно документировать или изменить копированием. Если None сам имеет прикладное значение, используйте другой сентинел. Попросите студентов связать эту ошибку с grid = [[0]*3]*3: в обоих случаях неожиданность объясняется повторным использованием одного изменяемого объекта.</a:t>
            </a:r>
          </a:p>
          <a:p xmlns:a="http://schemas.openxmlformats.org/drawingml/2006/main">
            <a:r>
              <a:t/>
            </a:r>
          </a:p>
          <a:p xmlns:a="http://schemas.openxmlformats.org/drawingml/2006/main">
            <a:r>
              <a:t>[Sources]</a:t>
            </a:r>
          </a:p>
          <a:p xmlns:a="http://schemas.openxmlformats.org/drawingml/2006/main">
            <a:r>
              <a:t>- https://docs.python.org/3.14/tutorial/controlflow.html (проверено 05.09.2026)</a:t>
            </a:r>
          </a:p>
          <a:p xmlns:a="http://schemas.openxmlformats.org/drawingml/2006/main">
            <a:r>
              <a:t>- https://docs.python.org/3.14/faq/programming.html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 Три коротких прогноза</a:t>
            </a:r>
          </a:p>
          <a:p xmlns:a="http://schemas.openxmlformats.org/drawingml/2006/main">
            <a:r>
              <a:t>Тайминг: 64–67 мин. Длительность: 3 мин.</a:t>
            </a:r>
          </a:p>
          <a:p xmlns:a="http://schemas.openxmlformats.org/drawingml/2006/main">
            <a:r>
              <a:t/>
            </a:r>
          </a:p>
          <a:p xmlns:a="http://schemas.openxmlformats.org/drawingml/2006/main">
            <a:r>
              <a:t>Выделите 60 секунд на индивидуальный ответ, затем 60 секунд на обсуждение с соседом и последнюю минуту на сбор версий. Код не запускаем сразу: студент должен объяснить механизм. Ответ A: [1, 2], потому что + создаёт новый список, после чего переназначается a. Ответ B: TypeError, так как tuple содержит нехешируемый list. Ответ C: [0, 1, 2] [], поскольку первый list полностью потребляет генератор, а аргументы print вычисляются слева направо. Следующий слайд содержит ответы, поэтому оставьте его скрытым до окончания обсуждения. Если ответы быстрые, попросите изменить по одной строке так, чтобы результат стал другим.</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https://docs.python.org/3.14/reference/expressions.html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 Во всех трёх случаях работают общие правила</a:t>
            </a:r>
          </a:p>
          <a:p xmlns:a="http://schemas.openxmlformats.org/drawingml/2006/main">
            <a:r>
              <a:t>Тайминг: 67–69 мин. Длительность: 2 мин.</a:t>
            </a:r>
          </a:p>
          <a:p xmlns:a="http://schemas.openxmlformats.org/drawingml/2006/main">
            <a:r>
              <a:t/>
            </a:r>
          </a:p>
          <a:p xmlns:a="http://schemas.openxmlformats.org/drawingml/2006/main">
            <a:r>
              <a:t>Не ограничивайтесь чтением ответов: предложите студентам назвать объект, который сохраняется, создаётся или меняет состояние. Для A замена a = a + [3] на a += [3] изменит и наблюдение через b. Для B замена [1] на (1,) сделает вложенную структуру хешируемой. Для C замена генератора на range(3) позволит двум вызовам list получить полный диапазон. Это быстрый способ проверить понимание причин, а не запоминание вывода. После разбора подчеркните: встроенные типы не являются набором несвязанных исключений — поведение объясняется ссылками, протоколами и правилами конкретных операций.</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https://docs.python.org/3.14/reference/expressions.html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Протокол задаёт поведение объекта</a:t>
            </a:r>
          </a:p>
          <a:p xmlns:a="http://schemas.openxmlformats.org/drawingml/2006/main">
            <a:r>
              <a:t>Тайминг: 69–71 мин. Длительность: 2 мин.</a:t>
            </a:r>
          </a:p>
          <a:p xmlns:a="http://schemas.openxmlformats.org/drawingml/2006/main">
            <a:r>
              <a:t/>
            </a:r>
          </a:p>
          <a:p xmlns:a="http://schemas.openxmlformats.org/drawingml/2006/main">
            <a:r>
              <a:t>Поясните минимальный синтаксис class, self и отступов. __init__ инициализирует экземпляр, а не создаёт сам объект: создание связано с __new__. В примере внешний список копируется, чтобы изменения списка аргумента не меняли состав группы. Метод __len__ позволяет использовать стандартную функцию len. При отсутствии __bool__ истинность использует длину: пустая Group будет ложной. Особые методы обычно ищутся на типе, поэтому простое присваивание атрибута экземпляру не обязательно меняет поведение len. Duck typing означает работу через поддерживаемые операции; это не то же самое, что typing.Protocol, хотя структурные аннотации могут выразить похожий контракт для проверяющих инструментов. Не реализуйте лишние методы только ради названия интерфейса.</a:t>
            </a:r>
          </a:p>
          <a:p xmlns:a="http://schemas.openxmlformats.org/drawingml/2006/main">
            <a:r>
              <a:t/>
            </a:r>
          </a:p>
          <a:p xmlns:a="http://schemas.openxmlformats.org/drawingml/2006/main">
            <a:r>
              <a:t>[Sources]</a:t>
            </a:r>
          </a:p>
          <a:p xmlns:a="http://schemas.openxmlformats.org/drawingml/2006/main">
            <a:r>
              <a:t>- https://docs.python.org/3.14/reference/datamodel.html (проверено 05.09.2026)</a:t>
            </a:r>
          </a:p>
          <a:p xmlns:a="http://schemas.openxmlformats.org/drawingml/2006/main">
            <a:r>
              <a:t>- https://docs.python.org/3.14/library/collections.abc.html (проверено 05.09.2026)</a:t>
            </a:r>
          </a:p>
          <a:p xmlns:a="http://schemas.openxmlformats.org/drawingml/2006/main">
            <a:r>
              <a:t>- https://docs.python.org/3.14/tutorial/classes.html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 dataclass делает структуру явной</a:t>
            </a:r>
          </a:p>
          <a:p xmlns:a="http://schemas.openxmlformats.org/drawingml/2006/main">
            <a:r>
              <a:t>Тайминг: 71–73 мин. Длительность: 2 мин.</a:t>
            </a:r>
          </a:p>
          <a:p xmlns:a="http://schemas.openxmlformats.org/drawingml/2006/main">
            <a:r>
              <a:t/>
            </a:r>
          </a:p>
          <a:p xmlns:a="http://schemas.openxmlformats.org/drawingml/2006/main">
            <a:r>
              <a:t>Поясните декоратор как функцию, применяемую к классу после его создания; подробный механизм будет виден в блоке метаклассов. dataclass сокращает стандартный код записи, но не проверяет автоматически фактические типы значений полей. default_factory=list создаёт отдельный список для нового экземпляра, что напрямую связано с ловушкой значений по умолчанию. Покажите мысленно двух Student: изменение marks у одного не должно менять другого. frozen=True имитирует неизменяемость полей через запрет обычного присваивания; вложенный список всё ещё изменяем. Если нужен хешируемый ключ-значение, разумнее выбирать неизменяемые поля, например tuple. Автоматический __hash__ зависит от сочетания eq и frozen; не обещайте хешируемость любому dataclass.</a:t>
            </a:r>
          </a:p>
          <a:p xmlns:a="http://schemas.openxmlformats.org/drawingml/2006/main">
            <a:r>
              <a:t/>
            </a:r>
          </a:p>
          <a:p xmlns:a="http://schemas.openxmlformats.org/drawingml/2006/main">
            <a:r>
              <a:t>[Sources]</a:t>
            </a:r>
          </a:p>
          <a:p xmlns:a="http://schemas.openxmlformats.org/drawingml/2006/main">
            <a:r>
              <a:t>- https://docs.python.org/3.14/library/dataclasses.html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 Аннотация описывает контракт</a:t>
            </a:r>
          </a:p>
          <a:p xmlns:a="http://schemas.openxmlformats.org/drawingml/2006/main">
            <a:r>
              <a:t>Тайминг: 73–75 мин. Длительность: 2 мин.</a:t>
            </a:r>
          </a:p>
          <a:p xmlns:a="http://schemas.openxmlformats.org/drawingml/2006/main">
            <a:r>
              <a:t/>
            </a:r>
          </a:p>
          <a:p xmlns:a="http://schemas.openxmlformats.org/drawingml/2006/main">
            <a:r>
              <a:t>Это специально ошибочный с точки зрения аннотаций вызов: у Python нет автоматического отказа из-за надписи int. Умножение str на 2 допустимо, поэтому программа вернёт haha. Статический анализатор способен найти несоответствие до запуска. Не говорите, что type hints меняют динамическую природу Python. Уточните isinstance: isinstance(True, int) вернёт True, поскольку bool наследует int; type(True) is int даст False. Параметризированный list[int] не предназначен для проверки элементов через isinstance(values, list[int]) — это вызовет TypeError. Внешние данные нужно проверять по нужным правилам, включая диапазоны, наличие полей и допустимые сочетания значений; одних названий типов для этого обычно недостаточно.</a:t>
            </a:r>
          </a:p>
          <a:p xmlns:a="http://schemas.openxmlformats.org/drawingml/2006/main">
            <a:r>
              <a:t/>
            </a:r>
          </a:p>
          <a:p xmlns:a="http://schemas.openxmlformats.org/drawingml/2006/main">
            <a:r>
              <a:t>[Sources]</a:t>
            </a:r>
          </a:p>
          <a:p xmlns:a="http://schemas.openxmlformats.org/drawingml/2006/main">
            <a:r>
              <a:t>- https://docs.python.org/3.14/library/typing.html (проверено 05.09.2026)</a:t>
            </a:r>
          </a:p>
          <a:p xmlns:a="http://schemas.openxmlformats.org/drawingml/2006/main">
            <a:r>
              <a:t>- https://docs.python.org/3.14/library/functions.html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 Класс тоже является объектом</a:t>
            </a:r>
          </a:p>
          <a:p xmlns:a="http://schemas.openxmlformats.org/drawingml/2006/main">
            <a:r>
              <a:t>Тайминг: 75–77 мин. Длительность: 2 мин.</a:t>
            </a:r>
          </a:p>
          <a:p xmlns:a="http://schemas.openxmlformats.org/drawingml/2006/main">
            <a:r>
              <a:t/>
            </a:r>
          </a:p>
          <a:p xmlns:a="http://schemas.openxmlformats.org/drawingml/2006/main">
            <a:r>
              <a:t>Это основной смысл метаклассов, до которого мы дошли через общую модель объектов. class Sensor создаёт объект класса и связывает его с именем Sensor. Вызов Sensor() создаёт обычный экземпляр. У этого экземпляра тип Sensor, а у Sensor в данном случае тип type. type является собственным экземпляром, что закрывает цепочку: бесконечная последовательность «мета-мета-...» не требуется. Отделите отношение «имеет тип» от наследования: Sensor наследует object, но не наследует type. type(Sensor) is type выражает именно тип объекта класса. Пользовательский метакласс обычно наследуется от type, чтобы участвовать в стандартном создании классов.</a:t>
            </a:r>
          </a:p>
          <a:p xmlns:a="http://schemas.openxmlformats.org/drawingml/2006/main">
            <a:r>
              <a:t/>
            </a:r>
          </a:p>
          <a:p xmlns:a="http://schemas.openxmlformats.org/drawingml/2006/main">
            <a:r>
              <a:t>[Sources]</a:t>
            </a:r>
          </a:p>
          <a:p xmlns:a="http://schemas.openxmlformats.org/drawingml/2006/main">
            <a:r>
              <a:t>- https://docs.python.org/3.14/reference/datamodel.html (проверено 05.09.2026)</a:t>
            </a:r>
          </a:p>
          <a:p xmlns:a="http://schemas.openxmlformats.org/drawingml/2006/main">
            <a:r>
              <a:t>- https://docs.python.org/3.14/library/functions.html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 type умеет создавать классы</a:t>
            </a:r>
          </a:p>
          <a:p xmlns:a="http://schemas.openxmlformats.org/drawingml/2006/main">
            <a:r>
              <a:t>Тайминг: 77–79 мин. Длительность: 2 мин.</a:t>
            </a:r>
          </a:p>
          <a:p xmlns:a="http://schemas.openxmlformats.org/drawingml/2006/main">
            <a:r>
              <a:t/>
            </a:r>
          </a:p>
          <a:p xmlns:a="http://schemas.openxmlformats.org/drawingml/2006/main">
            <a:r>
              <a:t>Сравните два альтернативных определения, а не последовательное выполнение с ожиданием одинаковой идентичности классов. В первом случае пространство имён заполняется выполнением тела класса, во втором передаётся словарь атрибутов. Пустой tuple bases даёт обычный базовый object. У type один аргумент означает определение типа, три — создание класса. Не заявляйте полную эквивалентность любого class прямому вызову type: инструкция class дополнительно разрешает метакласс, готовит namespace, обрабатывает необходимые служебные сведения, hooks и декораторы. На этом небольшом примере видно центральное действие — создание объекта класса. Динамическое создание бывает полезно для программно заданных схем, но статическое определение легче читать, когда структура известна.</a:t>
            </a:r>
          </a:p>
          <a:p xmlns:a="http://schemas.openxmlformats.org/drawingml/2006/main">
            <a:r>
              <a:t/>
            </a:r>
          </a:p>
          <a:p xmlns:a="http://schemas.openxmlformats.org/drawingml/2006/main">
            <a:r>
              <a:t>[Sources]</a:t>
            </a:r>
          </a:p>
          <a:p xmlns:a="http://schemas.openxmlformats.org/drawingml/2006/main">
            <a:r>
              <a:t>- https://docs.python.org/3.14/library/functions.html (проверено 05.09.2026)</a:t>
            </a:r>
          </a:p>
          <a:p xmlns:a="http://schemas.openxmlformats.org/drawingml/2006/main">
            <a:r>
              <a:t>- https://peps.python.org/pep-3115/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Когда вмешивается метакласс</a:t>
            </a:r>
          </a:p>
          <a:p xmlns:a="http://schemas.openxmlformats.org/drawingml/2006/main">
            <a:r>
              <a:t>Тайминг: 79–81 мин. Длительность: 2 мин.</a:t>
            </a:r>
          </a:p>
          <a:p xmlns:a="http://schemas.openxmlformats.org/drawingml/2006/main">
            <a:r>
              <a:t/>
            </a:r>
          </a:p>
          <a:p xmlns:a="http://schemas.openxmlformats.org/drawingml/2006/main">
            <a:r>
              <a:t>Ограничьтесь общей последовательностью и точками вмешательства, не перегружая первой лекции всеми деталями. Обычно Meta — подкласс type, и стандартный механизм вызова запускает Meta.__new__ и Meta.__init__. Внутри type.__new__ также вызываются __set_name__ у подходящих дескрипторов и __init_subclass__ у родительского класса по MRO; эти hooks не являются отдельным последним этапом после декораторов. При множественном наследовании выбранный метакласс должен быть совместим с метаклассами баз, иначе возможен TypeError о конфликте. Важно различать вызов метакласса для создания класса и последующий вызов готового класса для создания его экземпляра. Подробное определение MRO оставьте для занятия об объектной модели и наследовании.</a:t>
            </a:r>
          </a:p>
          <a:p xmlns:a="http://schemas.openxmlformats.org/drawingml/2006/main">
            <a:r>
              <a:t/>
            </a:r>
          </a:p>
          <a:p xmlns:a="http://schemas.openxmlformats.org/drawingml/2006/main">
            <a:r>
              <a:t>[Sources]</a:t>
            </a:r>
          </a:p>
          <a:p xmlns:a="http://schemas.openxmlformats.org/drawingml/2006/main">
            <a:r>
              <a:t>- https://peps.python.org/pep-3115/ (проверено 05.09.2026)</a:t>
            </a:r>
          </a:p>
          <a:p xmlns:a="http://schemas.openxmlformats.org/drawingml/2006/main">
            <a:r>
              <a:t>- https://docs.python.org/3.14/reference/datamodel.html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 Проверим правило при создании класса</a:t>
            </a:r>
          </a:p>
          <a:p xmlns:a="http://schemas.openxmlformats.org/drawingml/2006/main">
            <a:r>
              <a:t>Тайминг: 81–84 мин. Длительность: 3 мин.</a:t>
            </a:r>
          </a:p>
          <a:p xmlns:a="http://schemas.openxmlformats.org/drawingml/2006/main">
            <a:r>
              <a:t/>
            </a:r>
          </a:p>
          <a:p xmlns:a="http://schemas.openxmlformats.org/drawingml/2006/main">
            <a:r>
              <a:t>Это намеренно учебный и узкий контракт: unit должен быть именно в собственном namespace каждого создаваемого подкласса, унаследованного unit недостаточно. В определении корневого Quantity bases пуст, поэтому проверка пропускается. Когда определяется Length, непустые bases включают Quantity, а ключ unit присутствует — класс создаётся. Если выполнить class Broken(Quantity): pass, ошибка возникнет при выполнении определения класса, а не при Broken(). В параметрах mcls — метакласс, name — имя создаваемого класса, bases — базовые классы, ns — заполненное пространство имён. Передаём ns целиком в super().__new__, сохраняя служебные поля. В конце подчеркните: для такой проверки обычно хватит более простого __init_subclass__; пример нужен, чтобы увидеть точку вмешательства метакласса.</a:t>
            </a:r>
          </a:p>
          <a:p xmlns:a="http://schemas.openxmlformats.org/drawingml/2006/main">
            <a:r>
              <a:t/>
            </a:r>
          </a:p>
          <a:p xmlns:a="http://schemas.openxmlformats.org/drawingml/2006/main">
            <a:r>
              <a:t>[Sources]</a:t>
            </a:r>
          </a:p>
          <a:p xmlns:a="http://schemas.openxmlformats.org/drawingml/2006/main">
            <a:r>
              <a:t>- https://docs.python.org/3.14/reference/datamodel.html (проверено 05.09.2026)</a:t>
            </a:r>
          </a:p>
          <a:p xmlns:a="http://schemas.openxmlformats.org/drawingml/2006/main">
            <a:r>
              <a:t>- https://peps.python.org/pep-3115/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 Часто достаточно __init_subclass__</a:t>
            </a:r>
          </a:p>
          <a:p xmlns:a="http://schemas.openxmlformats.org/drawingml/2006/main">
            <a:r>
              <a:t>Тайминг: 84–86 мин. Длительность: 2 мин.</a:t>
            </a:r>
          </a:p>
          <a:p xmlns:a="http://schemas.openxmlformats.org/drawingml/2006/main">
            <a:r>
              <a:t/>
            </a:r>
          </a:p>
          <a:p xmlns:a="http://schemas.openxmlformats.org/drawingml/2006/main">
            <a:r>
              <a:t>Сопоставьте тот же контракт с предыдущим слайдом. Hook автоматически получает создаваемый подкласс как cls; явный @classmethod не требуется. super нужен для кооперативного наследования. Проверка cls.__dict__ сохраняет строго тот же смысл: атрибут должен быть объявлен непосредственно в новом классе. К моменту вызова hook объект класса уже создан стандартным механизмом, но определение ещё не завершено. PEP 487 предлагает этот подход для многих проверок и регистраций, уменьшая необходимость собственных метаклассов. Метаклассы остаются нужны, когда недостаточно действий после создания класса или требуется специальная подготовка пространства имён. Их цена — дополнительная сложность и возможные конфликты при комбинировании баз. Не используйте метакласс только ради одного общего метода у экземпляров.</a:t>
            </a:r>
          </a:p>
          <a:p xmlns:a="http://schemas.openxmlformats.org/drawingml/2006/main">
            <a:r>
              <a:t/>
            </a:r>
          </a:p>
          <a:p xmlns:a="http://schemas.openxmlformats.org/drawingml/2006/main">
            <a:r>
              <a:t>[Sources]</a:t>
            </a:r>
          </a:p>
          <a:p xmlns:a="http://schemas.openxmlformats.org/drawingml/2006/main">
            <a:r>
              <a:t>- https://peps.python.org/pep-0487/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 Спроектируем данные датчика</a:t>
            </a:r>
          </a:p>
          <a:p xmlns:a="http://schemas.openxmlformats.org/drawingml/2006/main">
            <a:r>
              <a:t>Тайминг: 86–88 мин. Длительность: 2 мин.</a:t>
            </a:r>
          </a:p>
          <a:p xmlns:a="http://schemas.openxmlformats.org/drawingml/2006/main">
            <a:r>
              <a:t/>
            </a:r>
          </a:p>
          <a:p xmlns:a="http://schemas.openxmlformats.org/drawingml/2006/main">
            <a:r>
              <a:t>Предложите сначала свои варианты, затем объясните таблицу. Это иллюстративное проектирование, а не единственная правильная схема. Строковый id выбран потому, что ведущие нули значимы и идентификатором не выполняют арифметику. float выбран для измерений с уже существующей погрешностью; если нужен точный десятичный норматив, модель числа может измениться. Measurement можно определить dataclass с sensor_id, value и временем; полный дизайн времени здесь не нужен. История хранит все записи, словарь — быстрый доступ по id, множество — уникальные теги. Если нужна независимая неизменяемая публикация истории, обсудите tuple и неизменяемые поля. Вопрос о метаклассе решается требованиями к созданию типов, а не самим наличием разных объектов датчиков.</a:t>
            </a:r>
          </a:p>
          <a:p xmlns:a="http://schemas.openxmlformats.org/drawingml/2006/main">
            <a:r>
              <a:t/>
            </a:r>
          </a:p>
          <a:p xmlns:a="http://schemas.openxmlformats.org/drawingml/2006/main">
            <a:r>
              <a:t>[Sources]</a:t>
            </a:r>
          </a:p>
          <a:p xmlns:a="http://schemas.openxmlformats.org/drawingml/2006/main">
            <a:r>
              <a:t>- https://docs.python.org/3.14/library/dataclasses.html (проверено 05.09.2026)</a:t>
            </a:r>
          </a:p>
          <a:p xmlns:a="http://schemas.openxmlformats.org/drawingml/2006/main">
            <a:r>
              <a:t>- https://docs.python.org/3.14/tutorial/datastructures.html (проверено 05.09.2026)</a:t>
            </a:r>
          </a:p>
          <a:p xmlns:a="http://schemas.openxmlformats.org/drawingml/2006/main">
            <a:r>
              <a:t>- https://docs.python.org/3.14/tutorial/floatingpoint.html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 Тип — это набор правил поведения</a:t>
            </a:r>
          </a:p>
          <a:p xmlns:a="http://schemas.openxmlformats.org/drawingml/2006/main">
            <a:r>
              <a:t>Тайминг: 88–90 мин. Длительность: 2 мин.</a:t>
            </a:r>
          </a:p>
          <a:p xmlns:a="http://schemas.openxmlformats.org/drawingml/2006/main">
            <a:r>
              <a:t/>
            </a:r>
          </a:p>
          <a:p xmlns:a="http://schemas.openxmlformats.org/drawingml/2006/main">
            <a:r>
              <a:t>Завершите лекцию возвратом к диагностике. Попросите одного студента объяснить список, другого — единственный ключ словаря. Произнесите основной итог: надёжная программа начинается с точной модели объектов и корректно выбранных операций. Если группа успела быстрее, дополнительный устный вопрос: почему frozen dataclass со списком внутри не обязательно подходит в ключи словаря? Ответ связывает неглубокую неизменяемость и хешируемость полей. Для самостоятельного закрепления можно предложить взять небольшой существующий скрипт и выписать, какие объекты изменяемы и где разделяются ссылки; это рекомендация, а не утверждение о назначенной домашней работе. Основной сценарий завершается здесь; далее — справочные ссылки.</a:t>
            </a:r>
          </a:p>
          <a:p xmlns:a="http://schemas.openxmlformats.org/drawingml/2006/main">
            <a:r>
              <a:t/>
            </a:r>
          </a:p>
          <a:p xmlns:a="http://schemas.openxmlformats.org/drawingml/2006/main">
            <a:r>
              <a:t>[Sources]</a:t>
            </a:r>
          </a:p>
          <a:p xmlns:a="http://schemas.openxmlformats.org/drawingml/2006/main">
            <a:r>
              <a:t>- https://docs.python.org/3.14/reference/datamodel.html (проверено 05.09.2026)</a:t>
            </a:r>
          </a:p>
          <a:p xmlns:a="http://schemas.openxmlformats.org/drawingml/2006/main">
            <a:r>
              <a:t>- https://docs.python.org/3.14/library/stdtypes.html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Основные типы: где уточнять детали</a:t>
            </a:r>
          </a:p>
          <a:p xmlns:a="http://schemas.openxmlformats.org/drawingml/2006/main">
            <a:r>
              <a:t>Тайминг: Справочный слайд; в основной 90-минутный сценарий не входит.</a:t>
            </a:r>
          </a:p>
          <a:p xmlns:a="http://schemas.openxmlformats.org/drawingml/2006/main">
            <a:r>
              <a:t/>
            </a:r>
          </a:p>
          <a:p xmlns:a="http://schemas.openxmlformats.org/drawingml/2006/main">
            <a:r>
              <a:t>Справочный слайд, не добавляет времени к 90-минутному основному сценарию. Все названия материалов — активные ссылки. Проверка технических положений выполнена по официальной документации Python 3.14 и PEP; примеры используют совместимый синтаксис Python 3.10+. Дополнительные адреса: https://docs.python.org/3.14/library/decimal.html</a:t>
            </a:r>
          </a:p>
          <a:p xmlns:a="http://schemas.openxmlformats.org/drawingml/2006/main">
            <a:r>
              <a:t>https://docs.python.org/3.14/library/fractions.html</a:t>
            </a:r>
          </a:p>
          <a:p xmlns:a="http://schemas.openxmlformats.org/drawingml/2006/main">
            <a:r>
              <a:t>https://docs.python.org/3.14/library/functions.html</a:t>
            </a:r>
          </a:p>
          <a:p xmlns:a="http://schemas.openxmlformats.org/drawingml/2006/main">
            <a:r>
              <a:t>https://docs.python.org/3.14/tutorial/controlflow.html</a:t>
            </a:r>
          </a:p>
          <a:p xmlns:a="http://schemas.openxmlformats.org/drawingml/2006/main">
            <a:r>
              <a:t>https://docs.python.org/3.14/faq/programming.html</a:t>
            </a:r>
          </a:p>
          <a:p xmlns:a="http://schemas.openxmlformats.org/drawingml/2006/main">
            <a:r>
              <a:t>https://docs.python.org/3.14/reference/expressions.html. Учебные формулировки, примеры задач и сценарий обсуждения написаны специально для этой презентации. Ссылки на источники конкретных положений также находятся в заметках соответствующих слайдов.</a:t>
            </a:r>
          </a:p>
          <a:p xmlns:a="http://schemas.openxmlformats.org/drawingml/2006/main">
            <a:r>
              <a:t/>
            </a:r>
          </a:p>
          <a:p xmlns:a="http://schemas.openxmlformats.org/drawingml/2006/main">
            <a:r>
              <a:t>[Sources]</a:t>
            </a:r>
          </a:p>
          <a:p xmlns:a="http://schemas.openxmlformats.org/drawingml/2006/main">
            <a:r>
              <a:t>- https://docs.python.org/3.14/library/stdtypes.html (проверено 05.09.2026)</a:t>
            </a:r>
          </a:p>
          <a:p xmlns:a="http://schemas.openxmlformats.org/drawingml/2006/main">
            <a:r>
              <a:t>- https://docs.python.org/3.14/tutorial/datastructures.html (проверено 05.09.2026)</a:t>
            </a:r>
          </a:p>
          <a:p xmlns:a="http://schemas.openxmlformats.org/drawingml/2006/main">
            <a:r>
              <a:t>- https://docs.python.org/3.14/tutorial/floatingpoint.html (проверено 05.09.2026)</a:t>
            </a:r>
          </a:p>
          <a:p xmlns:a="http://schemas.openxmlformats.org/drawingml/2006/main">
            <a:r>
              <a:t>- https://docs.python.org/3.14/howto/unicode.html (проверено 05.09.2026)</a:t>
            </a:r>
          </a:p>
          <a:p xmlns:a="http://schemas.openxmlformats.org/drawingml/2006/main">
            <a:r>
              <a:t>- https://docs.python.org/3.14/library/copy.html (проверено 05.09.2026)</a:t>
            </a:r>
          </a:p>
          <a:p xmlns:a="http://schemas.openxmlformats.org/drawingml/2006/main">
            <a:r>
              <a:t>- https://docs.python.org/3.14/library/time-complexity.html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46. Модель объектов и устройство классов</a:t>
            </a:r>
          </a:p>
          <a:p xmlns:a="http://schemas.openxmlformats.org/drawingml/2006/main">
            <a:r>
              <a:t>Тайминг: Справочный слайд; в основной 90-минутный сценарий не входит.</a:t>
            </a:r>
          </a:p>
          <a:p xmlns:a="http://schemas.openxmlformats.org/drawingml/2006/main">
            <a:r>
              <a:t/>
            </a:r>
          </a:p>
          <a:p xmlns:a="http://schemas.openxmlformats.org/drawingml/2006/main">
            <a:r>
              <a:t>Справочный слайд вне основного тайминга. Для collections.abc: https://docs.python.org/3.14/library/collections.abc.html. Если студенту нужен следующий шаг после лекции, сначала рекомендуйте повторить раздел Data model об объектах и специальных методах, затем dataclasses, и только после этого читать подробный механизм создания классов. В презентации намеренно различаются отношения наследования и принадлежности к типу. Две юмористические иллюстрации оригинальные, созданы для этой лекции с помощью imagegen; готовые мемы, фотографии людей и чужие товарные знаки не использованы.</a:t>
            </a:r>
          </a:p>
          <a:p xmlns:a="http://schemas.openxmlformats.org/drawingml/2006/main">
            <a:r>
              <a:t/>
            </a:r>
          </a:p>
          <a:p xmlns:a="http://schemas.openxmlformats.org/drawingml/2006/main">
            <a:r>
              <a:t>[Sources]</a:t>
            </a:r>
          </a:p>
          <a:p xmlns:a="http://schemas.openxmlformats.org/drawingml/2006/main">
            <a:r>
              <a:t>- https://docs.python.org/3.14/reference/datamodel.html (проверено 05.09.2026)</a:t>
            </a:r>
          </a:p>
          <a:p xmlns:a="http://schemas.openxmlformats.org/drawingml/2006/main">
            <a:r>
              <a:t>- https://docs.python.org/3.14/library/dataclasses.html (проверено 05.09.2026)</a:t>
            </a:r>
          </a:p>
          <a:p xmlns:a="http://schemas.openxmlformats.org/drawingml/2006/main">
            <a:r>
              <a:t>- https://docs.python.org/3.14/library/typing.html (проверено 05.09.2026)</a:t>
            </a:r>
          </a:p>
          <a:p xmlns:a="http://schemas.openxmlformats.org/drawingml/2006/main">
            <a:r>
              <a:t>- https://docs.python.org/3.14/library/collections.abc.html (проверено 05.09.2026)</a:t>
            </a:r>
          </a:p>
          <a:p xmlns:a="http://schemas.openxmlformats.org/drawingml/2006/main">
            <a:r>
              <a:t>- https://peps.python.org/pep-3115/ (проверено 05.09.2026)</a:t>
            </a:r>
          </a:p>
          <a:p xmlns:a="http://schemas.openxmlformats.org/drawingml/2006/main">
            <a:r>
              <a:t>- https://peps.python.org/pep-0487/ (проверено 05.09.2026)</a:t>
            </a:r>
          </a:p>
          <a:p xmlns:a="http://schemas.openxmlformats.org/drawingml/2006/main">
            <a:r>
              <a:t>- https://docs.python.org/3.14/tutorial/classes.html (проверено 05.09.2026)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b52650cfde4d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7998d5f1b84114" /><Relationship Type="http://schemas.openxmlformats.org/officeDocument/2006/relationships/slideLayout" Target="/ppt/slideLayouts/slideLayout1.xml" Id="R735d1d09a82c40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5d1d09a82c40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Python — lecture">
      <a:dk1>
        <a:srgbClr val="131518"/>
      </a:dk1>
      <a:lt1>
        <a:srgbClr val="FFFFFF"/>
      </a:lt1>
      <a:dk2>
        <a:srgbClr val="535A61"/>
      </a:dk2>
      <a:lt2>
        <a:srgbClr val="F0F1F2"/>
      </a:lt2>
      <a:accent1>
        <a:srgbClr val="286DA6"/>
      </a:accent1>
      <a:accent2>
        <a:srgbClr val="6DCBF4"/>
      </a:accent2>
      <a:accent3>
        <a:srgbClr val="30343A"/>
      </a:accent3>
      <a:accent4>
        <a:srgbClr val="808890"/>
      </a:accent4>
      <a:accent5>
        <a:srgbClr val="A8ADB3"/>
      </a:accent5>
      <a:accent6>
        <a:srgbClr val="DCECF8"/>
      </a:accent6>
      <a:hlink>
        <a:srgbClr val="286DA6"/>
      </a:hlink>
      <a:folHlink>
        <a:srgbClr val="286DA6"/>
      </a:folHlink>
    </a:clrScheme>
    <a:fontScheme name="Office">
      <a:majorFont>
        <a:latin typeface="Calibri Light"/>
        <a:ea typeface="Calibri Light"/>
        <a:cs typeface="Calibri Light"/>
      </a:majorFont>
      <a:minorFont>
        <a:latin typeface="Calibri"/>
        <a:ea typeface="Calibri"/>
        <a:cs typeface="Calibri"/>
      </a:minorFont>
    </a:fontScheme>
    <a:fmtScheme name="Python — l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922831bd004583" /><Relationship Type="http://schemas.openxmlformats.org/officeDocument/2006/relationships/notesSlide" Target="/ppt/notesSlides/notesSlide1.xml" Id="R3fb36bddeb5e42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b298eb49474b5d" /><Relationship Type="http://schemas.openxmlformats.org/officeDocument/2006/relationships/notesSlide" Target="/ppt/notesSlides/notesSlide2.xml" Id="R835543ab75ab46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d6f6981e46453e" /><Relationship Type="http://schemas.openxmlformats.org/officeDocument/2006/relationships/notesSlide" Target="/ppt/notesSlides/notesSlide3.xml" Id="R0ce16ed13f0e42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f093ace9c74744" /><Relationship Type="http://schemas.openxmlformats.org/officeDocument/2006/relationships/notesSlide" Target="/ppt/notesSlides/notesSlide4.xml" Id="R22c111565a1b4e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3548ee6d094261" /><Relationship Type="http://schemas.openxmlformats.org/officeDocument/2006/relationships/notesSlide" Target="/ppt/notesSlides/notesSlide5.xml" Id="Rc14e9d223fc34c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5223ea909b4c9b" /><Relationship Type="http://schemas.openxmlformats.org/officeDocument/2006/relationships/notesSlide" Target="/ppt/notesSlides/notesSlide6.xml" Id="R06f496e0771c44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4fac4b6b214d24" /><Relationship Type="http://schemas.openxmlformats.org/officeDocument/2006/relationships/notesSlide" Target="/ppt/notesSlides/notesSlide7.xml" Id="Rd33ce315ee8243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6ad63fba4b4f7d" /><Relationship Type="http://schemas.openxmlformats.org/officeDocument/2006/relationships/notesSlide" Target="/ppt/notesSlides/notesSlide8.xml" Id="Rc7da304630f346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84b93429074791" /><Relationship Type="http://schemas.openxmlformats.org/officeDocument/2006/relationships/notesSlide" Target="/ppt/notesSlides/notesSlide9.xml" Id="R2560a1f7c9d94b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46c1acc1a04aec" /><Relationship Type="http://schemas.openxmlformats.org/officeDocument/2006/relationships/notesSlide" Target="/ppt/notesSlides/notesSlide10.xml" Id="R70608c58429146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e87e4a5f2a4473" /><Relationship Type="http://schemas.openxmlformats.org/officeDocument/2006/relationships/notesSlide" Target="/ppt/notesSlides/notesSlide11.xml" Id="R869349cc412640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a23277cea2c4631" /><Relationship Type="http://schemas.openxmlformats.org/officeDocument/2006/relationships/image" Target="/ppt/media/image.png" Id="R3bacbfb5783744d3" /><Relationship Type="http://schemas.openxmlformats.org/officeDocument/2006/relationships/notesSlide" Target="/ppt/notesSlides/notesSlide12.xml" Id="R69f803b5ac9147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3dfb7de951476b" /><Relationship Type="http://schemas.openxmlformats.org/officeDocument/2006/relationships/notesSlide" Target="/ppt/notesSlides/notesSlide13.xml" Id="Rad71826ab61140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10cab87c6e746ba" /><Relationship Type="http://schemas.openxmlformats.org/officeDocument/2006/relationships/notesSlide" Target="/ppt/notesSlides/notesSlide14.xml" Id="R150e7ebbe52e45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428b81a9c74430b" /><Relationship Type="http://schemas.openxmlformats.org/officeDocument/2006/relationships/notesSlide" Target="/ppt/notesSlides/notesSlide15.xml" Id="R1b50911770d149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51dbe1b83ba48ec" /><Relationship Type="http://schemas.openxmlformats.org/officeDocument/2006/relationships/notesSlide" Target="/ppt/notesSlides/notesSlide16.xml" Id="R956246ce93ea44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c6046f012a84900" /><Relationship Type="http://schemas.openxmlformats.org/officeDocument/2006/relationships/notesSlide" Target="/ppt/notesSlides/notesSlide17.xml" Id="R48e27706175945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23dc787cd2143a4" /><Relationship Type="http://schemas.openxmlformats.org/officeDocument/2006/relationships/notesSlide" Target="/ppt/notesSlides/notesSlide18.xml" Id="R075ba45e78cc4d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fb16eccf0ff4d76" /><Relationship Type="http://schemas.openxmlformats.org/officeDocument/2006/relationships/notesSlide" Target="/ppt/notesSlides/notesSlide19.xml" Id="Rbc7bf7bc79f943e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c505bafe32042c8" /><Relationship Type="http://schemas.openxmlformats.org/officeDocument/2006/relationships/notesSlide" Target="/ppt/notesSlides/notesSlide20.xml" Id="R31d2ad34befa4e7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0e7617a68f64565" /><Relationship Type="http://schemas.openxmlformats.org/officeDocument/2006/relationships/image" Target="/ppt/media/image2.png" Id="R053292ac2bdd4f29" /><Relationship Type="http://schemas.openxmlformats.org/officeDocument/2006/relationships/notesSlide" Target="/ppt/notesSlides/notesSlide21.xml" Id="Rb78ca5628937400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a73a6ea0711458c" /><Relationship Type="http://schemas.openxmlformats.org/officeDocument/2006/relationships/notesSlide" Target="/ppt/notesSlides/notesSlide22.xml" Id="R6008d046f4cf4b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dfd7e49d4194011" /><Relationship Type="http://schemas.openxmlformats.org/officeDocument/2006/relationships/notesSlide" Target="/ppt/notesSlides/notesSlide23.xml" Id="R3cd051b4c1da4a7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c535502407747eb" /><Relationship Type="http://schemas.openxmlformats.org/officeDocument/2006/relationships/notesSlide" Target="/ppt/notesSlides/notesSlide24.xml" Id="Rcafc511eb339496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7ad8065acea46d5" /><Relationship Type="http://schemas.openxmlformats.org/officeDocument/2006/relationships/notesSlide" Target="/ppt/notesSlides/notesSlide25.xml" Id="R10683cb11f27498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afe9eaa78ae43a2" /><Relationship Type="http://schemas.openxmlformats.org/officeDocument/2006/relationships/notesSlide" Target="/ppt/notesSlides/notesSlide26.xml" Id="R21ba40ea3ab3414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9551ae81ea24bfa" /><Relationship Type="http://schemas.openxmlformats.org/officeDocument/2006/relationships/notesSlide" Target="/ppt/notesSlides/notesSlide27.xml" Id="R3b64ec17f1214b9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8487b86c9524435" /><Relationship Type="http://schemas.openxmlformats.org/officeDocument/2006/relationships/notesSlide" Target="/ppt/notesSlides/notesSlide28.xml" Id="R920e6dcda067423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fcfebb720b64777" /><Relationship Type="http://schemas.openxmlformats.org/officeDocument/2006/relationships/notesSlide" Target="/ppt/notesSlides/notesSlide29.xml" Id="R4889ae9998f742c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d88ca09b9864b08" /><Relationship Type="http://schemas.openxmlformats.org/officeDocument/2006/relationships/notesSlide" Target="/ppt/notesSlides/notesSlide30.xml" Id="R6141ba4d2e66469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88b6a45a3f649c1" /><Relationship Type="http://schemas.openxmlformats.org/officeDocument/2006/relationships/notesSlide" Target="/ppt/notesSlides/notesSlide31.xml" Id="Reb6438dd42eb469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412517b6cad4dd3" /><Relationship Type="http://schemas.openxmlformats.org/officeDocument/2006/relationships/notesSlide" Target="/ppt/notesSlides/notesSlide32.xml" Id="Ra5b7845ce36b434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400e61582fc4e2e" /><Relationship Type="http://schemas.openxmlformats.org/officeDocument/2006/relationships/notesSlide" Target="/ppt/notesSlides/notesSlide33.xml" Id="R6b2df56b80484d9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1fc194de28b4d76" /><Relationship Type="http://schemas.openxmlformats.org/officeDocument/2006/relationships/notesSlide" Target="/ppt/notesSlides/notesSlide34.xml" Id="R949b7ea1bb72441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6a956b8ea364aa4" /><Relationship Type="http://schemas.openxmlformats.org/officeDocument/2006/relationships/notesSlide" Target="/ppt/notesSlides/notesSlide35.xml" Id="R1c7ba8a1b9a54e0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c77af3f75034c9d" /><Relationship Type="http://schemas.openxmlformats.org/officeDocument/2006/relationships/notesSlide" Target="/ppt/notesSlides/notesSlide36.xml" Id="Rd7498480f2fb4d5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b834098b9a646f4" /><Relationship Type="http://schemas.openxmlformats.org/officeDocument/2006/relationships/notesSlide" Target="/ppt/notesSlides/notesSlide37.xml" Id="Rf0a43eb535e84a2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f106f0dd10c4230" /><Relationship Type="http://schemas.openxmlformats.org/officeDocument/2006/relationships/notesSlide" Target="/ppt/notesSlides/notesSlide38.xml" Id="R4adb0aad5195498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1cb2398595b4d45" /><Relationship Type="http://schemas.openxmlformats.org/officeDocument/2006/relationships/notesSlide" Target="/ppt/notesSlides/notesSlide39.xml" Id="Rfad760fd4db24de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2e591febd0a4b74" /><Relationship Type="http://schemas.openxmlformats.org/officeDocument/2006/relationships/notesSlide" Target="/ppt/notesSlides/notesSlide40.xml" Id="R18ffb3e0f4d4416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f9e4e91f5ae4ce2" /><Relationship Type="http://schemas.openxmlformats.org/officeDocument/2006/relationships/notesSlide" Target="/ppt/notesSlides/notesSlide41.xml" Id="Ra74b4e2433a7494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d091961c74e4477" /><Relationship Type="http://schemas.openxmlformats.org/officeDocument/2006/relationships/notesSlide" Target="/ppt/notesSlides/notesSlide42.xml" Id="Rc3376d95ecb242c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a9813899e4e42bf" /><Relationship Type="http://schemas.openxmlformats.org/officeDocument/2006/relationships/notesSlide" Target="/ppt/notesSlides/notesSlide43.xml" Id="R5518b3e39fda4ab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25104b1aa2d48a0" /><Relationship Type="http://schemas.openxmlformats.org/officeDocument/2006/relationships/notesSlide" Target="/ppt/notesSlides/notesSlide44.xml" Id="Ra016a5875b184b5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2847f0e35ed4897" /><Relationship Type="http://schemas.openxmlformats.org/officeDocument/2006/relationships/hyperlink" Target="https://docs.python.org/3.14/library/stdtypes.html" TargetMode="External" Id="Rb365ecd027084224" /><Relationship Type="http://schemas.openxmlformats.org/officeDocument/2006/relationships/hyperlink" Target="https://docs.python.org/3.14/tutorial/datastructures.html" TargetMode="External" Id="Rac25b062bd4d4b5d" /><Relationship Type="http://schemas.openxmlformats.org/officeDocument/2006/relationships/hyperlink" Target="https://docs.python.org/3.14/tutorial/floatingpoint.html" TargetMode="External" Id="R40e628b679ee47bb" /><Relationship Type="http://schemas.openxmlformats.org/officeDocument/2006/relationships/hyperlink" Target="https://docs.python.org/3.14/howto/unicode.html" TargetMode="External" Id="R2eeb24a30f3f4396" /><Relationship Type="http://schemas.openxmlformats.org/officeDocument/2006/relationships/hyperlink" Target="https://docs.python.org/3.14/library/copy.html" TargetMode="External" Id="Rff95aef207fe4332" /><Relationship Type="http://schemas.openxmlformats.org/officeDocument/2006/relationships/hyperlink" Target="https://docs.python.org/3.14/library/time-complexity.html" TargetMode="External" Id="Raccba591c83b460d" /><Relationship Type="http://schemas.openxmlformats.org/officeDocument/2006/relationships/notesSlide" Target="/ppt/notesSlides/notesSlide45.xml" Id="Re6114a1a59cb418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a7a961826eb4226" /><Relationship Type="http://schemas.openxmlformats.org/officeDocument/2006/relationships/hyperlink" Target="https://docs.python.org/3.14/reference/datamodel.html" TargetMode="External" Id="R05f2f972feb341ee" /><Relationship Type="http://schemas.openxmlformats.org/officeDocument/2006/relationships/hyperlink" Target="https://docs.python.org/3.14/library/dataclasses.html" TargetMode="External" Id="Rcb5c79c01c324a4a" /><Relationship Type="http://schemas.openxmlformats.org/officeDocument/2006/relationships/hyperlink" Target="https://docs.python.org/3.14/library/typing.html" TargetMode="External" Id="R50cf38d6161148ea" /><Relationship Type="http://schemas.openxmlformats.org/officeDocument/2006/relationships/hyperlink" Target="https://peps.python.org/pep-3115/" TargetMode="External" Id="R3d37c90a097d4685" /><Relationship Type="http://schemas.openxmlformats.org/officeDocument/2006/relationships/hyperlink" Target="https://peps.python.org/pep-0487/" TargetMode="External" Id="Rf38821f1659a4746" /><Relationship Type="http://schemas.openxmlformats.org/officeDocument/2006/relationships/hyperlink" Target="https://docs.python.org/3.14/tutorial/classes.html" TargetMode="External" Id="Rac3c30735ef049da" /><Relationship Type="http://schemas.openxmlformats.org/officeDocument/2006/relationships/notesSlide" Target="/ppt/notesSlides/notesSlide46.xml" Id="R6a638f28741b40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08FDCA3E-3214-410B-91F2-ED570E951F6B}"/>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ЛЕКЦИЯ 01</a:t>
            </a:r>
          </a:p>
        </p:txBody>
      </p:sp>
      <p:sp>
        <p:nvSpPr>
          <p:cNvPr id="2" name="surface-2">
            <a:extLst xmlns:a="http://schemas.openxmlformats.org/drawingml/2006/main">
              <a:ext uri="{FF2B5EF4-FFF2-40B4-BE49-F238E27FC236}">
                <a16:creationId xmlns:a16="http://schemas.microsoft.com/office/drawing/2014/main" id="{05DE14A6-0C39-42F3-8DB7-052EA2FA238C}"/>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3" name="text-3">
            <a:extLst xmlns:a="http://schemas.openxmlformats.org/drawingml/2006/main">
              <a:ext uri="{FF2B5EF4-FFF2-40B4-BE49-F238E27FC236}">
                <a16:creationId xmlns:a16="http://schemas.microsoft.com/office/drawing/2014/main" id="{2D5DD143-487D-480A-8A74-C2BD1371B242}"/>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4" name="text-4">
            <a:extLst xmlns:a="http://schemas.openxmlformats.org/drawingml/2006/main">
              <a:ext uri="{FF2B5EF4-FFF2-40B4-BE49-F238E27FC236}">
                <a16:creationId xmlns:a16="http://schemas.microsoft.com/office/drawing/2014/main" id="{9C2177BA-0F32-4499-AB37-F7F8B2C06D30}"/>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01</a:t>
            </a:r>
          </a:p>
        </p:txBody>
      </p:sp>
      <p:sp>
        <p:nvSpPr>
          <p:cNvPr id="5" name="text-5">
            <a:extLst xmlns:a="http://schemas.openxmlformats.org/drawingml/2006/main">
              <a:ext uri="{FF2B5EF4-FFF2-40B4-BE49-F238E27FC236}">
                <a16:creationId xmlns:a16="http://schemas.microsoft.com/office/drawing/2014/main" id="{0B1BD444-BBE2-4F3D-B93D-651EA0983D6C}"/>
              </a:ext>
            </a:extLst>
          </p:cNvPr>
          <p:cNvSpPr>
            <a:spLocks xmlns:a="http://schemas.openxmlformats.org/drawingml/2006/main" noGrp="1"/>
          </p:cNvSpPr>
          <p:nvPr/>
        </p:nvSpPr>
        <p:spPr>
          <a:xfrm xmlns:a="http://schemas.openxmlformats.org/drawingml/2006/main">
            <a:off x="685800" y="10096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35A61"/>
                </a:solidFill>
                <a:latin typeface="Arial"/>
                <a:ea typeface="Arial"/>
                <a:cs typeface="Arial"/>
              </a:defRPr>
            </a:pPr>
            <a:r>
              <a:rPr sz="2400" b="0">
                <a:solidFill>
                  <a:srgbClr val="535A61"/>
                </a:solidFill>
                <a:latin typeface="Arial"/>
                <a:ea typeface="Arial"/>
                <a:cs typeface="Arial"/>
              </a:rPr>
              <a:t>ПРОГРАММИРОВАНИЕ НА PYTHON</a:t>
            </a:r>
          </a:p>
        </p:txBody>
      </p:sp>
      <p:sp>
        <p:nvSpPr>
          <p:cNvPr id="6" name="cover-title">
            <a:extLst xmlns:a="http://schemas.openxmlformats.org/drawingml/2006/main">
              <a:ext uri="{FF2B5EF4-FFF2-40B4-BE49-F238E27FC236}">
                <a16:creationId xmlns:a16="http://schemas.microsoft.com/office/drawing/2014/main" id="{AF249B61-B2D9-43BC-B55B-BF3AFDAAA90C}"/>
              </a:ext>
            </a:extLst>
          </p:cNvPr>
          <p:cNvSpPr>
            <a:spLocks xmlns:a="http://schemas.openxmlformats.org/drawingml/2006/main" noGrp="1"/>
          </p:cNvSpPr>
          <p:nvPr/>
        </p:nvSpPr>
        <p:spPr>
          <a:xfrm xmlns:a="http://schemas.openxmlformats.org/drawingml/2006/main">
            <a:off x="685800" y="2047875"/>
            <a:ext cx="108204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0" b="1">
                <a:solidFill>
                  <a:srgbClr val="131518"/>
                </a:solidFill>
                <a:latin typeface="Arial"/>
                <a:ea typeface="Arial"/>
                <a:cs typeface="Arial"/>
              </a:defRPr>
            </a:pPr>
            <a:r>
              <a:rPr sz="6750" b="1">
                <a:solidFill>
                  <a:srgbClr val="131518"/>
                </a:solidFill>
                <a:latin typeface="Arial"/>
                <a:ea typeface="Arial"/>
                <a:cs typeface="Arial"/>
              </a:rPr>
              <a:t>Типы данных</a:t>
            </a:r>
          </a:p>
          <a:p xmlns:a="http://schemas.openxmlformats.org/drawingml/2006/main">
            <a:pPr algn="l">
              <a:defRPr sz="6750" b="1">
                <a:solidFill>
                  <a:srgbClr val="131518"/>
                </a:solidFill>
                <a:latin typeface="Arial"/>
                <a:ea typeface="Arial"/>
                <a:cs typeface="Arial"/>
              </a:defRPr>
            </a:pPr>
            <a:r>
              <a:rPr sz="6750" b="1">
                <a:solidFill>
                  <a:srgbClr val="131518"/>
                </a:solidFill>
                <a:latin typeface="Arial"/>
                <a:ea typeface="Arial"/>
                <a:cs typeface="Arial"/>
              </a:rPr>
              <a:t>в Python</a:t>
            </a:r>
          </a:p>
        </p:txBody>
      </p:sp>
      <p:sp>
        <p:nvSpPr>
          <p:cNvPr id="7" name="surface-6">
            <a:extLst xmlns:a="http://schemas.openxmlformats.org/drawingml/2006/main">
              <a:ext uri="{FF2B5EF4-FFF2-40B4-BE49-F238E27FC236}">
                <a16:creationId xmlns:a16="http://schemas.microsoft.com/office/drawing/2014/main" id="{6676849E-2D92-49C9-8112-A6ADC85CD4EA}"/>
              </a:ext>
            </a:extLst>
          </p:cNvPr>
          <p:cNvSpPr>
            <a:spLocks xmlns:a="http://schemas.openxmlformats.org/drawingml/2006/main" noGrp="1"/>
          </p:cNvSpPr>
          <p:nvPr/>
        </p:nvSpPr>
        <p:spPr>
          <a:xfrm xmlns:a="http://schemas.openxmlformats.org/drawingml/2006/main">
            <a:off x="685800" y="4457700"/>
            <a:ext cx="1352550" cy="9525"/>
          </a:xfrm>
          <a:prstGeom xmlns:a="http://schemas.openxmlformats.org/drawingml/2006/main" prst="rect">
            <a:avLst/>
          </a:prstGeom>
          <a:solidFill xmlns:a="http://schemas.openxmlformats.org/drawingml/2006/main">
            <a:srgbClr val="286DA6"/>
          </a:solidFill>
          <a:ln xmlns:a="http://schemas.openxmlformats.org/drawingml/2006/main" w="0">
            <a:noFill/>
            <a:prstDash val="solid"/>
          </a:ln>
        </p:spPr>
      </p:sp>
      <p:sp>
        <p:nvSpPr>
          <p:cNvPr id="8" name="text-7">
            <a:extLst xmlns:a="http://schemas.openxmlformats.org/drawingml/2006/main">
              <a:ext uri="{FF2B5EF4-FFF2-40B4-BE49-F238E27FC236}">
                <a16:creationId xmlns:a16="http://schemas.microsoft.com/office/drawing/2014/main" id="{301A550C-E94C-429E-B511-B2AE3E68EC3F}"/>
              </a:ext>
            </a:extLst>
          </p:cNvPr>
          <p:cNvSpPr>
            <a:spLocks xmlns:a="http://schemas.openxmlformats.org/drawingml/2006/main" noGrp="1"/>
          </p:cNvSpPr>
          <p:nvPr/>
        </p:nvSpPr>
        <p:spPr>
          <a:xfrm xmlns:a="http://schemas.openxmlformats.org/drawingml/2006/main">
            <a:off x="685800" y="481012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535A61"/>
                </a:solidFill>
                <a:latin typeface="Arial"/>
                <a:ea typeface="Arial"/>
                <a:cs typeface="Arial"/>
              </a:defRPr>
            </a:pPr>
            <a:r>
              <a:rPr sz="2550" b="0">
                <a:solidFill>
                  <a:srgbClr val="535A61"/>
                </a:solidFill>
                <a:latin typeface="Arial"/>
                <a:ea typeface="Arial"/>
                <a:cs typeface="Arial"/>
              </a:rPr>
              <a:t>Объекты, коллекции и устройство классов</a:t>
            </a:r>
          </a:p>
        </p:txBody>
      </p:sp>
    </p:spTree>
    <p:extLst>
      <p:ext uri="{BB962C8B-B14F-4D97-AF65-F5344CB8AC3E}">
        <p14:creationId xmlns:p14="http://schemas.microsoft.com/office/powerpoint/2010/main" val="11521230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8">
            <a:extLst xmlns:a="http://schemas.openxmlformats.org/drawingml/2006/main">
              <a:ext uri="{FF2B5EF4-FFF2-40B4-BE49-F238E27FC236}">
                <a16:creationId xmlns:a16="http://schemas.microsoft.com/office/drawing/2014/main" id="{A6864D28-99C0-4DEE-8D02-6767E875A7E1}"/>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СНАЧАЛА — ПРОГНОЗ</a:t>
            </a:r>
          </a:p>
        </p:txBody>
      </p:sp>
      <p:sp>
        <p:nvSpPr>
          <p:cNvPr id="2" name="title-2">
            <a:extLst xmlns:a="http://schemas.openxmlformats.org/drawingml/2006/main">
              <a:ext uri="{FF2B5EF4-FFF2-40B4-BE49-F238E27FC236}">
                <a16:creationId xmlns:a16="http://schemas.microsoft.com/office/drawing/2014/main" id="{C5D16397-F2C5-4F35-8139-CA458E958413}"/>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Что напечатает этот код?</a:t>
            </a:r>
          </a:p>
        </p:txBody>
      </p:sp>
      <p:sp>
        <p:nvSpPr>
          <p:cNvPr id="3" name="text-9">
            <a:extLst xmlns:a="http://schemas.openxmlformats.org/drawingml/2006/main">
              <a:ext uri="{FF2B5EF4-FFF2-40B4-BE49-F238E27FC236}">
                <a16:creationId xmlns:a16="http://schemas.microsoft.com/office/drawing/2014/main" id="{308222BA-0E30-4978-9A47-AD0DF64721FD}"/>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Попробуйте объяснить оба результата, не запуская программу.</a:t>
            </a:r>
          </a:p>
        </p:txBody>
      </p:sp>
      <p:sp>
        <p:nvSpPr>
          <p:cNvPr id="4" name="surface-10">
            <a:extLst xmlns:a="http://schemas.openxmlformats.org/drawingml/2006/main">
              <a:ext uri="{FF2B5EF4-FFF2-40B4-BE49-F238E27FC236}">
                <a16:creationId xmlns:a16="http://schemas.microsoft.com/office/drawing/2014/main" id="{2167EC56-F415-47AC-A697-4471941879C1}"/>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11">
            <a:extLst xmlns:a="http://schemas.openxmlformats.org/drawingml/2006/main">
              <a:ext uri="{FF2B5EF4-FFF2-40B4-BE49-F238E27FC236}">
                <a16:creationId xmlns:a16="http://schemas.microsoft.com/office/drawing/2014/main" id="{87C76367-E95E-4DEE-BD5F-FCEDBA2002A8}"/>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12">
            <a:extLst xmlns:a="http://schemas.openxmlformats.org/drawingml/2006/main">
              <a:ext uri="{FF2B5EF4-FFF2-40B4-BE49-F238E27FC236}">
                <a16:creationId xmlns:a16="http://schemas.microsoft.com/office/drawing/2014/main" id="{799AD187-ED82-4B70-9350-408C75A13955}"/>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02</a:t>
            </a:r>
          </a:p>
        </p:txBody>
      </p:sp>
      <p:sp>
        <p:nvSpPr>
          <p:cNvPr id="7" name="surface-13">
            <a:extLst xmlns:a="http://schemas.openxmlformats.org/drawingml/2006/main">
              <a:ext uri="{FF2B5EF4-FFF2-40B4-BE49-F238E27FC236}">
                <a16:creationId xmlns:a16="http://schemas.microsoft.com/office/drawing/2014/main" id="{00B70B6D-C400-44AA-A953-1DF086DF9201}"/>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2-14">
            <a:extLst xmlns:a="http://schemas.openxmlformats.org/drawingml/2006/main">
              <a:ext uri="{FF2B5EF4-FFF2-40B4-BE49-F238E27FC236}">
                <a16:creationId xmlns:a16="http://schemas.microsoft.com/office/drawing/2014/main" id="{AAB55E82-B43E-435C-8484-4A806BD6614F}"/>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 [10, 20]</a:t>
            </a:r>
          </a:p>
        </p:txBody>
      </p:sp>
      <p:sp>
        <p:nvSpPr>
          <p:cNvPr id="9" name="code-2-15">
            <a:extLst xmlns:a="http://schemas.openxmlformats.org/drawingml/2006/main">
              <a:ext uri="{FF2B5EF4-FFF2-40B4-BE49-F238E27FC236}">
                <a16:creationId xmlns:a16="http://schemas.microsoft.com/office/drawing/2014/main" id="{23D5CE80-0B08-4649-9943-032892E165D0}"/>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b = a</a:t>
            </a:r>
          </a:p>
        </p:txBody>
      </p:sp>
      <p:sp>
        <p:nvSpPr>
          <p:cNvPr id="10" name="code-2-16">
            <a:extLst xmlns:a="http://schemas.openxmlformats.org/drawingml/2006/main">
              <a:ext uri="{FF2B5EF4-FFF2-40B4-BE49-F238E27FC236}">
                <a16:creationId xmlns:a16="http://schemas.microsoft.com/office/drawing/2014/main" id="{9620F37C-BBBC-4E6A-A677-D0F2C8BFFD35}"/>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b.append(30)</a:t>
            </a:r>
          </a:p>
        </p:txBody>
      </p:sp>
      <p:sp>
        <p:nvSpPr>
          <p:cNvPr id="11" name="code-2-17">
            <a:extLst xmlns:a="http://schemas.openxmlformats.org/drawingml/2006/main">
              <a:ext uri="{FF2B5EF4-FFF2-40B4-BE49-F238E27FC236}">
                <a16:creationId xmlns:a16="http://schemas.microsoft.com/office/drawing/2014/main" id="{EAE83524-E264-4DCB-8802-33514A72AE8D}"/>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print(a)</a:t>
            </a:r>
          </a:p>
        </p:txBody>
      </p:sp>
      <p:sp>
        <p:nvSpPr>
          <p:cNvPr id="12" name="code-2-18">
            <a:extLst xmlns:a="http://schemas.openxmlformats.org/drawingml/2006/main">
              <a:ext uri="{FF2B5EF4-FFF2-40B4-BE49-F238E27FC236}">
                <a16:creationId xmlns:a16="http://schemas.microsoft.com/office/drawing/2014/main" id="{AABEE566-0A22-45F6-AA90-963CA1A2B433}"/>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3" name="code-2-19">
            <a:extLst xmlns:a="http://schemas.openxmlformats.org/drawingml/2006/main">
              <a:ext uri="{FF2B5EF4-FFF2-40B4-BE49-F238E27FC236}">
                <a16:creationId xmlns:a16="http://schemas.microsoft.com/office/drawing/2014/main" id="{51ACE487-DDFB-4D66-8BBE-A6D2EF9F7F59}"/>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d = {</a:t>
            </a:r>
            <a:r>
              <a:rPr sz="1988" b="1">
                <a:solidFill>
                  <a:srgbClr val="286DA6"/>
                </a:solidFill>
                <a:latin typeface="Courier New"/>
                <a:ea typeface="Courier New"/>
                <a:cs typeface="Courier New"/>
              </a:rPr>
              <a:t>True</a:t>
            </a:r>
            <a:r>
              <a:rPr sz="1988" b="0">
                <a:solidFill>
                  <a:srgbClr val="131518"/>
                </a:solidFill>
                <a:latin typeface="Courier New"/>
                <a:ea typeface="Courier New"/>
                <a:cs typeface="Courier New"/>
              </a:rPr>
              <a:t>: "A", 1: "B", 1.0: "C"}</a:t>
            </a:r>
          </a:p>
        </p:txBody>
      </p:sp>
      <p:sp>
        <p:nvSpPr>
          <p:cNvPr id="14" name="code-2-20">
            <a:extLst xmlns:a="http://schemas.openxmlformats.org/drawingml/2006/main">
              <a:ext uri="{FF2B5EF4-FFF2-40B4-BE49-F238E27FC236}">
                <a16:creationId xmlns:a16="http://schemas.microsoft.com/office/drawing/2014/main" id="{9EC2AFA7-C9B5-441F-91D7-7333B4070AE0}"/>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print(len(d))</a:t>
            </a:r>
          </a:p>
        </p:txBody>
      </p:sp>
      <p:sp>
        <p:nvSpPr>
          <p:cNvPr id="15" name="text-21">
            <a:extLst xmlns:a="http://schemas.openxmlformats.org/drawingml/2006/main">
              <a:ext uri="{FF2B5EF4-FFF2-40B4-BE49-F238E27FC236}">
                <a16:creationId xmlns:a16="http://schemas.microsoft.com/office/drawing/2014/main" id="{A81555DA-4714-4269-B546-2A8E00C2CEC9}"/>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Первый вопрос</a:t>
            </a:r>
          </a:p>
        </p:txBody>
      </p:sp>
      <p:sp>
        <p:nvSpPr>
          <p:cNvPr id="16" name="text-22">
            <a:extLst xmlns:a="http://schemas.openxmlformats.org/drawingml/2006/main">
              <a:ext uri="{FF2B5EF4-FFF2-40B4-BE49-F238E27FC236}">
                <a16:creationId xmlns:a16="http://schemas.microsoft.com/office/drawing/2014/main" id="{43CC0124-C767-4CEF-9E6B-B81E7BA81201}"/>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Сколько списков создано?</a:t>
            </a:r>
          </a:p>
        </p:txBody>
      </p:sp>
      <p:sp>
        <p:nvSpPr>
          <p:cNvPr id="17" name="text-23">
            <a:extLst xmlns:a="http://schemas.openxmlformats.org/drawingml/2006/main">
              <a:ext uri="{FF2B5EF4-FFF2-40B4-BE49-F238E27FC236}">
                <a16:creationId xmlns:a16="http://schemas.microsoft.com/office/drawing/2014/main" id="{6741936F-3316-4301-85F9-E2739FC271F4}"/>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Второй вопрос</a:t>
            </a:r>
          </a:p>
        </p:txBody>
      </p:sp>
      <p:sp>
        <p:nvSpPr>
          <p:cNvPr id="18" name="text-24">
            <a:extLst xmlns:a="http://schemas.openxmlformats.org/drawingml/2006/main">
              <a:ext uri="{FF2B5EF4-FFF2-40B4-BE49-F238E27FC236}">
                <a16:creationId xmlns:a16="http://schemas.microsoft.com/office/drawing/2014/main" id="{6511A934-5AA8-49AE-8697-6B86EBEDB0BE}"/>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Сколько разных ключей</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видит словарь?</a:t>
            </a:r>
          </a:p>
        </p:txBody>
      </p:sp>
      <p:sp>
        <p:nvSpPr>
          <p:cNvPr id="19" name="takeaway-2">
            <a:extLst xmlns:a="http://schemas.openxmlformats.org/drawingml/2006/main">
              <a:ext uri="{FF2B5EF4-FFF2-40B4-BE49-F238E27FC236}">
                <a16:creationId xmlns:a16="http://schemas.microsoft.com/office/drawing/2014/main" id="{047B9550-59F4-4444-B8F1-70011AA0A2A8}"/>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К этим двум примерам вернёмся в конце лекции.</a:t>
            </a:r>
          </a:p>
        </p:txBody>
      </p:sp>
    </p:spTree>
    <p:extLst>
      <p:ext uri="{BB962C8B-B14F-4D97-AF65-F5344CB8AC3E}">
        <p14:creationId xmlns:p14="http://schemas.microsoft.com/office/powerpoint/2010/main" val="3547467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25">
            <a:extLst xmlns:a="http://schemas.openxmlformats.org/drawingml/2006/main">
              <a:ext uri="{FF2B5EF4-FFF2-40B4-BE49-F238E27FC236}">
                <a16:creationId xmlns:a16="http://schemas.microsoft.com/office/drawing/2014/main" id="{AD0E515A-026B-4F27-AD30-F2E1F579BB72}"/>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О ЧЁМ ДОГОВОРИМСЯ</a:t>
            </a:r>
          </a:p>
        </p:txBody>
      </p:sp>
      <p:sp>
        <p:nvSpPr>
          <p:cNvPr id="2" name="title-3">
            <a:extLst xmlns:a="http://schemas.openxmlformats.org/drawingml/2006/main">
              <a:ext uri="{FF2B5EF4-FFF2-40B4-BE49-F238E27FC236}">
                <a16:creationId xmlns:a16="http://schemas.microsoft.com/office/drawing/2014/main" id="{BB73280A-44B1-4DF2-BA4A-9B173DF9D6E5}"/>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Четыре вопроса к любому типу</a:t>
            </a:r>
          </a:p>
        </p:txBody>
      </p:sp>
      <p:sp>
        <p:nvSpPr>
          <p:cNvPr id="3" name="surface-26">
            <a:extLst xmlns:a="http://schemas.openxmlformats.org/drawingml/2006/main">
              <a:ext uri="{FF2B5EF4-FFF2-40B4-BE49-F238E27FC236}">
                <a16:creationId xmlns:a16="http://schemas.microsoft.com/office/drawing/2014/main" id="{B8762CB2-4116-411A-8C8B-8DD8D44DCB92}"/>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4" name="text-27">
            <a:extLst xmlns:a="http://schemas.openxmlformats.org/drawingml/2006/main">
              <a:ext uri="{FF2B5EF4-FFF2-40B4-BE49-F238E27FC236}">
                <a16:creationId xmlns:a16="http://schemas.microsoft.com/office/drawing/2014/main" id="{14F48A3C-5FA5-47A3-9659-B139D8D9BB40}"/>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5" name="text-28">
            <a:extLst xmlns:a="http://schemas.openxmlformats.org/drawingml/2006/main">
              <a:ext uri="{FF2B5EF4-FFF2-40B4-BE49-F238E27FC236}">
                <a16:creationId xmlns:a16="http://schemas.microsoft.com/office/drawing/2014/main" id="{81B718A5-1B73-4352-8B15-B9C58F67B2B1}"/>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03</a:t>
            </a:r>
          </a:p>
        </p:txBody>
      </p:sp>
      <p:sp>
        <p:nvSpPr>
          <p:cNvPr id="6" name="text-29">
            <a:extLst xmlns:a="http://schemas.openxmlformats.org/drawingml/2006/main">
              <a:ext uri="{FF2B5EF4-FFF2-40B4-BE49-F238E27FC236}">
                <a16:creationId xmlns:a16="http://schemas.microsoft.com/office/drawing/2014/main" id="{591B2BF5-92AC-404C-A685-8F94D896C5D0}"/>
              </a:ext>
            </a:extLst>
          </p:cNvPr>
          <p:cNvSpPr>
            <a:spLocks xmlns:a="http://schemas.openxmlformats.org/drawingml/2006/main" noGrp="1"/>
          </p:cNvSpPr>
          <p:nvPr/>
        </p:nvSpPr>
        <p:spPr>
          <a:xfrm xmlns:a="http://schemas.openxmlformats.org/drawingml/2006/main">
            <a:off x="685800" y="2124075"/>
            <a:ext cx="80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286DA6"/>
                </a:solidFill>
                <a:latin typeface="Arial"/>
                <a:ea typeface="Arial"/>
                <a:cs typeface="Arial"/>
              </a:defRPr>
            </a:pPr>
            <a:r>
              <a:rPr sz="3300" b="0">
                <a:solidFill>
                  <a:srgbClr val="286DA6"/>
                </a:solidFill>
                <a:latin typeface="Arial"/>
                <a:ea typeface="Arial"/>
                <a:cs typeface="Arial"/>
              </a:rPr>
              <a:t>01</a:t>
            </a:r>
          </a:p>
        </p:txBody>
      </p:sp>
      <p:sp>
        <p:nvSpPr>
          <p:cNvPr id="7" name="text-30">
            <a:extLst xmlns:a="http://schemas.openxmlformats.org/drawingml/2006/main">
              <a:ext uri="{FF2B5EF4-FFF2-40B4-BE49-F238E27FC236}">
                <a16:creationId xmlns:a16="http://schemas.microsoft.com/office/drawing/2014/main" id="{9FBF2127-72DD-40E5-BEC5-C00D3F4F7B6B}"/>
              </a:ext>
            </a:extLst>
          </p:cNvPr>
          <p:cNvSpPr>
            <a:spLocks xmlns:a="http://schemas.openxmlformats.org/drawingml/2006/main" noGrp="1"/>
          </p:cNvSpPr>
          <p:nvPr/>
        </p:nvSpPr>
        <p:spPr>
          <a:xfrm xmlns:a="http://schemas.openxmlformats.org/drawingml/2006/main">
            <a:off x="1724025" y="2124075"/>
            <a:ext cx="4038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Что хранится?</a:t>
            </a:r>
          </a:p>
        </p:txBody>
      </p:sp>
      <p:sp>
        <p:nvSpPr>
          <p:cNvPr id="8" name="text-31">
            <a:extLst xmlns:a="http://schemas.openxmlformats.org/drawingml/2006/main">
              <a:ext uri="{FF2B5EF4-FFF2-40B4-BE49-F238E27FC236}">
                <a16:creationId xmlns:a16="http://schemas.microsoft.com/office/drawing/2014/main" id="{70A55E4D-500F-4A85-8FCE-56B17E716FD4}"/>
              </a:ext>
            </a:extLst>
          </p:cNvPr>
          <p:cNvSpPr>
            <a:spLocks xmlns:a="http://schemas.openxmlformats.org/drawingml/2006/main" noGrp="1"/>
          </p:cNvSpPr>
          <p:nvPr/>
        </p:nvSpPr>
        <p:spPr>
          <a:xfrm xmlns:a="http://schemas.openxmlformats.org/drawingml/2006/main">
            <a:off x="5781675" y="2143125"/>
            <a:ext cx="57245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5A61"/>
                </a:solidFill>
                <a:latin typeface="Arial"/>
                <a:ea typeface="Arial"/>
                <a:cs typeface="Arial"/>
              </a:defRPr>
            </a:pPr>
            <a:r>
              <a:rPr sz="2100" b="0">
                <a:solidFill>
                  <a:srgbClr val="535A61"/>
                </a:solidFill>
                <a:latin typeface="Arial"/>
                <a:ea typeface="Arial"/>
                <a:cs typeface="Arial"/>
              </a:rPr>
              <a:t>Значение, идентичность и допустимые операции.</a:t>
            </a:r>
          </a:p>
        </p:txBody>
      </p:sp>
      <p:sp>
        <p:nvSpPr>
          <p:cNvPr id="9" name="surface-32">
            <a:extLst xmlns:a="http://schemas.openxmlformats.org/drawingml/2006/main">
              <a:ext uri="{FF2B5EF4-FFF2-40B4-BE49-F238E27FC236}">
                <a16:creationId xmlns:a16="http://schemas.microsoft.com/office/drawing/2014/main" id="{9EED4F27-552B-4969-9B48-EFED6C7E9276}"/>
              </a:ext>
            </a:extLst>
          </p:cNvPr>
          <p:cNvSpPr>
            <a:spLocks xmlns:a="http://schemas.openxmlformats.org/drawingml/2006/main" noGrp="1"/>
          </p:cNvSpPr>
          <p:nvPr/>
        </p:nvSpPr>
        <p:spPr>
          <a:xfrm xmlns:a="http://schemas.openxmlformats.org/drawingml/2006/main">
            <a:off x="1724025" y="2886075"/>
            <a:ext cx="9782175"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0" name="text-33">
            <a:extLst xmlns:a="http://schemas.openxmlformats.org/drawingml/2006/main">
              <a:ext uri="{FF2B5EF4-FFF2-40B4-BE49-F238E27FC236}">
                <a16:creationId xmlns:a16="http://schemas.microsoft.com/office/drawing/2014/main" id="{07B2756B-2987-43D5-B316-C37DAE4B6E3B}"/>
              </a:ext>
            </a:extLst>
          </p:cNvPr>
          <p:cNvSpPr>
            <a:spLocks xmlns:a="http://schemas.openxmlformats.org/drawingml/2006/main" noGrp="1"/>
          </p:cNvSpPr>
          <p:nvPr/>
        </p:nvSpPr>
        <p:spPr>
          <a:xfrm xmlns:a="http://schemas.openxmlformats.org/drawingml/2006/main">
            <a:off x="685800" y="3076575"/>
            <a:ext cx="80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286DA6"/>
                </a:solidFill>
                <a:latin typeface="Arial"/>
                <a:ea typeface="Arial"/>
                <a:cs typeface="Arial"/>
              </a:defRPr>
            </a:pPr>
            <a:r>
              <a:rPr sz="3300" b="0">
                <a:solidFill>
                  <a:srgbClr val="286DA6"/>
                </a:solidFill>
                <a:latin typeface="Arial"/>
                <a:ea typeface="Arial"/>
                <a:cs typeface="Arial"/>
              </a:rPr>
              <a:t>02</a:t>
            </a:r>
          </a:p>
        </p:txBody>
      </p:sp>
      <p:sp>
        <p:nvSpPr>
          <p:cNvPr id="11" name="text-34">
            <a:extLst xmlns:a="http://schemas.openxmlformats.org/drawingml/2006/main">
              <a:ext uri="{FF2B5EF4-FFF2-40B4-BE49-F238E27FC236}">
                <a16:creationId xmlns:a16="http://schemas.microsoft.com/office/drawing/2014/main" id="{D2195203-08AF-4798-99BC-1866A77CC20F}"/>
              </a:ext>
            </a:extLst>
          </p:cNvPr>
          <p:cNvSpPr>
            <a:spLocks xmlns:a="http://schemas.openxmlformats.org/drawingml/2006/main" noGrp="1"/>
          </p:cNvSpPr>
          <p:nvPr/>
        </p:nvSpPr>
        <p:spPr>
          <a:xfrm xmlns:a="http://schemas.openxmlformats.org/drawingml/2006/main">
            <a:off x="1724025" y="3076575"/>
            <a:ext cx="4038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Что может измениться?</a:t>
            </a:r>
          </a:p>
        </p:txBody>
      </p:sp>
      <p:sp>
        <p:nvSpPr>
          <p:cNvPr id="12" name="text-35">
            <a:extLst xmlns:a="http://schemas.openxmlformats.org/drawingml/2006/main">
              <a:ext uri="{FF2B5EF4-FFF2-40B4-BE49-F238E27FC236}">
                <a16:creationId xmlns:a16="http://schemas.microsoft.com/office/drawing/2014/main" id="{88E1DAD8-AA13-4482-8F86-4B9A2ACFE9CA}"/>
              </a:ext>
            </a:extLst>
          </p:cNvPr>
          <p:cNvSpPr>
            <a:spLocks xmlns:a="http://schemas.openxmlformats.org/drawingml/2006/main" noGrp="1"/>
          </p:cNvSpPr>
          <p:nvPr/>
        </p:nvSpPr>
        <p:spPr>
          <a:xfrm xmlns:a="http://schemas.openxmlformats.org/drawingml/2006/main">
            <a:off x="5781675" y="3095625"/>
            <a:ext cx="57245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5A61"/>
                </a:solidFill>
                <a:latin typeface="Arial"/>
                <a:ea typeface="Arial"/>
                <a:cs typeface="Arial"/>
              </a:defRPr>
            </a:pPr>
            <a:r>
              <a:rPr sz="2100" b="0">
                <a:solidFill>
                  <a:srgbClr val="535A61"/>
                </a:solidFill>
                <a:latin typeface="Arial"/>
                <a:ea typeface="Arial"/>
                <a:cs typeface="Arial"/>
              </a:rPr>
              <a:t>Сам объект, его элементы или только привязка имени.</a:t>
            </a:r>
          </a:p>
        </p:txBody>
      </p:sp>
      <p:sp>
        <p:nvSpPr>
          <p:cNvPr id="13" name="surface-36">
            <a:extLst xmlns:a="http://schemas.openxmlformats.org/drawingml/2006/main">
              <a:ext uri="{FF2B5EF4-FFF2-40B4-BE49-F238E27FC236}">
                <a16:creationId xmlns:a16="http://schemas.microsoft.com/office/drawing/2014/main" id="{117C133C-DA6A-46B8-B364-0A4E953FB56A}"/>
              </a:ext>
            </a:extLst>
          </p:cNvPr>
          <p:cNvSpPr>
            <a:spLocks xmlns:a="http://schemas.openxmlformats.org/drawingml/2006/main" noGrp="1"/>
          </p:cNvSpPr>
          <p:nvPr/>
        </p:nvSpPr>
        <p:spPr>
          <a:xfrm xmlns:a="http://schemas.openxmlformats.org/drawingml/2006/main">
            <a:off x="1724025" y="3838575"/>
            <a:ext cx="9782175"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4" name="text-37">
            <a:extLst xmlns:a="http://schemas.openxmlformats.org/drawingml/2006/main">
              <a:ext uri="{FF2B5EF4-FFF2-40B4-BE49-F238E27FC236}">
                <a16:creationId xmlns:a16="http://schemas.microsoft.com/office/drawing/2014/main" id="{3BF3D2FC-85BF-43B6-A62D-6161836C8B27}"/>
              </a:ext>
            </a:extLst>
          </p:cNvPr>
          <p:cNvSpPr>
            <a:spLocks xmlns:a="http://schemas.openxmlformats.org/drawingml/2006/main" noGrp="1"/>
          </p:cNvSpPr>
          <p:nvPr/>
        </p:nvSpPr>
        <p:spPr>
          <a:xfrm xmlns:a="http://schemas.openxmlformats.org/drawingml/2006/main">
            <a:off x="685800" y="4029075"/>
            <a:ext cx="80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286DA6"/>
                </a:solidFill>
                <a:latin typeface="Arial"/>
                <a:ea typeface="Arial"/>
                <a:cs typeface="Arial"/>
              </a:defRPr>
            </a:pPr>
            <a:r>
              <a:rPr sz="3300" b="0">
                <a:solidFill>
                  <a:srgbClr val="286DA6"/>
                </a:solidFill>
                <a:latin typeface="Arial"/>
                <a:ea typeface="Arial"/>
                <a:cs typeface="Arial"/>
              </a:rPr>
              <a:t>03</a:t>
            </a:r>
          </a:p>
        </p:txBody>
      </p:sp>
      <p:sp>
        <p:nvSpPr>
          <p:cNvPr id="15" name="text-38">
            <a:extLst xmlns:a="http://schemas.openxmlformats.org/drawingml/2006/main">
              <a:ext uri="{FF2B5EF4-FFF2-40B4-BE49-F238E27FC236}">
                <a16:creationId xmlns:a16="http://schemas.microsoft.com/office/drawing/2014/main" id="{A33CB6D5-EB53-4B2D-81EA-8C7C41963D72}"/>
              </a:ext>
            </a:extLst>
          </p:cNvPr>
          <p:cNvSpPr>
            <a:spLocks xmlns:a="http://schemas.openxmlformats.org/drawingml/2006/main" noGrp="1"/>
          </p:cNvSpPr>
          <p:nvPr/>
        </p:nvSpPr>
        <p:spPr>
          <a:xfrm xmlns:a="http://schemas.openxmlformats.org/drawingml/2006/main">
            <a:off x="1724025" y="4029075"/>
            <a:ext cx="4038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Как читать данные?</a:t>
            </a:r>
          </a:p>
        </p:txBody>
      </p:sp>
      <p:sp>
        <p:nvSpPr>
          <p:cNvPr id="16" name="text-39">
            <a:extLst xmlns:a="http://schemas.openxmlformats.org/drawingml/2006/main">
              <a:ext uri="{FF2B5EF4-FFF2-40B4-BE49-F238E27FC236}">
                <a16:creationId xmlns:a16="http://schemas.microsoft.com/office/drawing/2014/main" id="{7FE0716C-D18B-4B2B-AF99-6B085C0906E6}"/>
              </a:ext>
            </a:extLst>
          </p:cNvPr>
          <p:cNvSpPr>
            <a:spLocks xmlns:a="http://schemas.openxmlformats.org/drawingml/2006/main" noGrp="1"/>
          </p:cNvSpPr>
          <p:nvPr/>
        </p:nvSpPr>
        <p:spPr>
          <a:xfrm xmlns:a="http://schemas.openxmlformats.org/drawingml/2006/main">
            <a:off x="5781675" y="4048125"/>
            <a:ext cx="57245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5A61"/>
                </a:solidFill>
                <a:latin typeface="Arial"/>
                <a:ea typeface="Arial"/>
                <a:cs typeface="Arial"/>
              </a:defRPr>
            </a:pPr>
            <a:r>
              <a:rPr sz="2100" b="0">
                <a:solidFill>
                  <a:srgbClr val="535A61"/>
                </a:solidFill>
                <a:latin typeface="Arial"/>
                <a:ea typeface="Arial"/>
                <a:cs typeface="Arial"/>
              </a:rPr>
              <a:t>Индекс, ключ, проверка принадлежности, последовательный обход.</a:t>
            </a:r>
          </a:p>
        </p:txBody>
      </p:sp>
      <p:sp>
        <p:nvSpPr>
          <p:cNvPr id="17" name="surface-40">
            <a:extLst xmlns:a="http://schemas.openxmlformats.org/drawingml/2006/main">
              <a:ext uri="{FF2B5EF4-FFF2-40B4-BE49-F238E27FC236}">
                <a16:creationId xmlns:a16="http://schemas.microsoft.com/office/drawing/2014/main" id="{0D05254C-8215-4EBB-80BE-06271B7A054F}"/>
              </a:ext>
            </a:extLst>
          </p:cNvPr>
          <p:cNvSpPr>
            <a:spLocks xmlns:a="http://schemas.openxmlformats.org/drawingml/2006/main" noGrp="1"/>
          </p:cNvSpPr>
          <p:nvPr/>
        </p:nvSpPr>
        <p:spPr>
          <a:xfrm xmlns:a="http://schemas.openxmlformats.org/drawingml/2006/main">
            <a:off x="1724025" y="4791075"/>
            <a:ext cx="9782175"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8" name="text-41">
            <a:extLst xmlns:a="http://schemas.openxmlformats.org/drawingml/2006/main">
              <a:ext uri="{FF2B5EF4-FFF2-40B4-BE49-F238E27FC236}">
                <a16:creationId xmlns:a16="http://schemas.microsoft.com/office/drawing/2014/main" id="{668F7E3D-194C-4635-BE09-3855E3B70B84}"/>
              </a:ext>
            </a:extLst>
          </p:cNvPr>
          <p:cNvSpPr>
            <a:spLocks xmlns:a="http://schemas.openxmlformats.org/drawingml/2006/main" noGrp="1"/>
          </p:cNvSpPr>
          <p:nvPr/>
        </p:nvSpPr>
        <p:spPr>
          <a:xfrm xmlns:a="http://schemas.openxmlformats.org/drawingml/2006/main">
            <a:off x="685800" y="4981575"/>
            <a:ext cx="80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286DA6"/>
                </a:solidFill>
                <a:latin typeface="Arial"/>
                <a:ea typeface="Arial"/>
                <a:cs typeface="Arial"/>
              </a:defRPr>
            </a:pPr>
            <a:r>
              <a:rPr sz="3300" b="0">
                <a:solidFill>
                  <a:srgbClr val="286DA6"/>
                </a:solidFill>
                <a:latin typeface="Arial"/>
                <a:ea typeface="Arial"/>
                <a:cs typeface="Arial"/>
              </a:rPr>
              <a:t>04</a:t>
            </a:r>
          </a:p>
        </p:txBody>
      </p:sp>
      <p:sp>
        <p:nvSpPr>
          <p:cNvPr id="19" name="text-42">
            <a:extLst xmlns:a="http://schemas.openxmlformats.org/drawingml/2006/main">
              <a:ext uri="{FF2B5EF4-FFF2-40B4-BE49-F238E27FC236}">
                <a16:creationId xmlns:a16="http://schemas.microsoft.com/office/drawing/2014/main" id="{5EB36A34-15B7-4623-B4A1-512D930D3272}"/>
              </a:ext>
            </a:extLst>
          </p:cNvPr>
          <p:cNvSpPr>
            <a:spLocks xmlns:a="http://schemas.openxmlformats.org/drawingml/2006/main" noGrp="1"/>
          </p:cNvSpPr>
          <p:nvPr/>
        </p:nvSpPr>
        <p:spPr>
          <a:xfrm xmlns:a="http://schemas.openxmlformats.org/drawingml/2006/main">
            <a:off x="1724025" y="4981575"/>
            <a:ext cx="4038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Как описать свой тип?</a:t>
            </a:r>
          </a:p>
        </p:txBody>
      </p:sp>
      <p:sp>
        <p:nvSpPr>
          <p:cNvPr id="20" name="text-43">
            <a:extLst xmlns:a="http://schemas.openxmlformats.org/drawingml/2006/main">
              <a:ext uri="{FF2B5EF4-FFF2-40B4-BE49-F238E27FC236}">
                <a16:creationId xmlns:a16="http://schemas.microsoft.com/office/drawing/2014/main" id="{209E032F-24FE-4F41-89D0-8EA3C8AAAA39}"/>
              </a:ext>
            </a:extLst>
          </p:cNvPr>
          <p:cNvSpPr>
            <a:spLocks xmlns:a="http://schemas.openxmlformats.org/drawingml/2006/main" noGrp="1"/>
          </p:cNvSpPr>
          <p:nvPr/>
        </p:nvSpPr>
        <p:spPr>
          <a:xfrm xmlns:a="http://schemas.openxmlformats.org/drawingml/2006/main">
            <a:off x="5781675" y="5000625"/>
            <a:ext cx="57245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5A61"/>
                </a:solidFill>
                <a:latin typeface="Arial"/>
                <a:ea typeface="Arial"/>
                <a:cs typeface="Arial"/>
              </a:defRPr>
            </a:pPr>
            <a:r>
              <a:rPr sz="2100" b="0">
                <a:solidFill>
                  <a:srgbClr val="535A61"/>
                </a:solidFill>
                <a:latin typeface="Arial"/>
                <a:ea typeface="Arial"/>
                <a:cs typeface="Arial"/>
              </a:rPr>
              <a:t>Класс, протокол, аннотация и метакласс.</a:t>
            </a:r>
          </a:p>
        </p:txBody>
      </p:sp>
    </p:spTree>
    <p:extLst>
      <p:ext uri="{BB962C8B-B14F-4D97-AF65-F5344CB8AC3E}">
        <p14:creationId xmlns:p14="http://schemas.microsoft.com/office/powerpoint/2010/main" val="12333576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44">
            <a:extLst xmlns:a="http://schemas.openxmlformats.org/drawingml/2006/main">
              <a:ext uri="{FF2B5EF4-FFF2-40B4-BE49-F238E27FC236}">
                <a16:creationId xmlns:a16="http://schemas.microsoft.com/office/drawing/2014/main" id="{781BB7BB-A525-4E61-A336-7C7912A7B8A3}"/>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01 / МОДЕЛЬ ОБЪЕКТОВ</a:t>
            </a:r>
          </a:p>
        </p:txBody>
      </p:sp>
      <p:sp>
        <p:nvSpPr>
          <p:cNvPr id="2" name="title-4">
            <a:extLst xmlns:a="http://schemas.openxmlformats.org/drawingml/2006/main">
              <a:ext uri="{FF2B5EF4-FFF2-40B4-BE49-F238E27FC236}">
                <a16:creationId xmlns:a16="http://schemas.microsoft.com/office/drawing/2014/main" id="{FF07237B-1714-420D-9D4B-7EB28B18B50B}"/>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Имя ссылается на объект</a:t>
            </a:r>
          </a:p>
        </p:txBody>
      </p:sp>
      <p:sp>
        <p:nvSpPr>
          <p:cNvPr id="3" name="text-45">
            <a:extLst xmlns:a="http://schemas.openxmlformats.org/drawingml/2006/main">
              <a:ext uri="{FF2B5EF4-FFF2-40B4-BE49-F238E27FC236}">
                <a16:creationId xmlns:a16="http://schemas.microsoft.com/office/drawing/2014/main" id="{C1D08DA8-9981-4F9D-9EEE-B6511180CC8D}"/>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У объекта есть идентичность, тип и значение.</a:t>
            </a:r>
          </a:p>
        </p:txBody>
      </p:sp>
      <p:sp>
        <p:nvSpPr>
          <p:cNvPr id="4" name="surface-46">
            <a:extLst xmlns:a="http://schemas.openxmlformats.org/drawingml/2006/main">
              <a:ext uri="{FF2B5EF4-FFF2-40B4-BE49-F238E27FC236}">
                <a16:creationId xmlns:a16="http://schemas.microsoft.com/office/drawing/2014/main" id="{5019F351-24D4-4852-992E-CD68C8C310D3}"/>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47">
            <a:extLst xmlns:a="http://schemas.openxmlformats.org/drawingml/2006/main">
              <a:ext uri="{FF2B5EF4-FFF2-40B4-BE49-F238E27FC236}">
                <a16:creationId xmlns:a16="http://schemas.microsoft.com/office/drawing/2014/main" id="{DE394CD2-F60F-4C3A-B418-91BAE58AA66D}"/>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48">
            <a:extLst xmlns:a="http://schemas.openxmlformats.org/drawingml/2006/main">
              <a:ext uri="{FF2B5EF4-FFF2-40B4-BE49-F238E27FC236}">
                <a16:creationId xmlns:a16="http://schemas.microsoft.com/office/drawing/2014/main" id="{B1B27C5C-E5E4-4E6A-A1A9-0A6E69FB85DD}"/>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04</a:t>
            </a:r>
          </a:p>
        </p:txBody>
      </p:sp>
      <p:sp>
        <p:nvSpPr>
          <p:cNvPr id="7" name="surface-49">
            <a:extLst xmlns:a="http://schemas.openxmlformats.org/drawingml/2006/main">
              <a:ext uri="{FF2B5EF4-FFF2-40B4-BE49-F238E27FC236}">
                <a16:creationId xmlns:a16="http://schemas.microsoft.com/office/drawing/2014/main" id="{BE423E8F-0C55-4A37-9B4E-6EE80B8B899A}"/>
              </a:ext>
            </a:extLst>
          </p:cNvPr>
          <p:cNvSpPr>
            <a:spLocks xmlns:a="http://schemas.openxmlformats.org/drawingml/2006/main" noGrp="1"/>
          </p:cNvSpPr>
          <p:nvPr/>
        </p:nvSpPr>
        <p:spPr>
          <a:xfrm xmlns:a="http://schemas.openxmlformats.org/drawingml/2006/main">
            <a:off x="685800" y="2190750"/>
            <a:ext cx="5238750" cy="31242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4-50">
            <a:extLst xmlns:a="http://schemas.openxmlformats.org/drawingml/2006/main">
              <a:ext uri="{FF2B5EF4-FFF2-40B4-BE49-F238E27FC236}">
                <a16:creationId xmlns:a16="http://schemas.microsoft.com/office/drawing/2014/main" id="{5BEB9FFB-AE60-4F16-A896-CE6939CD3C0B}"/>
              </a:ext>
            </a:extLst>
          </p:cNvPr>
          <p:cNvSpPr>
            <a:spLocks xmlns:a="http://schemas.openxmlformats.org/drawingml/2006/main" noGrp="1"/>
          </p:cNvSpPr>
          <p:nvPr/>
        </p:nvSpPr>
        <p:spPr>
          <a:xfrm xmlns:a="http://schemas.openxmlformats.org/drawingml/2006/main">
            <a:off x="876300" y="2381250"/>
            <a:ext cx="4857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a = [10, 20]</a:t>
            </a:r>
          </a:p>
        </p:txBody>
      </p:sp>
      <p:sp>
        <p:nvSpPr>
          <p:cNvPr id="9" name="code-4-51">
            <a:extLst xmlns:a="http://schemas.openxmlformats.org/drawingml/2006/main">
              <a:ext uri="{FF2B5EF4-FFF2-40B4-BE49-F238E27FC236}">
                <a16:creationId xmlns:a16="http://schemas.microsoft.com/office/drawing/2014/main" id="{5F387787-913D-4CCE-90C2-9254527A8C54}"/>
              </a:ext>
            </a:extLst>
          </p:cNvPr>
          <p:cNvSpPr>
            <a:spLocks xmlns:a="http://schemas.openxmlformats.org/drawingml/2006/main" noGrp="1"/>
          </p:cNvSpPr>
          <p:nvPr/>
        </p:nvSpPr>
        <p:spPr>
          <a:xfrm xmlns:a="http://schemas.openxmlformats.org/drawingml/2006/main">
            <a:off x="876300" y="2714625"/>
            <a:ext cx="4857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b = a</a:t>
            </a:r>
          </a:p>
        </p:txBody>
      </p:sp>
      <p:sp>
        <p:nvSpPr>
          <p:cNvPr id="10" name="code-4-52">
            <a:extLst xmlns:a="http://schemas.openxmlformats.org/drawingml/2006/main">
              <a:ext uri="{FF2B5EF4-FFF2-40B4-BE49-F238E27FC236}">
                <a16:creationId xmlns:a16="http://schemas.microsoft.com/office/drawing/2014/main" id="{980870E2-3A71-4FEF-A71F-FD37A44D8D12}"/>
              </a:ext>
            </a:extLst>
          </p:cNvPr>
          <p:cNvSpPr>
            <a:spLocks xmlns:a="http://schemas.openxmlformats.org/drawingml/2006/main" noGrp="1"/>
          </p:cNvSpPr>
          <p:nvPr/>
        </p:nvSpPr>
        <p:spPr>
          <a:xfrm xmlns:a="http://schemas.openxmlformats.org/drawingml/2006/main">
            <a:off x="876300" y="3048000"/>
            <a:ext cx="4857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 </a:t>
            </a:r>
          </a:p>
        </p:txBody>
      </p:sp>
      <p:sp>
        <p:nvSpPr>
          <p:cNvPr id="11" name="code-4-53">
            <a:extLst xmlns:a="http://schemas.openxmlformats.org/drawingml/2006/main">
              <a:ext uri="{FF2B5EF4-FFF2-40B4-BE49-F238E27FC236}">
                <a16:creationId xmlns:a16="http://schemas.microsoft.com/office/drawing/2014/main" id="{FA2180BC-A95E-44CC-BD09-B602B417953E}"/>
              </a:ext>
            </a:extLst>
          </p:cNvPr>
          <p:cNvSpPr>
            <a:spLocks xmlns:a="http://schemas.openxmlformats.org/drawingml/2006/main" noGrp="1"/>
          </p:cNvSpPr>
          <p:nvPr/>
        </p:nvSpPr>
        <p:spPr>
          <a:xfrm xmlns:a="http://schemas.openxmlformats.org/drawingml/2006/main">
            <a:off x="876300" y="3381375"/>
            <a:ext cx="4857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type(a) </a:t>
            </a:r>
            <a:r>
              <a:rPr sz="2100" b="1">
                <a:solidFill>
                  <a:srgbClr val="286DA6"/>
                </a:solidFill>
                <a:latin typeface="Courier New"/>
                <a:ea typeface="Courier New"/>
                <a:cs typeface="Courier New"/>
              </a:rPr>
              <a:t>is</a:t>
            </a:r>
            <a:r>
              <a:rPr sz="2100" b="0">
                <a:solidFill>
                  <a:srgbClr val="131518"/>
                </a:solidFill>
                <a:latin typeface="Courier New"/>
                <a:ea typeface="Courier New"/>
                <a:cs typeface="Courier New"/>
              </a:rPr>
              <a:t> list   </a:t>
            </a:r>
            <a:r>
              <a:rPr sz="2100" b="0">
                <a:solidFill>
                  <a:srgbClr val="535A61"/>
                </a:solidFill>
                <a:latin typeface="Courier New"/>
                <a:ea typeface="Courier New"/>
                <a:cs typeface="Courier New"/>
              </a:rPr>
              <a:t># True</a:t>
            </a:r>
          </a:p>
        </p:txBody>
      </p:sp>
      <p:sp>
        <p:nvSpPr>
          <p:cNvPr id="12" name="code-4-54">
            <a:extLst xmlns:a="http://schemas.openxmlformats.org/drawingml/2006/main">
              <a:ext uri="{FF2B5EF4-FFF2-40B4-BE49-F238E27FC236}">
                <a16:creationId xmlns:a16="http://schemas.microsoft.com/office/drawing/2014/main" id="{8F0CD130-0A4C-41FF-92B7-009AFA0070C2}"/>
              </a:ext>
            </a:extLst>
          </p:cNvPr>
          <p:cNvSpPr>
            <a:spLocks xmlns:a="http://schemas.openxmlformats.org/drawingml/2006/main" noGrp="1"/>
          </p:cNvSpPr>
          <p:nvPr/>
        </p:nvSpPr>
        <p:spPr>
          <a:xfrm xmlns:a="http://schemas.openxmlformats.org/drawingml/2006/main">
            <a:off x="876300" y="3714750"/>
            <a:ext cx="4857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a </a:t>
            </a:r>
            <a:r>
              <a:rPr sz="2100" b="1">
                <a:solidFill>
                  <a:srgbClr val="286DA6"/>
                </a:solidFill>
                <a:latin typeface="Courier New"/>
                <a:ea typeface="Courier New"/>
                <a:cs typeface="Courier New"/>
              </a:rPr>
              <a:t>is</a:t>
            </a:r>
            <a:r>
              <a:rPr sz="2100" b="0">
                <a:solidFill>
                  <a:srgbClr val="131518"/>
                </a:solidFill>
                <a:latin typeface="Courier New"/>
                <a:ea typeface="Courier New"/>
                <a:cs typeface="Courier New"/>
              </a:rPr>
              <a:t> b            </a:t>
            </a:r>
            <a:r>
              <a:rPr sz="2100" b="0">
                <a:solidFill>
                  <a:srgbClr val="535A61"/>
                </a:solidFill>
                <a:latin typeface="Courier New"/>
                <a:ea typeface="Courier New"/>
                <a:cs typeface="Courier New"/>
              </a:rPr>
              <a:t># True</a:t>
            </a:r>
          </a:p>
        </p:txBody>
      </p:sp>
      <p:sp>
        <p:nvSpPr>
          <p:cNvPr id="13" name="surface-55">
            <a:extLst xmlns:a="http://schemas.openxmlformats.org/drawingml/2006/main">
              <a:ext uri="{FF2B5EF4-FFF2-40B4-BE49-F238E27FC236}">
                <a16:creationId xmlns:a16="http://schemas.microsoft.com/office/drawing/2014/main" id="{48EBB7FB-2F68-4DBB-AC32-7619EAB653D5}"/>
              </a:ext>
            </a:extLst>
          </p:cNvPr>
          <p:cNvSpPr>
            <a:spLocks xmlns:a="http://schemas.openxmlformats.org/drawingml/2006/main" noGrp="1"/>
          </p:cNvSpPr>
          <p:nvPr/>
        </p:nvSpPr>
        <p:spPr>
          <a:xfrm xmlns:a="http://schemas.openxmlformats.org/drawingml/2006/main">
            <a:off x="6667500" y="2438400"/>
            <a:ext cx="819150" cy="619125"/>
          </a:xfrm>
          <a:prstGeom xmlns:a="http://schemas.openxmlformats.org/drawingml/2006/main" prst="rect">
            <a:avLst/>
          </a:prstGeom>
          <a:solidFill xmlns:a="http://schemas.openxmlformats.org/drawingml/2006/main">
            <a:srgbClr val="F0F1F2"/>
          </a:solidFill>
          <a:ln xmlns:a="http://schemas.openxmlformats.org/drawingml/2006/main" w="9525">
            <a:solidFill>
              <a:srgbClr val="C6CAD0"/>
            </a:solidFill>
            <a:prstDash val="solid"/>
          </a:ln>
        </p:spPr>
      </p:sp>
      <p:sp>
        <p:nvSpPr>
          <p:cNvPr id="14" name="surface-56">
            <a:extLst xmlns:a="http://schemas.openxmlformats.org/drawingml/2006/main">
              <a:ext uri="{FF2B5EF4-FFF2-40B4-BE49-F238E27FC236}">
                <a16:creationId xmlns:a16="http://schemas.microsoft.com/office/drawing/2014/main" id="{227426EB-2A18-4FED-99FE-DF651C2E4C79}"/>
              </a:ext>
            </a:extLst>
          </p:cNvPr>
          <p:cNvSpPr>
            <a:spLocks xmlns:a="http://schemas.openxmlformats.org/drawingml/2006/main" noGrp="1"/>
          </p:cNvSpPr>
          <p:nvPr/>
        </p:nvSpPr>
        <p:spPr>
          <a:xfrm xmlns:a="http://schemas.openxmlformats.org/drawingml/2006/main">
            <a:off x="6667500" y="4305300"/>
            <a:ext cx="819150" cy="619125"/>
          </a:xfrm>
          <a:prstGeom xmlns:a="http://schemas.openxmlformats.org/drawingml/2006/main" prst="rect">
            <a:avLst/>
          </a:prstGeom>
          <a:solidFill xmlns:a="http://schemas.openxmlformats.org/drawingml/2006/main">
            <a:srgbClr val="F0F1F2"/>
          </a:solidFill>
          <a:ln xmlns:a="http://schemas.openxmlformats.org/drawingml/2006/main" w="9525">
            <a:solidFill>
              <a:srgbClr val="C6CAD0"/>
            </a:solidFill>
            <a:prstDash val="solid"/>
          </a:ln>
        </p:spPr>
      </p:sp>
      <p:sp>
        <p:nvSpPr>
          <p:cNvPr id="15" name="surface-57">
            <a:extLst xmlns:a="http://schemas.openxmlformats.org/drawingml/2006/main">
              <a:ext uri="{FF2B5EF4-FFF2-40B4-BE49-F238E27FC236}">
                <a16:creationId xmlns:a16="http://schemas.microsoft.com/office/drawing/2014/main" id="{514D55A8-BD96-422A-B90E-7A3049C6A1B7}"/>
              </a:ext>
            </a:extLst>
          </p:cNvPr>
          <p:cNvSpPr>
            <a:spLocks xmlns:a="http://schemas.openxmlformats.org/drawingml/2006/main" noGrp="1"/>
          </p:cNvSpPr>
          <p:nvPr/>
        </p:nvSpPr>
        <p:spPr>
          <a:xfrm xmlns:a="http://schemas.openxmlformats.org/drawingml/2006/main">
            <a:off x="9067800" y="3124200"/>
            <a:ext cx="2305050" cy="1047750"/>
          </a:xfrm>
          <a:prstGeom xmlns:a="http://schemas.openxmlformats.org/drawingml/2006/main" prst="rect">
            <a:avLst/>
          </a:prstGeom>
          <a:solidFill xmlns:a="http://schemas.openxmlformats.org/drawingml/2006/main">
            <a:srgbClr val="DCECF8"/>
          </a:solidFill>
          <a:ln xmlns:a="http://schemas.openxmlformats.org/drawingml/2006/main" w="9525">
            <a:solidFill>
              <a:srgbClr val="286DA6"/>
            </a:solidFill>
            <a:prstDash val="solid"/>
          </a:ln>
        </p:spPr>
      </p:sp>
      <p:cxnSp>
        <p:nvCxnSpPr>
          <p:cNvPr id="38" name=""/>
          <p:cNvCxnSpPr>
            <a:stCxn xmlns:a="http://schemas.openxmlformats.org/drawingml/2006/main" id="13" idx="3"/>
            <a:endCxn xmlns:a="http://schemas.openxmlformats.org/drawingml/2006/main" id="15" idx="1"/>
          </p:cNvCxnSpPr>
          <p:nvPr/>
        </p:nvCxnSpPr>
        <p:spPr>
          <a:xfrm xmlns:a="http://schemas.openxmlformats.org/drawingml/2006/main">
            <a:off x="7486650" y="2747963"/>
            <a:ext cx="1581150" cy="900113"/>
          </a:xfrm>
          <a:prstGeom xmlns:a="http://schemas.openxmlformats.org/drawingml/2006/main" prst="straightConnector1">
            <a:avLst/>
          </a:prstGeom>
          <a:ln xmlns:a="http://schemas.openxmlformats.org/drawingml/2006/main" w="19050">
            <a:solidFill>
              <a:srgbClr val="286DA6"/>
            </a:solidFill>
            <a:tailEnd type="triangle" w="med" len="med"/>
          </a:ln>
        </p:spPr>
      </p:cxnSp>
      <p:cxnSp>
        <p:nvCxnSpPr>
          <p:cNvPr id="39" name=""/>
          <p:cNvCxnSpPr>
            <a:stCxn xmlns:a="http://schemas.openxmlformats.org/drawingml/2006/main" id="14" idx="3"/>
            <a:endCxn xmlns:a="http://schemas.openxmlformats.org/drawingml/2006/main" id="15" idx="1"/>
          </p:cNvCxnSpPr>
          <p:nvPr/>
        </p:nvCxnSpPr>
        <p:spPr>
          <a:xfrm xmlns:a="http://schemas.openxmlformats.org/drawingml/2006/main" flipV="1">
            <a:off x="7486650" y="3648075"/>
            <a:ext cx="1581150" cy="966788"/>
          </a:xfrm>
          <a:prstGeom xmlns:a="http://schemas.openxmlformats.org/drawingml/2006/main" prst="straightConnector1">
            <a:avLst/>
          </a:prstGeom>
          <a:ln xmlns:a="http://schemas.openxmlformats.org/drawingml/2006/main" w="19050">
            <a:solidFill>
              <a:srgbClr val="286DA6"/>
            </a:solidFill>
            <a:tailEnd type="triangle" w="med" len="med"/>
          </a:ln>
        </p:spPr>
      </p:cxnSp>
      <p:sp>
        <p:nvSpPr>
          <p:cNvPr id="18" name="text-58">
            <a:extLst xmlns:a="http://schemas.openxmlformats.org/drawingml/2006/main">
              <a:ext uri="{FF2B5EF4-FFF2-40B4-BE49-F238E27FC236}">
                <a16:creationId xmlns:a16="http://schemas.microsoft.com/office/drawing/2014/main" id="{A2A4DFB1-2747-4077-A364-9FA81A724885}"/>
              </a:ext>
            </a:extLst>
          </p:cNvPr>
          <p:cNvSpPr>
            <a:spLocks xmlns:a="http://schemas.openxmlformats.org/drawingml/2006/main" noGrp="1"/>
          </p:cNvSpPr>
          <p:nvPr/>
        </p:nvSpPr>
        <p:spPr>
          <a:xfrm xmlns:a="http://schemas.openxmlformats.org/drawingml/2006/main">
            <a:off x="6667500" y="2495550"/>
            <a:ext cx="819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0">
                <a:solidFill>
                  <a:srgbClr val="131518"/>
                </a:solidFill>
                <a:latin typeface="Courier New"/>
                <a:ea typeface="Courier New"/>
                <a:cs typeface="Courier New"/>
              </a:defRPr>
            </a:pPr>
            <a:r>
              <a:rPr sz="2700" b="0">
                <a:solidFill>
                  <a:srgbClr val="131518"/>
                </a:solidFill>
                <a:latin typeface="Courier New"/>
                <a:ea typeface="Courier New"/>
                <a:cs typeface="Courier New"/>
              </a:rPr>
              <a:t>a</a:t>
            </a:r>
          </a:p>
        </p:txBody>
      </p:sp>
      <p:sp>
        <p:nvSpPr>
          <p:cNvPr id="19" name="text-59">
            <a:extLst xmlns:a="http://schemas.openxmlformats.org/drawingml/2006/main">
              <a:ext uri="{FF2B5EF4-FFF2-40B4-BE49-F238E27FC236}">
                <a16:creationId xmlns:a16="http://schemas.microsoft.com/office/drawing/2014/main" id="{F79A212A-A6A2-4365-B843-A315204B3A2D}"/>
              </a:ext>
            </a:extLst>
          </p:cNvPr>
          <p:cNvSpPr>
            <a:spLocks xmlns:a="http://schemas.openxmlformats.org/drawingml/2006/main" noGrp="1"/>
          </p:cNvSpPr>
          <p:nvPr/>
        </p:nvSpPr>
        <p:spPr>
          <a:xfrm xmlns:a="http://schemas.openxmlformats.org/drawingml/2006/main">
            <a:off x="6667500" y="4362450"/>
            <a:ext cx="819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0">
                <a:solidFill>
                  <a:srgbClr val="131518"/>
                </a:solidFill>
                <a:latin typeface="Courier New"/>
                <a:ea typeface="Courier New"/>
                <a:cs typeface="Courier New"/>
              </a:defRPr>
            </a:pPr>
            <a:r>
              <a:rPr sz="2700" b="0">
                <a:solidFill>
                  <a:srgbClr val="131518"/>
                </a:solidFill>
                <a:latin typeface="Courier New"/>
                <a:ea typeface="Courier New"/>
                <a:cs typeface="Courier New"/>
              </a:rPr>
              <a:t>b</a:t>
            </a:r>
          </a:p>
        </p:txBody>
      </p:sp>
      <p:sp>
        <p:nvSpPr>
          <p:cNvPr id="20" name="text-60">
            <a:extLst xmlns:a="http://schemas.openxmlformats.org/drawingml/2006/main">
              <a:ext uri="{FF2B5EF4-FFF2-40B4-BE49-F238E27FC236}">
                <a16:creationId xmlns:a16="http://schemas.microsoft.com/office/drawing/2014/main" id="{98FFDE92-152C-4A33-A246-D752E81A6C5A}"/>
              </a:ext>
            </a:extLst>
          </p:cNvPr>
          <p:cNvSpPr>
            <a:spLocks xmlns:a="http://schemas.openxmlformats.org/drawingml/2006/main" noGrp="1"/>
          </p:cNvSpPr>
          <p:nvPr/>
        </p:nvSpPr>
        <p:spPr>
          <a:xfrm xmlns:a="http://schemas.openxmlformats.org/drawingml/2006/main">
            <a:off x="9096375" y="3343275"/>
            <a:ext cx="2247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550" b="0">
                <a:solidFill>
                  <a:srgbClr val="131518"/>
                </a:solidFill>
                <a:latin typeface="Courier New"/>
                <a:ea typeface="Courier New"/>
                <a:cs typeface="Courier New"/>
              </a:defRPr>
            </a:pPr>
            <a:r>
              <a:rPr sz="2550" b="0">
                <a:solidFill>
                  <a:srgbClr val="131518"/>
                </a:solidFill>
                <a:latin typeface="Courier New"/>
                <a:ea typeface="Courier New"/>
                <a:cs typeface="Courier New"/>
              </a:rPr>
              <a:t>[10, 20]</a:t>
            </a:r>
          </a:p>
        </p:txBody>
      </p:sp>
      <p:sp>
        <p:nvSpPr>
          <p:cNvPr id="21" name="text-61">
            <a:extLst xmlns:a="http://schemas.openxmlformats.org/drawingml/2006/main">
              <a:ext uri="{FF2B5EF4-FFF2-40B4-BE49-F238E27FC236}">
                <a16:creationId xmlns:a16="http://schemas.microsoft.com/office/drawing/2014/main" id="{509DE6B2-EE19-4E67-A1E9-6811AE7CE17B}"/>
              </a:ext>
            </a:extLst>
          </p:cNvPr>
          <p:cNvSpPr>
            <a:spLocks xmlns:a="http://schemas.openxmlformats.org/drawingml/2006/main" noGrp="1"/>
          </p:cNvSpPr>
          <p:nvPr/>
        </p:nvSpPr>
        <p:spPr>
          <a:xfrm xmlns:a="http://schemas.openxmlformats.org/drawingml/2006/main">
            <a:off x="8858250" y="4333875"/>
            <a:ext cx="2647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0">
                <a:solidFill>
                  <a:srgbClr val="535A61"/>
                </a:solidFill>
                <a:latin typeface="Arial"/>
                <a:ea typeface="Arial"/>
                <a:cs typeface="Arial"/>
              </a:defRPr>
            </a:pPr>
            <a:r>
              <a:rPr sz="2025" b="0">
                <a:solidFill>
                  <a:srgbClr val="535A61"/>
                </a:solidFill>
                <a:latin typeface="Arial"/>
                <a:ea typeface="Arial"/>
                <a:cs typeface="Arial"/>
              </a:rPr>
              <a:t>один объект list</a:t>
            </a:r>
          </a:p>
        </p:txBody>
      </p:sp>
      <p:sp>
        <p:nvSpPr>
          <p:cNvPr id="22" name="takeaway-4">
            <a:extLst xmlns:a="http://schemas.openxmlformats.org/drawingml/2006/main">
              <a:ext uri="{FF2B5EF4-FFF2-40B4-BE49-F238E27FC236}">
                <a16:creationId xmlns:a16="http://schemas.microsoft.com/office/drawing/2014/main" id="{856D79C9-3444-4F38-B635-191876C1213D}"/>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Присваивание связывает имя с объектом; копирование — отдельная операция.</a:t>
            </a:r>
          </a:p>
        </p:txBody>
      </p:sp>
    </p:spTree>
    <p:extLst>
      <p:ext uri="{BB962C8B-B14F-4D97-AF65-F5344CB8AC3E}">
        <p14:creationId xmlns:p14="http://schemas.microsoft.com/office/powerpoint/2010/main" val="156735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62">
            <a:extLst xmlns:a="http://schemas.openxmlformats.org/drawingml/2006/main">
              <a:ext uri="{FF2B5EF4-FFF2-40B4-BE49-F238E27FC236}">
                <a16:creationId xmlns:a16="http://schemas.microsoft.com/office/drawing/2014/main" id="{890A8E8F-A9BE-47A6-B22F-A344523B1822}"/>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01 / МОДЕЛЬ ОБЪЕКТОВ</a:t>
            </a:r>
          </a:p>
        </p:txBody>
      </p:sp>
      <p:sp>
        <p:nvSpPr>
          <p:cNvPr id="2" name="title-5">
            <a:extLst xmlns:a="http://schemas.openxmlformats.org/drawingml/2006/main">
              <a:ext uri="{FF2B5EF4-FFF2-40B4-BE49-F238E27FC236}">
                <a16:creationId xmlns:a16="http://schemas.microsoft.com/office/drawing/2014/main" id="{31FE58B7-DD57-4A40-A861-595DF9D348B8}"/>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Динамическая типизация имеет правила</a:t>
            </a:r>
          </a:p>
        </p:txBody>
      </p:sp>
      <p:sp>
        <p:nvSpPr>
          <p:cNvPr id="3" name="text-63">
            <a:extLst xmlns:a="http://schemas.openxmlformats.org/drawingml/2006/main">
              <a:ext uri="{FF2B5EF4-FFF2-40B4-BE49-F238E27FC236}">
                <a16:creationId xmlns:a16="http://schemas.microsoft.com/office/drawing/2014/main" id="{D4297DAA-9AA4-48B4-B06F-1C1ACFBCAA0F}"/>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Имя можно связать с другим типом. Операции всё равно проверяются.</a:t>
            </a:r>
          </a:p>
        </p:txBody>
      </p:sp>
      <p:sp>
        <p:nvSpPr>
          <p:cNvPr id="4" name="surface-64">
            <a:extLst xmlns:a="http://schemas.openxmlformats.org/drawingml/2006/main">
              <a:ext uri="{FF2B5EF4-FFF2-40B4-BE49-F238E27FC236}">
                <a16:creationId xmlns:a16="http://schemas.microsoft.com/office/drawing/2014/main" id="{38898E0F-A5CB-4729-B8B1-A1353C83F029}"/>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65">
            <a:extLst xmlns:a="http://schemas.openxmlformats.org/drawingml/2006/main">
              <a:ext uri="{FF2B5EF4-FFF2-40B4-BE49-F238E27FC236}">
                <a16:creationId xmlns:a16="http://schemas.microsoft.com/office/drawing/2014/main" id="{D6545B64-B7D6-4892-AEAA-07EEBCB86F27}"/>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66">
            <a:extLst xmlns:a="http://schemas.openxmlformats.org/drawingml/2006/main">
              <a:ext uri="{FF2B5EF4-FFF2-40B4-BE49-F238E27FC236}">
                <a16:creationId xmlns:a16="http://schemas.microsoft.com/office/drawing/2014/main" id="{AAE6C418-003C-4143-BFFA-077978CC29A8}"/>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05</a:t>
            </a:r>
          </a:p>
        </p:txBody>
      </p:sp>
      <p:sp>
        <p:nvSpPr>
          <p:cNvPr id="7" name="text-67">
            <a:extLst xmlns:a="http://schemas.openxmlformats.org/drawingml/2006/main">
              <a:ext uri="{FF2B5EF4-FFF2-40B4-BE49-F238E27FC236}">
                <a16:creationId xmlns:a16="http://schemas.microsoft.com/office/drawing/2014/main" id="{C956C766-320B-47F5-A58A-9811790DF372}"/>
              </a:ext>
            </a:extLst>
          </p:cNvPr>
          <p:cNvSpPr>
            <a:spLocks xmlns:a="http://schemas.openxmlformats.org/drawingml/2006/main" noGrp="1"/>
          </p:cNvSpPr>
          <p:nvPr/>
        </p:nvSpPr>
        <p:spPr>
          <a:xfrm xmlns:a="http://schemas.openxmlformats.org/drawingml/2006/main">
            <a:off x="68580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НОВАЯ ПРИВЯЗКА</a:t>
            </a:r>
          </a:p>
        </p:txBody>
      </p:sp>
      <p:sp>
        <p:nvSpPr>
          <p:cNvPr id="8" name="surface-68">
            <a:extLst xmlns:a="http://schemas.openxmlformats.org/drawingml/2006/main">
              <a:ext uri="{FF2B5EF4-FFF2-40B4-BE49-F238E27FC236}">
                <a16:creationId xmlns:a16="http://schemas.microsoft.com/office/drawing/2014/main" id="{A524FBD2-6D87-4BFC-83AD-944FDC0B4A4C}"/>
              </a:ext>
            </a:extLst>
          </p:cNvPr>
          <p:cNvSpPr>
            <a:spLocks xmlns:a="http://schemas.openxmlformats.org/drawingml/2006/main" noGrp="1"/>
          </p:cNvSpPr>
          <p:nvPr/>
        </p:nvSpPr>
        <p:spPr>
          <a:xfrm xmlns:a="http://schemas.openxmlformats.org/drawingml/2006/main">
            <a:off x="68580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code-5-69">
            <a:extLst xmlns:a="http://schemas.openxmlformats.org/drawingml/2006/main">
              <a:ext uri="{FF2B5EF4-FFF2-40B4-BE49-F238E27FC236}">
                <a16:creationId xmlns:a16="http://schemas.microsoft.com/office/drawing/2014/main" id="{704D6432-D4F1-4E47-93AA-650322254C9D}"/>
              </a:ext>
            </a:extLst>
          </p:cNvPr>
          <p:cNvSpPr>
            <a:spLocks xmlns:a="http://schemas.openxmlformats.org/drawingml/2006/main" noGrp="1"/>
          </p:cNvSpPr>
          <p:nvPr/>
        </p:nvSpPr>
        <p:spPr>
          <a:xfrm xmlns:a="http://schemas.openxmlformats.org/drawingml/2006/main">
            <a:off x="84772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value = 42</a:t>
            </a:r>
          </a:p>
        </p:txBody>
      </p:sp>
      <p:sp>
        <p:nvSpPr>
          <p:cNvPr id="10" name="code-5-70">
            <a:extLst xmlns:a="http://schemas.openxmlformats.org/drawingml/2006/main">
              <a:ext uri="{FF2B5EF4-FFF2-40B4-BE49-F238E27FC236}">
                <a16:creationId xmlns:a16="http://schemas.microsoft.com/office/drawing/2014/main" id="{5921631A-12BD-439C-872D-04F0B00A9C4C}"/>
              </a:ext>
            </a:extLst>
          </p:cNvPr>
          <p:cNvSpPr>
            <a:spLocks xmlns:a="http://schemas.openxmlformats.org/drawingml/2006/main" noGrp="1"/>
          </p:cNvSpPr>
          <p:nvPr/>
        </p:nvSpPr>
        <p:spPr>
          <a:xfrm xmlns:a="http://schemas.openxmlformats.org/drawingml/2006/main">
            <a:off x="84772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value = "сорок два"</a:t>
            </a:r>
          </a:p>
        </p:txBody>
      </p:sp>
      <p:sp>
        <p:nvSpPr>
          <p:cNvPr id="11" name="code-5-71">
            <a:extLst xmlns:a="http://schemas.openxmlformats.org/drawingml/2006/main">
              <a:ext uri="{FF2B5EF4-FFF2-40B4-BE49-F238E27FC236}">
                <a16:creationId xmlns:a16="http://schemas.microsoft.com/office/drawing/2014/main" id="{BC5143A3-C2F9-4E64-B5C7-91B73FD60E2B}"/>
              </a:ext>
            </a:extLst>
          </p:cNvPr>
          <p:cNvSpPr>
            <a:spLocks xmlns:a="http://schemas.openxmlformats.org/drawingml/2006/main" noGrp="1"/>
          </p:cNvSpPr>
          <p:nvPr/>
        </p:nvSpPr>
        <p:spPr>
          <a:xfrm xmlns:a="http://schemas.openxmlformats.org/drawingml/2006/main">
            <a:off x="84772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12" name="code-5-72">
            <a:extLst xmlns:a="http://schemas.openxmlformats.org/drawingml/2006/main">
              <a:ext uri="{FF2B5EF4-FFF2-40B4-BE49-F238E27FC236}">
                <a16:creationId xmlns:a16="http://schemas.microsoft.com/office/drawing/2014/main" id="{4490A57A-915A-48F1-97D4-CEC4D570367F}"/>
              </a:ext>
            </a:extLst>
          </p:cNvPr>
          <p:cNvSpPr>
            <a:spLocks xmlns:a="http://schemas.openxmlformats.org/drawingml/2006/main" noGrp="1"/>
          </p:cNvSpPr>
          <p:nvPr/>
        </p:nvSpPr>
        <p:spPr>
          <a:xfrm xmlns:a="http://schemas.openxmlformats.org/drawingml/2006/main">
            <a:off x="84772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print(type(value).__name__)</a:t>
            </a:r>
          </a:p>
        </p:txBody>
      </p:sp>
      <p:sp>
        <p:nvSpPr>
          <p:cNvPr id="13" name="code-5-73">
            <a:extLst xmlns:a="http://schemas.openxmlformats.org/drawingml/2006/main">
              <a:ext uri="{FF2B5EF4-FFF2-40B4-BE49-F238E27FC236}">
                <a16:creationId xmlns:a16="http://schemas.microsoft.com/office/drawing/2014/main" id="{C59A9A33-699E-4522-A7C7-F89304E5C5B9}"/>
              </a:ext>
            </a:extLst>
          </p:cNvPr>
          <p:cNvSpPr>
            <a:spLocks xmlns:a="http://schemas.openxmlformats.org/drawingml/2006/main" noGrp="1"/>
          </p:cNvSpPr>
          <p:nvPr/>
        </p:nvSpPr>
        <p:spPr>
          <a:xfrm xmlns:a="http://schemas.openxmlformats.org/drawingml/2006/main">
            <a:off x="84772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535A61"/>
                </a:solidFill>
                <a:latin typeface="Courier New"/>
                <a:ea typeface="Courier New"/>
                <a:cs typeface="Courier New"/>
              </a:rPr>
              <a:t># str</a:t>
            </a:r>
          </a:p>
        </p:txBody>
      </p:sp>
      <p:sp>
        <p:nvSpPr>
          <p:cNvPr id="14" name="text-74">
            <a:extLst xmlns:a="http://schemas.openxmlformats.org/drawingml/2006/main">
              <a:ext uri="{FF2B5EF4-FFF2-40B4-BE49-F238E27FC236}">
                <a16:creationId xmlns:a16="http://schemas.microsoft.com/office/drawing/2014/main" id="{F64B3825-6C74-4BF7-80A8-65A90C907B8C}"/>
              </a:ext>
            </a:extLst>
          </p:cNvPr>
          <p:cNvSpPr>
            <a:spLocks xmlns:a="http://schemas.openxmlformats.org/drawingml/2006/main" noGrp="1"/>
          </p:cNvSpPr>
          <p:nvPr/>
        </p:nvSpPr>
        <p:spPr>
          <a:xfrm xmlns:a="http://schemas.openxmlformats.org/drawingml/2006/main">
            <a:off x="68580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Объявлять тип имени заранее</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не требуется.</a:t>
            </a:r>
          </a:p>
        </p:txBody>
      </p:sp>
      <p:sp>
        <p:nvSpPr>
          <p:cNvPr id="15" name="text-75">
            <a:extLst xmlns:a="http://schemas.openxmlformats.org/drawingml/2006/main">
              <a:ext uri="{FF2B5EF4-FFF2-40B4-BE49-F238E27FC236}">
                <a16:creationId xmlns:a16="http://schemas.microsoft.com/office/drawing/2014/main" id="{4A93CE1A-AE86-4ED6-B1D3-454D80226B41}"/>
              </a:ext>
            </a:extLst>
          </p:cNvPr>
          <p:cNvSpPr>
            <a:spLocks xmlns:a="http://schemas.openxmlformats.org/drawingml/2006/main" noGrp="1"/>
          </p:cNvSpPr>
          <p:nvPr/>
        </p:nvSpPr>
        <p:spPr>
          <a:xfrm xmlns:a="http://schemas.openxmlformats.org/drawingml/2006/main">
            <a:off x="622935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СОВМЕСТИМОСТЬ ОПЕРАЦИЙ</a:t>
            </a:r>
          </a:p>
        </p:txBody>
      </p:sp>
      <p:sp>
        <p:nvSpPr>
          <p:cNvPr id="16" name="surface-76">
            <a:extLst xmlns:a="http://schemas.openxmlformats.org/drawingml/2006/main">
              <a:ext uri="{FF2B5EF4-FFF2-40B4-BE49-F238E27FC236}">
                <a16:creationId xmlns:a16="http://schemas.microsoft.com/office/drawing/2014/main" id="{685E9125-42FD-4879-AC96-BAF8E78FEC9F}"/>
              </a:ext>
            </a:extLst>
          </p:cNvPr>
          <p:cNvSpPr>
            <a:spLocks xmlns:a="http://schemas.openxmlformats.org/drawingml/2006/main" noGrp="1"/>
          </p:cNvSpPr>
          <p:nvPr/>
        </p:nvSpPr>
        <p:spPr>
          <a:xfrm xmlns:a="http://schemas.openxmlformats.org/drawingml/2006/main">
            <a:off x="622935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7" name="code-5-77">
            <a:extLst xmlns:a="http://schemas.openxmlformats.org/drawingml/2006/main">
              <a:ext uri="{FF2B5EF4-FFF2-40B4-BE49-F238E27FC236}">
                <a16:creationId xmlns:a16="http://schemas.microsoft.com/office/drawing/2014/main" id="{984FC82E-9811-482E-A160-5C05827A22E8}"/>
              </a:ext>
            </a:extLst>
          </p:cNvPr>
          <p:cNvSpPr>
            <a:spLocks xmlns:a="http://schemas.openxmlformats.org/drawingml/2006/main" noGrp="1"/>
          </p:cNvSpPr>
          <p:nvPr/>
        </p:nvSpPr>
        <p:spPr>
          <a:xfrm xmlns:a="http://schemas.openxmlformats.org/drawingml/2006/main">
            <a:off x="639127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"42" + 1       </a:t>
            </a:r>
            <a:r>
              <a:rPr sz="1935" b="0">
                <a:solidFill>
                  <a:srgbClr val="535A61"/>
                </a:solidFill>
                <a:latin typeface="Courier New"/>
                <a:ea typeface="Courier New"/>
                <a:cs typeface="Courier New"/>
              </a:rPr>
              <a:t># TypeError</a:t>
            </a:r>
          </a:p>
        </p:txBody>
      </p:sp>
      <p:sp>
        <p:nvSpPr>
          <p:cNvPr id="18" name="code-5-78">
            <a:extLst xmlns:a="http://schemas.openxmlformats.org/drawingml/2006/main">
              <a:ext uri="{FF2B5EF4-FFF2-40B4-BE49-F238E27FC236}">
                <a16:creationId xmlns:a16="http://schemas.microsoft.com/office/drawing/2014/main" id="{B4E214DA-6CDD-435E-907C-0C5A9C6DD1B6}"/>
              </a:ext>
            </a:extLst>
          </p:cNvPr>
          <p:cNvSpPr>
            <a:spLocks xmlns:a="http://schemas.openxmlformats.org/drawingml/2006/main" noGrp="1"/>
          </p:cNvSpPr>
          <p:nvPr/>
        </p:nvSpPr>
        <p:spPr>
          <a:xfrm xmlns:a="http://schemas.openxmlformats.org/drawingml/2006/main">
            <a:off x="639127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int("42") + 1  </a:t>
            </a:r>
            <a:r>
              <a:rPr sz="1935" b="0">
                <a:solidFill>
                  <a:srgbClr val="535A61"/>
                </a:solidFill>
                <a:latin typeface="Courier New"/>
                <a:ea typeface="Courier New"/>
                <a:cs typeface="Courier New"/>
              </a:rPr>
              <a:t># 43</a:t>
            </a:r>
          </a:p>
        </p:txBody>
      </p:sp>
      <p:sp>
        <p:nvSpPr>
          <p:cNvPr id="19" name="code-5-79">
            <a:extLst xmlns:a="http://schemas.openxmlformats.org/drawingml/2006/main">
              <a:ext uri="{FF2B5EF4-FFF2-40B4-BE49-F238E27FC236}">
                <a16:creationId xmlns:a16="http://schemas.microsoft.com/office/drawing/2014/main" id="{443C37B1-19FB-4379-A347-493EA4CFB37A}"/>
              </a:ext>
            </a:extLst>
          </p:cNvPr>
          <p:cNvSpPr>
            <a:spLocks xmlns:a="http://schemas.openxmlformats.org/drawingml/2006/main" noGrp="1"/>
          </p:cNvSpPr>
          <p:nvPr/>
        </p:nvSpPr>
        <p:spPr>
          <a:xfrm xmlns:a="http://schemas.openxmlformats.org/drawingml/2006/main">
            <a:off x="639127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1 + 2.5        </a:t>
            </a:r>
            <a:r>
              <a:rPr sz="1935" b="0">
                <a:solidFill>
                  <a:srgbClr val="535A61"/>
                </a:solidFill>
                <a:latin typeface="Courier New"/>
                <a:ea typeface="Courier New"/>
                <a:cs typeface="Courier New"/>
              </a:rPr>
              <a:t># 3.5</a:t>
            </a:r>
          </a:p>
        </p:txBody>
      </p:sp>
      <p:sp>
        <p:nvSpPr>
          <p:cNvPr id="20" name="code-5-80">
            <a:extLst xmlns:a="http://schemas.openxmlformats.org/drawingml/2006/main">
              <a:ext uri="{FF2B5EF4-FFF2-40B4-BE49-F238E27FC236}">
                <a16:creationId xmlns:a16="http://schemas.microsoft.com/office/drawing/2014/main" id="{85081442-A589-449D-AC69-6A0238184D51}"/>
              </a:ext>
            </a:extLst>
          </p:cNvPr>
          <p:cNvSpPr>
            <a:spLocks xmlns:a="http://schemas.openxmlformats.org/drawingml/2006/main" noGrp="1"/>
          </p:cNvSpPr>
          <p:nvPr/>
        </p:nvSpPr>
        <p:spPr>
          <a:xfrm xmlns:a="http://schemas.openxmlformats.org/drawingml/2006/main">
            <a:off x="639127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int("x")       </a:t>
            </a:r>
            <a:r>
              <a:rPr sz="1935" b="0">
                <a:solidFill>
                  <a:srgbClr val="535A61"/>
                </a:solidFill>
                <a:latin typeface="Courier New"/>
                <a:ea typeface="Courier New"/>
                <a:cs typeface="Courier New"/>
              </a:rPr>
              <a:t># ValueError</a:t>
            </a:r>
          </a:p>
        </p:txBody>
      </p:sp>
      <p:sp>
        <p:nvSpPr>
          <p:cNvPr id="21" name="text-81">
            <a:extLst xmlns:a="http://schemas.openxmlformats.org/drawingml/2006/main">
              <a:ext uri="{FF2B5EF4-FFF2-40B4-BE49-F238E27FC236}">
                <a16:creationId xmlns:a16="http://schemas.microsoft.com/office/drawing/2014/main" id="{B1192157-FFB8-4090-BEF3-6E3ACA1DCFF8}"/>
              </a:ext>
            </a:extLst>
          </p:cNvPr>
          <p:cNvSpPr>
            <a:spLocks xmlns:a="http://schemas.openxmlformats.org/drawingml/2006/main" noGrp="1"/>
          </p:cNvSpPr>
          <p:nvPr/>
        </p:nvSpPr>
        <p:spPr>
          <a:xfrm xmlns:a="http://schemas.openxmlformats.org/drawingml/2006/main">
            <a:off x="622935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Допустимые преобразования</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зависят от конкретной операции.</a:t>
            </a:r>
          </a:p>
        </p:txBody>
      </p:sp>
      <p:sp>
        <p:nvSpPr>
          <p:cNvPr id="22" name="takeaway-5">
            <a:extLst xmlns:a="http://schemas.openxmlformats.org/drawingml/2006/main">
              <a:ext uri="{FF2B5EF4-FFF2-40B4-BE49-F238E27FC236}">
                <a16:creationId xmlns:a16="http://schemas.microsoft.com/office/drawing/2014/main" id="{9251DC00-CF21-4413-8D4A-9D7D0FE5EEA5}"/>
              </a:ext>
            </a:extLst>
          </p:cNvPr>
          <p:cNvSpPr>
            <a:spLocks xmlns:a="http://schemas.openxmlformats.org/drawingml/2006/main" noGrp="1"/>
          </p:cNvSpPr>
          <p:nvPr/>
        </p:nvSpPr>
        <p:spPr>
          <a:xfrm xmlns:a="http://schemas.openxmlformats.org/drawingml/2006/main">
            <a:off x="685800" y="59817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Динамическая типизация ≠ отсутствие типов.</a:t>
            </a:r>
          </a:p>
        </p:txBody>
      </p:sp>
    </p:spTree>
    <p:extLst>
      <p:ext uri="{BB962C8B-B14F-4D97-AF65-F5344CB8AC3E}">
        <p14:creationId xmlns:p14="http://schemas.microsoft.com/office/powerpoint/2010/main" val="18423895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82">
            <a:extLst xmlns:a="http://schemas.openxmlformats.org/drawingml/2006/main">
              <a:ext uri="{FF2B5EF4-FFF2-40B4-BE49-F238E27FC236}">
                <a16:creationId xmlns:a16="http://schemas.microsoft.com/office/drawing/2014/main" id="{BC72E5B0-E786-46BF-B42E-0FFF6086680C}"/>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01 / МОДЕЛЬ ОБЪЕКТОВ</a:t>
            </a:r>
          </a:p>
        </p:txBody>
      </p:sp>
      <p:sp>
        <p:nvSpPr>
          <p:cNvPr id="2" name="title-6">
            <a:extLst xmlns:a="http://schemas.openxmlformats.org/drawingml/2006/main">
              <a:ext uri="{FF2B5EF4-FFF2-40B4-BE49-F238E27FC236}">
                <a16:creationId xmlns:a16="http://schemas.microsoft.com/office/drawing/2014/main" id="{D69774D4-933D-47A7-A3E8-94B7CD860B56}"/>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Равенство и идентичность различаются</a:t>
            </a:r>
          </a:p>
        </p:txBody>
      </p:sp>
      <p:sp>
        <p:nvSpPr>
          <p:cNvPr id="3" name="text-83">
            <a:extLst xmlns:a="http://schemas.openxmlformats.org/drawingml/2006/main">
              <a:ext uri="{FF2B5EF4-FFF2-40B4-BE49-F238E27FC236}">
                <a16:creationId xmlns:a16="http://schemas.microsoft.com/office/drawing/2014/main" id="{9805E0E6-2657-4125-BAC4-7D5AB8FE4A06}"/>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 сравнивает значения по правилам типа. is проверяет один и тот же объект.</a:t>
            </a:r>
          </a:p>
        </p:txBody>
      </p:sp>
      <p:sp>
        <p:nvSpPr>
          <p:cNvPr id="4" name="surface-84">
            <a:extLst xmlns:a="http://schemas.openxmlformats.org/drawingml/2006/main">
              <a:ext uri="{FF2B5EF4-FFF2-40B4-BE49-F238E27FC236}">
                <a16:creationId xmlns:a16="http://schemas.microsoft.com/office/drawing/2014/main" id="{E4E56A46-A605-4EAC-899C-0C0A080AB846}"/>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85">
            <a:extLst xmlns:a="http://schemas.openxmlformats.org/drawingml/2006/main">
              <a:ext uri="{FF2B5EF4-FFF2-40B4-BE49-F238E27FC236}">
                <a16:creationId xmlns:a16="http://schemas.microsoft.com/office/drawing/2014/main" id="{ADE6384C-4CF2-4718-B493-26E0F0881CCD}"/>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86">
            <a:extLst xmlns:a="http://schemas.openxmlformats.org/drawingml/2006/main">
              <a:ext uri="{FF2B5EF4-FFF2-40B4-BE49-F238E27FC236}">
                <a16:creationId xmlns:a16="http://schemas.microsoft.com/office/drawing/2014/main" id="{921B1DE7-0F33-4DB0-9F71-1D0268AAA5DD}"/>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06</a:t>
            </a:r>
          </a:p>
        </p:txBody>
      </p:sp>
      <p:sp>
        <p:nvSpPr>
          <p:cNvPr id="7" name="surface-87">
            <a:extLst xmlns:a="http://schemas.openxmlformats.org/drawingml/2006/main">
              <a:ext uri="{FF2B5EF4-FFF2-40B4-BE49-F238E27FC236}">
                <a16:creationId xmlns:a16="http://schemas.microsoft.com/office/drawing/2014/main" id="{6E4225B6-9610-4B52-A3DC-505DBBA148EB}"/>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6-88">
            <a:extLst xmlns:a="http://schemas.openxmlformats.org/drawingml/2006/main">
              <a:ext uri="{FF2B5EF4-FFF2-40B4-BE49-F238E27FC236}">
                <a16:creationId xmlns:a16="http://schemas.microsoft.com/office/drawing/2014/main" id="{95BFA1F2-3BE0-41A7-B56C-167CCCC309BB}"/>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 [1, 2]</a:t>
            </a:r>
          </a:p>
        </p:txBody>
      </p:sp>
      <p:sp>
        <p:nvSpPr>
          <p:cNvPr id="9" name="code-6-89">
            <a:extLst xmlns:a="http://schemas.openxmlformats.org/drawingml/2006/main">
              <a:ext uri="{FF2B5EF4-FFF2-40B4-BE49-F238E27FC236}">
                <a16:creationId xmlns:a16="http://schemas.microsoft.com/office/drawing/2014/main" id="{ECC80E3F-3382-4861-B8F6-1D11BC24BF02}"/>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b = [1, 2]</a:t>
            </a:r>
          </a:p>
        </p:txBody>
      </p:sp>
      <p:sp>
        <p:nvSpPr>
          <p:cNvPr id="10" name="code-6-90">
            <a:extLst xmlns:a="http://schemas.openxmlformats.org/drawingml/2006/main">
              <a:ext uri="{FF2B5EF4-FFF2-40B4-BE49-F238E27FC236}">
                <a16:creationId xmlns:a16="http://schemas.microsoft.com/office/drawing/2014/main" id="{DEB9EE59-4C85-4C2D-B5C6-DBF8D848D9A8}"/>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c = a</a:t>
            </a:r>
          </a:p>
        </p:txBody>
      </p:sp>
      <p:sp>
        <p:nvSpPr>
          <p:cNvPr id="11" name="code-6-91">
            <a:extLst xmlns:a="http://schemas.openxmlformats.org/drawingml/2006/main">
              <a:ext uri="{FF2B5EF4-FFF2-40B4-BE49-F238E27FC236}">
                <a16:creationId xmlns:a16="http://schemas.microsoft.com/office/drawing/2014/main" id="{5BE2CB59-2C99-4643-9F51-5C8D8A2FEFD0}"/>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2" name="code-6-92">
            <a:extLst xmlns:a="http://schemas.openxmlformats.org/drawingml/2006/main">
              <a:ext uri="{FF2B5EF4-FFF2-40B4-BE49-F238E27FC236}">
                <a16:creationId xmlns:a16="http://schemas.microsoft.com/office/drawing/2014/main" id="{AB2C7658-3618-4214-A84D-CFD29F731171}"/>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 b  </a:t>
            </a:r>
            <a:r>
              <a:rPr sz="1988" b="0">
                <a:solidFill>
                  <a:srgbClr val="535A61"/>
                </a:solidFill>
                <a:latin typeface="Courier New"/>
                <a:ea typeface="Courier New"/>
                <a:cs typeface="Courier New"/>
              </a:rPr>
              <a:t># True</a:t>
            </a:r>
          </a:p>
        </p:txBody>
      </p:sp>
      <p:sp>
        <p:nvSpPr>
          <p:cNvPr id="13" name="code-6-93">
            <a:extLst xmlns:a="http://schemas.openxmlformats.org/drawingml/2006/main">
              <a:ext uri="{FF2B5EF4-FFF2-40B4-BE49-F238E27FC236}">
                <a16:creationId xmlns:a16="http://schemas.microsoft.com/office/drawing/2014/main" id="{84E21DC2-5068-4EB5-9EEC-D207D1A938A0}"/>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a:t>
            </a:r>
            <a:r>
              <a:rPr sz="1988" b="1">
                <a:solidFill>
                  <a:srgbClr val="286DA6"/>
                </a:solidFill>
                <a:latin typeface="Courier New"/>
                <a:ea typeface="Courier New"/>
                <a:cs typeface="Courier New"/>
              </a:rPr>
              <a:t>is</a:t>
            </a:r>
            <a:r>
              <a:rPr sz="1988" b="0">
                <a:solidFill>
                  <a:srgbClr val="131518"/>
                </a:solidFill>
                <a:latin typeface="Courier New"/>
                <a:ea typeface="Courier New"/>
                <a:cs typeface="Courier New"/>
              </a:rPr>
              <a:t> b  </a:t>
            </a:r>
            <a:r>
              <a:rPr sz="1988" b="0">
                <a:solidFill>
                  <a:srgbClr val="535A61"/>
                </a:solidFill>
                <a:latin typeface="Courier New"/>
                <a:ea typeface="Courier New"/>
                <a:cs typeface="Courier New"/>
              </a:rPr>
              <a:t># False</a:t>
            </a:r>
          </a:p>
        </p:txBody>
      </p:sp>
      <p:sp>
        <p:nvSpPr>
          <p:cNvPr id="14" name="code-6-94">
            <a:extLst xmlns:a="http://schemas.openxmlformats.org/drawingml/2006/main">
              <a:ext uri="{FF2B5EF4-FFF2-40B4-BE49-F238E27FC236}">
                <a16:creationId xmlns:a16="http://schemas.microsoft.com/office/drawing/2014/main" id="{66E3895D-EE79-407B-A227-7141DBA55B4C}"/>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a:t>
            </a:r>
            <a:r>
              <a:rPr sz="1988" b="1">
                <a:solidFill>
                  <a:srgbClr val="286DA6"/>
                </a:solidFill>
                <a:latin typeface="Courier New"/>
                <a:ea typeface="Courier New"/>
                <a:cs typeface="Courier New"/>
              </a:rPr>
              <a:t>is</a:t>
            </a:r>
            <a:r>
              <a:rPr sz="1988" b="0">
                <a:solidFill>
                  <a:srgbClr val="131518"/>
                </a:solidFill>
                <a:latin typeface="Courier New"/>
                <a:ea typeface="Courier New"/>
                <a:cs typeface="Courier New"/>
              </a:rPr>
              <a:t> c  </a:t>
            </a:r>
            <a:r>
              <a:rPr sz="1988" b="0">
                <a:solidFill>
                  <a:srgbClr val="535A61"/>
                </a:solidFill>
                <a:latin typeface="Courier New"/>
                <a:ea typeface="Courier New"/>
                <a:cs typeface="Courier New"/>
              </a:rPr>
              <a:t># True</a:t>
            </a:r>
          </a:p>
        </p:txBody>
      </p:sp>
      <p:sp>
        <p:nvSpPr>
          <p:cNvPr id="15" name="text-95">
            <a:extLst xmlns:a="http://schemas.openxmlformats.org/drawingml/2006/main">
              <a:ext uri="{FF2B5EF4-FFF2-40B4-BE49-F238E27FC236}">
                <a16:creationId xmlns:a16="http://schemas.microsoft.com/office/drawing/2014/main" id="{254872FA-57AE-442B-8F95-660BF4444AD3}"/>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Для значений</a:t>
            </a:r>
          </a:p>
        </p:txBody>
      </p:sp>
      <p:sp>
        <p:nvSpPr>
          <p:cNvPr id="16" name="text-96">
            <a:extLst xmlns:a="http://schemas.openxmlformats.org/drawingml/2006/main">
              <a:ext uri="{FF2B5EF4-FFF2-40B4-BE49-F238E27FC236}">
                <a16:creationId xmlns:a16="http://schemas.microsoft.com/office/drawing/2014/main" id="{B0189063-6240-425C-BD51-3F239E05F821}"/>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Используйте == и !=.</a:t>
            </a:r>
          </a:p>
        </p:txBody>
      </p:sp>
      <p:sp>
        <p:nvSpPr>
          <p:cNvPr id="17" name="text-97">
            <a:extLst xmlns:a="http://schemas.openxmlformats.org/drawingml/2006/main">
              <a:ext uri="{FF2B5EF4-FFF2-40B4-BE49-F238E27FC236}">
                <a16:creationId xmlns:a16="http://schemas.microsoft.com/office/drawing/2014/main" id="{5B0A65BB-A7A7-464D-993C-18DA124E6CBA}"/>
              </a:ext>
            </a:extLst>
          </p:cNvPr>
          <p:cNvSpPr>
            <a:spLocks xmlns:a="http://schemas.openxmlformats.org/drawingml/2006/main" noGrp="1"/>
          </p:cNvSpPr>
          <p:nvPr/>
        </p:nvSpPr>
        <p:spPr>
          <a:xfrm xmlns:a="http://schemas.openxmlformats.org/drawingml/2006/main">
            <a:off x="7905750" y="34290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Для None</a:t>
            </a:r>
          </a:p>
        </p:txBody>
      </p:sp>
      <p:sp>
        <p:nvSpPr>
          <p:cNvPr id="18" name="text-98">
            <a:extLst xmlns:a="http://schemas.openxmlformats.org/drawingml/2006/main">
              <a:ext uri="{FF2B5EF4-FFF2-40B4-BE49-F238E27FC236}">
                <a16:creationId xmlns:a16="http://schemas.microsoft.com/office/drawing/2014/main" id="{0773618B-8CE7-49B6-98B1-B1154B2FF7EC}"/>
              </a:ext>
            </a:extLst>
          </p:cNvPr>
          <p:cNvSpPr>
            <a:spLocks xmlns:a="http://schemas.openxmlformats.org/drawingml/2006/main" noGrp="1"/>
          </p:cNvSpPr>
          <p:nvPr/>
        </p:nvSpPr>
        <p:spPr>
          <a:xfrm xmlns:a="http://schemas.openxmlformats.org/drawingml/2006/main">
            <a:off x="7905750" y="38766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Проверка: value is None.</a:t>
            </a:r>
          </a:p>
        </p:txBody>
      </p:sp>
      <p:sp>
        <p:nvSpPr>
          <p:cNvPr id="19" name="text-99">
            <a:extLst xmlns:a="http://schemas.openxmlformats.org/drawingml/2006/main">
              <a:ext uri="{FF2B5EF4-FFF2-40B4-BE49-F238E27FC236}">
                <a16:creationId xmlns:a16="http://schemas.microsoft.com/office/drawing/2014/main" id="{BBC7B9AE-A22C-4116-9E23-D3C986E71CFC}"/>
              </a:ext>
            </a:extLst>
          </p:cNvPr>
          <p:cNvSpPr>
            <a:spLocks xmlns:a="http://schemas.openxmlformats.org/drawingml/2006/main" noGrp="1"/>
          </p:cNvSpPr>
          <p:nvPr/>
        </p:nvSpPr>
        <p:spPr>
          <a:xfrm xmlns:a="http://schemas.openxmlformats.org/drawingml/2006/main">
            <a:off x="7905750" y="463867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Кеши реализации</a:t>
            </a:r>
          </a:p>
        </p:txBody>
      </p:sp>
      <p:sp>
        <p:nvSpPr>
          <p:cNvPr id="20" name="text-100">
            <a:extLst xmlns:a="http://schemas.openxmlformats.org/drawingml/2006/main">
              <a:ext uri="{FF2B5EF4-FFF2-40B4-BE49-F238E27FC236}">
                <a16:creationId xmlns:a16="http://schemas.microsoft.com/office/drawing/2014/main" id="{23A13C2D-6F9C-4AB5-BEDF-D4A5A38D6F44}"/>
              </a:ext>
            </a:extLst>
          </p:cNvPr>
          <p:cNvSpPr>
            <a:spLocks xmlns:a="http://schemas.openxmlformats.org/drawingml/2006/main" noGrp="1"/>
          </p:cNvSpPr>
          <p:nvPr/>
        </p:nvSpPr>
        <p:spPr>
          <a:xfrm xmlns:a="http://schemas.openxmlformats.org/drawingml/2006/main">
            <a:off x="7905750" y="508635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Кеширование чисел и строк —</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деталь реализации.</a:t>
            </a:r>
          </a:p>
        </p:txBody>
      </p:sp>
    </p:spTree>
    <p:extLst>
      <p:ext uri="{BB962C8B-B14F-4D97-AF65-F5344CB8AC3E}">
        <p14:creationId xmlns:p14="http://schemas.microsoft.com/office/powerpoint/2010/main" val="1058479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101">
            <a:extLst xmlns:a="http://schemas.openxmlformats.org/drawingml/2006/main">
              <a:ext uri="{FF2B5EF4-FFF2-40B4-BE49-F238E27FC236}">
                <a16:creationId xmlns:a16="http://schemas.microsoft.com/office/drawing/2014/main" id="{EB32801D-41CC-47C9-B24F-81A572014BB9}"/>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01 / МОДЕЛЬ ОБЪЕКТОВ</a:t>
            </a:r>
          </a:p>
        </p:txBody>
      </p:sp>
      <p:sp>
        <p:nvSpPr>
          <p:cNvPr id="2" name="title-7">
            <a:extLst xmlns:a="http://schemas.openxmlformats.org/drawingml/2006/main">
              <a:ext uri="{FF2B5EF4-FFF2-40B4-BE49-F238E27FC236}">
                <a16:creationId xmlns:a16="http://schemas.microsoft.com/office/drawing/2014/main" id="{F7AD4FC5-EEC6-4507-B374-FD50DCE6D8F0}"/>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Изменение объекта или новая привязка?</a:t>
            </a:r>
          </a:p>
        </p:txBody>
      </p:sp>
      <p:sp>
        <p:nvSpPr>
          <p:cNvPr id="3" name="text-102">
            <a:extLst xmlns:a="http://schemas.openxmlformats.org/drawingml/2006/main">
              <a:ext uri="{FF2B5EF4-FFF2-40B4-BE49-F238E27FC236}">
                <a16:creationId xmlns:a16="http://schemas.microsoft.com/office/drawing/2014/main" id="{548291CD-8B37-44E5-A0EF-776018C3EBB9}"/>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Одинаковая запись += может приводить к разному поведению.</a:t>
            </a:r>
          </a:p>
        </p:txBody>
      </p:sp>
      <p:sp>
        <p:nvSpPr>
          <p:cNvPr id="4" name="surface-103">
            <a:extLst xmlns:a="http://schemas.openxmlformats.org/drawingml/2006/main">
              <a:ext uri="{FF2B5EF4-FFF2-40B4-BE49-F238E27FC236}">
                <a16:creationId xmlns:a16="http://schemas.microsoft.com/office/drawing/2014/main" id="{8A0C3808-E6D6-4E89-80E5-C82D2EC0F476}"/>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104">
            <a:extLst xmlns:a="http://schemas.openxmlformats.org/drawingml/2006/main">
              <a:ext uri="{FF2B5EF4-FFF2-40B4-BE49-F238E27FC236}">
                <a16:creationId xmlns:a16="http://schemas.microsoft.com/office/drawing/2014/main" id="{075B83AB-D407-445C-B0F7-93C5D950FC78}"/>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105">
            <a:extLst xmlns:a="http://schemas.openxmlformats.org/drawingml/2006/main">
              <a:ext uri="{FF2B5EF4-FFF2-40B4-BE49-F238E27FC236}">
                <a16:creationId xmlns:a16="http://schemas.microsoft.com/office/drawing/2014/main" id="{9F8D0582-8088-44FA-909A-F7EF8BA22833}"/>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07</a:t>
            </a:r>
          </a:p>
        </p:txBody>
      </p:sp>
      <p:sp>
        <p:nvSpPr>
          <p:cNvPr id="7" name="text-106">
            <a:extLst xmlns:a="http://schemas.openxmlformats.org/drawingml/2006/main">
              <a:ext uri="{FF2B5EF4-FFF2-40B4-BE49-F238E27FC236}">
                <a16:creationId xmlns:a16="http://schemas.microsoft.com/office/drawing/2014/main" id="{BEC1F6B9-5881-4F5C-81E4-5D193A16C571}"/>
              </a:ext>
            </a:extLst>
          </p:cNvPr>
          <p:cNvSpPr>
            <a:spLocks xmlns:a="http://schemas.openxmlformats.org/drawingml/2006/main" noGrp="1"/>
          </p:cNvSpPr>
          <p:nvPr/>
        </p:nvSpPr>
        <p:spPr>
          <a:xfrm xmlns:a="http://schemas.openxmlformats.org/drawingml/2006/main">
            <a:off x="68580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СПИСОК ИЗМЕНЯЕТСЯ</a:t>
            </a:r>
          </a:p>
        </p:txBody>
      </p:sp>
      <p:sp>
        <p:nvSpPr>
          <p:cNvPr id="8" name="surface-107">
            <a:extLst xmlns:a="http://schemas.openxmlformats.org/drawingml/2006/main">
              <a:ext uri="{FF2B5EF4-FFF2-40B4-BE49-F238E27FC236}">
                <a16:creationId xmlns:a16="http://schemas.microsoft.com/office/drawing/2014/main" id="{3E64FC71-C95E-4162-846B-1018A8A4B0B4}"/>
              </a:ext>
            </a:extLst>
          </p:cNvPr>
          <p:cNvSpPr>
            <a:spLocks xmlns:a="http://schemas.openxmlformats.org/drawingml/2006/main" noGrp="1"/>
          </p:cNvSpPr>
          <p:nvPr/>
        </p:nvSpPr>
        <p:spPr>
          <a:xfrm xmlns:a="http://schemas.openxmlformats.org/drawingml/2006/main">
            <a:off x="68580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code-7-108">
            <a:extLst xmlns:a="http://schemas.openxmlformats.org/drawingml/2006/main">
              <a:ext uri="{FF2B5EF4-FFF2-40B4-BE49-F238E27FC236}">
                <a16:creationId xmlns:a16="http://schemas.microsoft.com/office/drawing/2014/main" id="{BFFB05BC-0FF6-42DE-8A37-2C4127B3F17B}"/>
              </a:ext>
            </a:extLst>
          </p:cNvPr>
          <p:cNvSpPr>
            <a:spLocks xmlns:a="http://schemas.openxmlformats.org/drawingml/2006/main" noGrp="1"/>
          </p:cNvSpPr>
          <p:nvPr/>
        </p:nvSpPr>
        <p:spPr>
          <a:xfrm xmlns:a="http://schemas.openxmlformats.org/drawingml/2006/main">
            <a:off x="84772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a = [1, 2]</a:t>
            </a:r>
          </a:p>
        </p:txBody>
      </p:sp>
      <p:sp>
        <p:nvSpPr>
          <p:cNvPr id="10" name="code-7-109">
            <a:extLst xmlns:a="http://schemas.openxmlformats.org/drawingml/2006/main">
              <a:ext uri="{FF2B5EF4-FFF2-40B4-BE49-F238E27FC236}">
                <a16:creationId xmlns:a16="http://schemas.microsoft.com/office/drawing/2014/main" id="{E8358DD7-CA89-4256-B06D-1B8DAA5FF618}"/>
              </a:ext>
            </a:extLst>
          </p:cNvPr>
          <p:cNvSpPr>
            <a:spLocks xmlns:a="http://schemas.openxmlformats.org/drawingml/2006/main" noGrp="1"/>
          </p:cNvSpPr>
          <p:nvPr/>
        </p:nvSpPr>
        <p:spPr>
          <a:xfrm xmlns:a="http://schemas.openxmlformats.org/drawingml/2006/main">
            <a:off x="84772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 = a</a:t>
            </a:r>
          </a:p>
        </p:txBody>
      </p:sp>
      <p:sp>
        <p:nvSpPr>
          <p:cNvPr id="11" name="code-7-110">
            <a:extLst xmlns:a="http://schemas.openxmlformats.org/drawingml/2006/main">
              <a:ext uri="{FF2B5EF4-FFF2-40B4-BE49-F238E27FC236}">
                <a16:creationId xmlns:a16="http://schemas.microsoft.com/office/drawing/2014/main" id="{6BB65BC4-8A68-4C1D-81E6-A3793807F9B0}"/>
              </a:ext>
            </a:extLst>
          </p:cNvPr>
          <p:cNvSpPr>
            <a:spLocks xmlns:a="http://schemas.openxmlformats.org/drawingml/2006/main" noGrp="1"/>
          </p:cNvSpPr>
          <p:nvPr/>
        </p:nvSpPr>
        <p:spPr>
          <a:xfrm xmlns:a="http://schemas.openxmlformats.org/drawingml/2006/main">
            <a:off x="84772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a += [3]</a:t>
            </a:r>
          </a:p>
        </p:txBody>
      </p:sp>
      <p:sp>
        <p:nvSpPr>
          <p:cNvPr id="12" name="code-7-111">
            <a:extLst xmlns:a="http://schemas.openxmlformats.org/drawingml/2006/main">
              <a:ext uri="{FF2B5EF4-FFF2-40B4-BE49-F238E27FC236}">
                <a16:creationId xmlns:a16="http://schemas.microsoft.com/office/drawing/2014/main" id="{BFC18B95-934E-48B6-9F3C-6FA5FD8F01E1}"/>
              </a:ext>
            </a:extLst>
          </p:cNvPr>
          <p:cNvSpPr>
            <a:spLocks xmlns:a="http://schemas.openxmlformats.org/drawingml/2006/main" noGrp="1"/>
          </p:cNvSpPr>
          <p:nvPr/>
        </p:nvSpPr>
        <p:spPr>
          <a:xfrm xmlns:a="http://schemas.openxmlformats.org/drawingml/2006/main">
            <a:off x="84772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13" name="code-7-112">
            <a:extLst xmlns:a="http://schemas.openxmlformats.org/drawingml/2006/main">
              <a:ext uri="{FF2B5EF4-FFF2-40B4-BE49-F238E27FC236}">
                <a16:creationId xmlns:a16="http://schemas.microsoft.com/office/drawing/2014/main" id="{1D5988E8-58DD-4061-B764-C4236EDAB10F}"/>
              </a:ext>
            </a:extLst>
          </p:cNvPr>
          <p:cNvSpPr>
            <a:spLocks xmlns:a="http://schemas.openxmlformats.org/drawingml/2006/main" noGrp="1"/>
          </p:cNvSpPr>
          <p:nvPr/>
        </p:nvSpPr>
        <p:spPr>
          <a:xfrm xmlns:a="http://schemas.openxmlformats.org/drawingml/2006/main">
            <a:off x="84772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print(b)  </a:t>
            </a:r>
            <a:r>
              <a:rPr sz="1935" b="0">
                <a:solidFill>
                  <a:srgbClr val="535A61"/>
                </a:solidFill>
                <a:latin typeface="Courier New"/>
                <a:ea typeface="Courier New"/>
                <a:cs typeface="Courier New"/>
              </a:rPr>
              <a:t># [1, 2, 3]</a:t>
            </a:r>
          </a:p>
        </p:txBody>
      </p:sp>
      <p:sp>
        <p:nvSpPr>
          <p:cNvPr id="14" name="text-113">
            <a:extLst xmlns:a="http://schemas.openxmlformats.org/drawingml/2006/main">
              <a:ext uri="{FF2B5EF4-FFF2-40B4-BE49-F238E27FC236}">
                <a16:creationId xmlns:a16="http://schemas.microsoft.com/office/drawing/2014/main" id="{53EB9108-936A-478B-B08B-C65D83BC521B}"/>
              </a:ext>
            </a:extLst>
          </p:cNvPr>
          <p:cNvSpPr>
            <a:spLocks xmlns:a="http://schemas.openxmlformats.org/drawingml/2006/main" noGrp="1"/>
          </p:cNvSpPr>
          <p:nvPr/>
        </p:nvSpPr>
        <p:spPr>
          <a:xfrm xmlns:a="http://schemas.openxmlformats.org/drawingml/2006/main">
            <a:off x="68580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list.__iadd__ расширяет</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существующий список.</a:t>
            </a:r>
          </a:p>
        </p:txBody>
      </p:sp>
      <p:sp>
        <p:nvSpPr>
          <p:cNvPr id="15" name="text-114">
            <a:extLst xmlns:a="http://schemas.openxmlformats.org/drawingml/2006/main">
              <a:ext uri="{FF2B5EF4-FFF2-40B4-BE49-F238E27FC236}">
                <a16:creationId xmlns:a16="http://schemas.microsoft.com/office/drawing/2014/main" id="{554F50D9-6C6E-49F3-A1B9-B6A8810190D7}"/>
              </a:ext>
            </a:extLst>
          </p:cNvPr>
          <p:cNvSpPr>
            <a:spLocks xmlns:a="http://schemas.openxmlformats.org/drawingml/2006/main" noGrp="1"/>
          </p:cNvSpPr>
          <p:nvPr/>
        </p:nvSpPr>
        <p:spPr>
          <a:xfrm xmlns:a="http://schemas.openxmlformats.org/drawingml/2006/main">
            <a:off x="622935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ЧИСЛО НЕ ИЗМЕНЯЕТСЯ</a:t>
            </a:r>
          </a:p>
        </p:txBody>
      </p:sp>
      <p:sp>
        <p:nvSpPr>
          <p:cNvPr id="16" name="surface-115">
            <a:extLst xmlns:a="http://schemas.openxmlformats.org/drawingml/2006/main">
              <a:ext uri="{FF2B5EF4-FFF2-40B4-BE49-F238E27FC236}">
                <a16:creationId xmlns:a16="http://schemas.microsoft.com/office/drawing/2014/main" id="{86C049CB-544B-4921-8DD8-AA8255EEFA98}"/>
              </a:ext>
            </a:extLst>
          </p:cNvPr>
          <p:cNvSpPr>
            <a:spLocks xmlns:a="http://schemas.openxmlformats.org/drawingml/2006/main" noGrp="1"/>
          </p:cNvSpPr>
          <p:nvPr/>
        </p:nvSpPr>
        <p:spPr>
          <a:xfrm xmlns:a="http://schemas.openxmlformats.org/drawingml/2006/main">
            <a:off x="622935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7" name="code-7-116">
            <a:extLst xmlns:a="http://schemas.openxmlformats.org/drawingml/2006/main">
              <a:ext uri="{FF2B5EF4-FFF2-40B4-BE49-F238E27FC236}">
                <a16:creationId xmlns:a16="http://schemas.microsoft.com/office/drawing/2014/main" id="{E79C9676-E459-44A8-835D-DEB670AF9661}"/>
              </a:ext>
            </a:extLst>
          </p:cNvPr>
          <p:cNvSpPr>
            <a:spLocks xmlns:a="http://schemas.openxmlformats.org/drawingml/2006/main" noGrp="1"/>
          </p:cNvSpPr>
          <p:nvPr/>
        </p:nvSpPr>
        <p:spPr>
          <a:xfrm xmlns:a="http://schemas.openxmlformats.org/drawingml/2006/main">
            <a:off x="639127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a = 10</a:t>
            </a:r>
          </a:p>
        </p:txBody>
      </p:sp>
      <p:sp>
        <p:nvSpPr>
          <p:cNvPr id="18" name="code-7-117">
            <a:extLst xmlns:a="http://schemas.openxmlformats.org/drawingml/2006/main">
              <a:ext uri="{FF2B5EF4-FFF2-40B4-BE49-F238E27FC236}">
                <a16:creationId xmlns:a16="http://schemas.microsoft.com/office/drawing/2014/main" id="{F70F302F-D3A7-4ACC-A96A-B4E36C438FED}"/>
              </a:ext>
            </a:extLst>
          </p:cNvPr>
          <p:cNvSpPr>
            <a:spLocks xmlns:a="http://schemas.openxmlformats.org/drawingml/2006/main" noGrp="1"/>
          </p:cNvSpPr>
          <p:nvPr/>
        </p:nvSpPr>
        <p:spPr>
          <a:xfrm xmlns:a="http://schemas.openxmlformats.org/drawingml/2006/main">
            <a:off x="639127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 = a</a:t>
            </a:r>
          </a:p>
        </p:txBody>
      </p:sp>
      <p:sp>
        <p:nvSpPr>
          <p:cNvPr id="19" name="code-7-118">
            <a:extLst xmlns:a="http://schemas.openxmlformats.org/drawingml/2006/main">
              <a:ext uri="{FF2B5EF4-FFF2-40B4-BE49-F238E27FC236}">
                <a16:creationId xmlns:a16="http://schemas.microsoft.com/office/drawing/2014/main" id="{A8A49764-8EDE-4E7D-BE7C-469437922E78}"/>
              </a:ext>
            </a:extLst>
          </p:cNvPr>
          <p:cNvSpPr>
            <a:spLocks xmlns:a="http://schemas.openxmlformats.org/drawingml/2006/main" noGrp="1"/>
          </p:cNvSpPr>
          <p:nvPr/>
        </p:nvSpPr>
        <p:spPr>
          <a:xfrm xmlns:a="http://schemas.openxmlformats.org/drawingml/2006/main">
            <a:off x="639127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a += 1</a:t>
            </a:r>
          </a:p>
        </p:txBody>
      </p:sp>
      <p:sp>
        <p:nvSpPr>
          <p:cNvPr id="20" name="code-7-119">
            <a:extLst xmlns:a="http://schemas.openxmlformats.org/drawingml/2006/main">
              <a:ext uri="{FF2B5EF4-FFF2-40B4-BE49-F238E27FC236}">
                <a16:creationId xmlns:a16="http://schemas.microsoft.com/office/drawing/2014/main" id="{C6D208C8-9F86-44F2-BDE5-19DF1B6B62AA}"/>
              </a:ext>
            </a:extLst>
          </p:cNvPr>
          <p:cNvSpPr>
            <a:spLocks xmlns:a="http://schemas.openxmlformats.org/drawingml/2006/main" noGrp="1"/>
          </p:cNvSpPr>
          <p:nvPr/>
        </p:nvSpPr>
        <p:spPr>
          <a:xfrm xmlns:a="http://schemas.openxmlformats.org/drawingml/2006/main">
            <a:off x="639127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21" name="code-7-120">
            <a:extLst xmlns:a="http://schemas.openxmlformats.org/drawingml/2006/main">
              <a:ext uri="{FF2B5EF4-FFF2-40B4-BE49-F238E27FC236}">
                <a16:creationId xmlns:a16="http://schemas.microsoft.com/office/drawing/2014/main" id="{C597E421-07AC-4A4E-98D4-82256D71D0D0}"/>
              </a:ext>
            </a:extLst>
          </p:cNvPr>
          <p:cNvSpPr>
            <a:spLocks xmlns:a="http://schemas.openxmlformats.org/drawingml/2006/main" noGrp="1"/>
          </p:cNvSpPr>
          <p:nvPr/>
        </p:nvSpPr>
        <p:spPr>
          <a:xfrm xmlns:a="http://schemas.openxmlformats.org/drawingml/2006/main">
            <a:off x="639127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print(b)  </a:t>
            </a:r>
            <a:r>
              <a:rPr sz="1935" b="0">
                <a:solidFill>
                  <a:srgbClr val="535A61"/>
                </a:solidFill>
                <a:latin typeface="Courier New"/>
                <a:ea typeface="Courier New"/>
                <a:cs typeface="Courier New"/>
              </a:rPr>
              <a:t># 10</a:t>
            </a:r>
          </a:p>
        </p:txBody>
      </p:sp>
      <p:sp>
        <p:nvSpPr>
          <p:cNvPr id="22" name="text-121">
            <a:extLst xmlns:a="http://schemas.openxmlformats.org/drawingml/2006/main">
              <a:ext uri="{FF2B5EF4-FFF2-40B4-BE49-F238E27FC236}">
                <a16:creationId xmlns:a16="http://schemas.microsoft.com/office/drawing/2014/main" id="{19659619-EAA9-4B62-A8CA-A013FC4BE83B}"/>
              </a:ext>
            </a:extLst>
          </p:cNvPr>
          <p:cNvSpPr>
            <a:spLocks xmlns:a="http://schemas.openxmlformats.org/drawingml/2006/main" noGrp="1"/>
          </p:cNvSpPr>
          <p:nvPr/>
        </p:nvSpPr>
        <p:spPr>
          <a:xfrm xmlns:a="http://schemas.openxmlformats.org/drawingml/2006/main">
            <a:off x="622935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Имя a связывается с результатом.</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Числовой объект b прежний.</a:t>
            </a:r>
          </a:p>
        </p:txBody>
      </p:sp>
      <p:sp>
        <p:nvSpPr>
          <p:cNvPr id="23" name="takeaway-7">
            <a:extLst xmlns:a="http://schemas.openxmlformats.org/drawingml/2006/main">
              <a:ext uri="{FF2B5EF4-FFF2-40B4-BE49-F238E27FC236}">
                <a16:creationId xmlns:a16="http://schemas.microsoft.com/office/drawing/2014/main" id="{82A2C1B5-4793-4481-9EB1-DF62B4A0436F}"/>
              </a:ext>
            </a:extLst>
          </p:cNvPr>
          <p:cNvSpPr>
            <a:spLocks xmlns:a="http://schemas.openxmlformats.org/drawingml/2006/main" noGrp="1"/>
          </p:cNvSpPr>
          <p:nvPr/>
        </p:nvSpPr>
        <p:spPr>
          <a:xfrm xmlns:a="http://schemas.openxmlformats.org/drawingml/2006/main">
            <a:off x="685800" y="59817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Изменяемость — свойство типа объекта, а не имени переменной.</a:t>
            </a:r>
          </a:p>
        </p:txBody>
      </p:sp>
    </p:spTree>
    <p:extLst>
      <p:ext uri="{BB962C8B-B14F-4D97-AF65-F5344CB8AC3E}">
        <p14:creationId xmlns:p14="http://schemas.microsoft.com/office/powerpoint/2010/main" val="14503897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122">
            <a:extLst xmlns:a="http://schemas.openxmlformats.org/drawingml/2006/main">
              <a:ext uri="{FF2B5EF4-FFF2-40B4-BE49-F238E27FC236}">
                <a16:creationId xmlns:a16="http://schemas.microsoft.com/office/drawing/2014/main" id="{8624A61C-73D6-49AD-B57F-8D2C9F32E600}"/>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01 / МОДЕЛЬ ОБЪЕКТОВ</a:t>
            </a:r>
          </a:p>
        </p:txBody>
      </p:sp>
      <p:sp>
        <p:nvSpPr>
          <p:cNvPr id="2" name="title-8">
            <a:extLst xmlns:a="http://schemas.openxmlformats.org/drawingml/2006/main">
              <a:ext uri="{FF2B5EF4-FFF2-40B4-BE49-F238E27FC236}">
                <a16:creationId xmlns:a16="http://schemas.microsoft.com/office/drawing/2014/main" id="{BCCC56DC-7B12-4AA0-8E3A-658C30A0B6EB}"/>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Функция получает доступ к тому же объекту</a:t>
            </a:r>
          </a:p>
        </p:txBody>
      </p:sp>
      <p:sp>
        <p:nvSpPr>
          <p:cNvPr id="3" name="text-123">
            <a:extLst xmlns:a="http://schemas.openxmlformats.org/drawingml/2006/main">
              <a:ext uri="{FF2B5EF4-FFF2-40B4-BE49-F238E27FC236}">
                <a16:creationId xmlns:a16="http://schemas.microsoft.com/office/drawing/2014/main" id="{9B9D2A59-5767-44E3-A3AF-FA0489F8C74D}"/>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Параметр — новое локальное имя. Автоматической копии аргумента нет.</a:t>
            </a:r>
          </a:p>
        </p:txBody>
      </p:sp>
      <p:sp>
        <p:nvSpPr>
          <p:cNvPr id="4" name="surface-124">
            <a:extLst xmlns:a="http://schemas.openxmlformats.org/drawingml/2006/main">
              <a:ext uri="{FF2B5EF4-FFF2-40B4-BE49-F238E27FC236}">
                <a16:creationId xmlns:a16="http://schemas.microsoft.com/office/drawing/2014/main" id="{CAFE6273-B231-472C-81FD-EF83141F3E77}"/>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125">
            <a:extLst xmlns:a="http://schemas.openxmlformats.org/drawingml/2006/main">
              <a:ext uri="{FF2B5EF4-FFF2-40B4-BE49-F238E27FC236}">
                <a16:creationId xmlns:a16="http://schemas.microsoft.com/office/drawing/2014/main" id="{C9AAD84D-EC38-4A02-92EB-72C8E0B66DB2}"/>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126">
            <a:extLst xmlns:a="http://schemas.openxmlformats.org/drawingml/2006/main">
              <a:ext uri="{FF2B5EF4-FFF2-40B4-BE49-F238E27FC236}">
                <a16:creationId xmlns:a16="http://schemas.microsoft.com/office/drawing/2014/main" id="{026D394D-3093-494E-89BF-FCD1BD1280A0}"/>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08</a:t>
            </a:r>
          </a:p>
        </p:txBody>
      </p:sp>
      <p:sp>
        <p:nvSpPr>
          <p:cNvPr id="7" name="surface-127">
            <a:extLst xmlns:a="http://schemas.openxmlformats.org/drawingml/2006/main">
              <a:ext uri="{FF2B5EF4-FFF2-40B4-BE49-F238E27FC236}">
                <a16:creationId xmlns:a16="http://schemas.microsoft.com/office/drawing/2014/main" id="{B15019BC-308F-4D99-B228-09317E1A4530}"/>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8-128">
            <a:extLst xmlns:a="http://schemas.openxmlformats.org/drawingml/2006/main">
              <a:ext uri="{FF2B5EF4-FFF2-40B4-BE49-F238E27FC236}">
                <a16:creationId xmlns:a16="http://schemas.microsoft.com/office/drawing/2014/main" id="{12683788-3207-48CB-A81B-C3FE3B303EC1}"/>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1">
                <a:solidFill>
                  <a:srgbClr val="286DA6"/>
                </a:solidFill>
                <a:latin typeface="Courier New"/>
                <a:ea typeface="Courier New"/>
                <a:cs typeface="Courier New"/>
              </a:rPr>
              <a:t>def</a:t>
            </a:r>
            <a:r>
              <a:rPr sz="1988" b="0">
                <a:solidFill>
                  <a:srgbClr val="131518"/>
                </a:solidFill>
                <a:latin typeface="Courier New"/>
                <a:ea typeface="Courier New"/>
                <a:cs typeface="Courier New"/>
              </a:rPr>
              <a:t> update(items):</a:t>
            </a:r>
          </a:p>
        </p:txBody>
      </p:sp>
      <p:sp>
        <p:nvSpPr>
          <p:cNvPr id="9" name="code-8-129">
            <a:extLst xmlns:a="http://schemas.openxmlformats.org/drawingml/2006/main">
              <a:ext uri="{FF2B5EF4-FFF2-40B4-BE49-F238E27FC236}">
                <a16:creationId xmlns:a16="http://schemas.microsoft.com/office/drawing/2014/main" id="{71D15EEF-EA5C-459D-9CD6-E4F55DDD0A7B}"/>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items.append(2)</a:t>
            </a:r>
          </a:p>
        </p:txBody>
      </p:sp>
      <p:sp>
        <p:nvSpPr>
          <p:cNvPr id="10" name="code-8-130">
            <a:extLst xmlns:a="http://schemas.openxmlformats.org/drawingml/2006/main">
              <a:ext uri="{FF2B5EF4-FFF2-40B4-BE49-F238E27FC236}">
                <a16:creationId xmlns:a16="http://schemas.microsoft.com/office/drawing/2014/main" id="{7859BE72-1389-4657-A70E-031B09B8EA1E}"/>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items = [99]</a:t>
            </a:r>
          </a:p>
        </p:txBody>
      </p:sp>
      <p:sp>
        <p:nvSpPr>
          <p:cNvPr id="11" name="code-8-131">
            <a:extLst xmlns:a="http://schemas.openxmlformats.org/drawingml/2006/main">
              <a:ext uri="{FF2B5EF4-FFF2-40B4-BE49-F238E27FC236}">
                <a16:creationId xmlns:a16="http://schemas.microsoft.com/office/drawing/2014/main" id="{84C70E20-B421-4E3F-978B-B73D81482C42}"/>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2" name="code-8-132">
            <a:extLst xmlns:a="http://schemas.openxmlformats.org/drawingml/2006/main">
              <a:ext uri="{FF2B5EF4-FFF2-40B4-BE49-F238E27FC236}">
                <a16:creationId xmlns:a16="http://schemas.microsoft.com/office/drawing/2014/main" id="{35B2B786-DD99-47DC-96DF-4C61C6D2F523}"/>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data = [1]</a:t>
            </a:r>
          </a:p>
        </p:txBody>
      </p:sp>
      <p:sp>
        <p:nvSpPr>
          <p:cNvPr id="13" name="code-8-133">
            <a:extLst xmlns:a="http://schemas.openxmlformats.org/drawingml/2006/main">
              <a:ext uri="{FF2B5EF4-FFF2-40B4-BE49-F238E27FC236}">
                <a16:creationId xmlns:a16="http://schemas.microsoft.com/office/drawing/2014/main" id="{F0CFA6D2-E109-47B8-8340-695A5CAEC64A}"/>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update(data)</a:t>
            </a:r>
          </a:p>
        </p:txBody>
      </p:sp>
      <p:sp>
        <p:nvSpPr>
          <p:cNvPr id="14" name="code-8-134">
            <a:extLst xmlns:a="http://schemas.openxmlformats.org/drawingml/2006/main">
              <a:ext uri="{FF2B5EF4-FFF2-40B4-BE49-F238E27FC236}">
                <a16:creationId xmlns:a16="http://schemas.microsoft.com/office/drawing/2014/main" id="{7C1FE60E-4C70-47DF-A3C5-84DBD8847FC9}"/>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print(data)  </a:t>
            </a:r>
            <a:r>
              <a:rPr sz="1988" b="0">
                <a:solidFill>
                  <a:srgbClr val="535A61"/>
                </a:solidFill>
                <a:latin typeface="Courier New"/>
                <a:ea typeface="Courier New"/>
                <a:cs typeface="Courier New"/>
              </a:rPr>
              <a:t># [1, 2]</a:t>
            </a:r>
          </a:p>
        </p:txBody>
      </p:sp>
      <p:sp>
        <p:nvSpPr>
          <p:cNvPr id="15" name="text-135">
            <a:extLst xmlns:a="http://schemas.openxmlformats.org/drawingml/2006/main">
              <a:ext uri="{FF2B5EF4-FFF2-40B4-BE49-F238E27FC236}">
                <a16:creationId xmlns:a16="http://schemas.microsoft.com/office/drawing/2014/main" id="{8139BF72-3264-461C-AD86-7BE52F216703}"/>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append(2)</a:t>
            </a:r>
          </a:p>
        </p:txBody>
      </p:sp>
      <p:sp>
        <p:nvSpPr>
          <p:cNvPr id="16" name="text-136">
            <a:extLst xmlns:a="http://schemas.openxmlformats.org/drawingml/2006/main">
              <a:ext uri="{FF2B5EF4-FFF2-40B4-BE49-F238E27FC236}">
                <a16:creationId xmlns:a16="http://schemas.microsoft.com/office/drawing/2014/main" id="{60AFD6DD-A64C-4B81-B70F-676A539FD5DA}"/>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Меняет общий список.</a:t>
            </a:r>
          </a:p>
        </p:txBody>
      </p:sp>
      <p:sp>
        <p:nvSpPr>
          <p:cNvPr id="17" name="text-137">
            <a:extLst xmlns:a="http://schemas.openxmlformats.org/drawingml/2006/main">
              <a:ext uri="{FF2B5EF4-FFF2-40B4-BE49-F238E27FC236}">
                <a16:creationId xmlns:a16="http://schemas.microsoft.com/office/drawing/2014/main" id="{4690EABF-029C-42DD-ADDC-7F905C2286F3}"/>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items = [99]</a:t>
            </a:r>
          </a:p>
        </p:txBody>
      </p:sp>
      <p:sp>
        <p:nvSpPr>
          <p:cNvPr id="18" name="text-138">
            <a:extLst xmlns:a="http://schemas.openxmlformats.org/drawingml/2006/main">
              <a:ext uri="{FF2B5EF4-FFF2-40B4-BE49-F238E27FC236}">
                <a16:creationId xmlns:a16="http://schemas.microsoft.com/office/drawing/2014/main" id="{5B9279CB-DC3F-4434-9805-984A15C7AAC1}"/>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Меняет только локальную</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привязку имени items.</a:t>
            </a:r>
          </a:p>
        </p:txBody>
      </p:sp>
      <p:sp>
        <p:nvSpPr>
          <p:cNvPr id="19" name="takeaway-8">
            <a:extLst xmlns:a="http://schemas.openxmlformats.org/drawingml/2006/main">
              <a:ext uri="{FF2B5EF4-FFF2-40B4-BE49-F238E27FC236}">
                <a16:creationId xmlns:a16="http://schemas.microsoft.com/office/drawing/2014/main" id="{313A94E8-BCF8-4359-91BF-AD4A85DD9D44}"/>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Эту модель часто называют передачей через совместное использование объекта.</a:t>
            </a:r>
          </a:p>
        </p:txBody>
      </p:sp>
    </p:spTree>
    <p:extLst>
      <p:ext uri="{BB962C8B-B14F-4D97-AF65-F5344CB8AC3E}">
        <p14:creationId xmlns:p14="http://schemas.microsoft.com/office/powerpoint/2010/main" val="912294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39">
            <a:extLst xmlns:a="http://schemas.openxmlformats.org/drawingml/2006/main">
              <a:ext uri="{FF2B5EF4-FFF2-40B4-BE49-F238E27FC236}">
                <a16:creationId xmlns:a16="http://schemas.microsoft.com/office/drawing/2014/main" id="{51F58B41-6A3F-4DD5-9429-DE61AA84E43B}"/>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02 / ВСТРОЕННЫЕ ТИПЫ</a:t>
            </a:r>
          </a:p>
        </p:txBody>
      </p:sp>
      <p:sp>
        <p:nvSpPr>
          <p:cNvPr id="2" name="title-9">
            <a:extLst xmlns:a="http://schemas.openxmlformats.org/drawingml/2006/main">
              <a:ext uri="{FF2B5EF4-FFF2-40B4-BE49-F238E27FC236}">
                <a16:creationId xmlns:a16="http://schemas.microsoft.com/office/drawing/2014/main" id="{E50B5457-A25C-48E7-8D6F-B317E1DE7F0F}"/>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Основные семейства типов</a:t>
            </a:r>
          </a:p>
        </p:txBody>
      </p:sp>
      <p:sp>
        <p:nvSpPr>
          <p:cNvPr id="3" name="text-140">
            <a:extLst xmlns:a="http://schemas.openxmlformats.org/drawingml/2006/main">
              <a:ext uri="{FF2B5EF4-FFF2-40B4-BE49-F238E27FC236}">
                <a16:creationId xmlns:a16="http://schemas.microsoft.com/office/drawing/2014/main" id="{C95B7B1C-4154-4D14-98D5-423B8C4F9620}"/>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Один объект может одновременно поддерживать несколько протоколов.</a:t>
            </a:r>
          </a:p>
        </p:txBody>
      </p:sp>
      <p:sp>
        <p:nvSpPr>
          <p:cNvPr id="4" name="surface-141">
            <a:extLst xmlns:a="http://schemas.openxmlformats.org/drawingml/2006/main">
              <a:ext uri="{FF2B5EF4-FFF2-40B4-BE49-F238E27FC236}">
                <a16:creationId xmlns:a16="http://schemas.microsoft.com/office/drawing/2014/main" id="{1E537425-7886-4322-B2F6-130A8B510B25}"/>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142">
            <a:extLst xmlns:a="http://schemas.openxmlformats.org/drawingml/2006/main">
              <a:ext uri="{FF2B5EF4-FFF2-40B4-BE49-F238E27FC236}">
                <a16:creationId xmlns:a16="http://schemas.microsoft.com/office/drawing/2014/main" id="{6AF17125-408B-47DE-BE84-C7FAC7EC63D4}"/>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143">
            <a:extLst xmlns:a="http://schemas.openxmlformats.org/drawingml/2006/main">
              <a:ext uri="{FF2B5EF4-FFF2-40B4-BE49-F238E27FC236}">
                <a16:creationId xmlns:a16="http://schemas.microsoft.com/office/drawing/2014/main" id="{46BE3268-79CF-43E8-831E-7220D77C6FF5}"/>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09</a:t>
            </a:r>
          </a:p>
        </p:txBody>
      </p:sp>
      <p:graphicFrame>
        <p:nvGraphicFramePr>
          <p:cNvPr id="14" name=""/>
          <p:cNvGraphicFramePr/>
          <p:nvPr/>
        </p:nvGraphicFramePr>
        <p:xfrm>
          <a:off xmlns:a="http://schemas.openxmlformats.org/drawingml/2006/main" x="685800" y="2181225"/>
          <a:ext xmlns:a="http://schemas.openxmlformats.org/drawingml/2006/main" cx="10820400" cy="3533775"/>
        </p:xfrm>
        <a:graphic xmlns:a="http://schemas.openxmlformats.org/drawingml/2006/main">
          <a:graphicData uri="http://schemas.openxmlformats.org/drawingml/2006/table">
            <a:tbl>
              <a:tblPr firstRow="0" bandRow="0"/>
              <a:tblGrid>
                <a:gridCol w="2857500"/>
                <a:gridCol w="4762500"/>
                <a:gridCol w="3200400"/>
              </a:tblGrid>
              <a:tr h="438150">
                <a:tc>
                  <a:txBody>
                    <a:bodyPr wrap="square" lIns="114300" tIns="57150" rIns="114300" bIns="57150">
                      <a:noAutofit/>
                    </a:bodyPr>
                    <a:lstStyle/>
                    <a:p>
                      <a:r>
                        <a:rPr sz="1800" b="1">
                          <a:solidFill>
                            <a:srgbClr val="131518"/>
                          </a:solidFill>
                          <a:latin typeface="Arial"/>
                          <a:ea typeface="Arial"/>
                          <a:cs typeface="Arial"/>
                        </a:rPr>
                        <a:t>Семейство</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Примеры</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Изменяемость</a:t>
                      </a:r>
                    </a:p>
                  </a:txBody>
                  <a:tcPr marL="91440" marR="91440" marT="45720" marB="45720" anchor="ctr">
                    <a:solidFill>
                      <a:srgbClr val="F0F1F2"/>
                    </a:solidFill>
                  </a:tcPr>
                </a:tc>
              </a:tr>
              <a:tr h="515938">
                <a:tc>
                  <a:txBody>
                    <a:bodyPr wrap="square" lIns="114300" tIns="57150" rIns="114300" bIns="57150">
                      <a:noAutofit/>
                    </a:bodyPr>
                    <a:lstStyle/>
                    <a:p>
                      <a:r>
                        <a:rPr sz="1740" b="0">
                          <a:solidFill>
                            <a:srgbClr val="131518"/>
                          </a:solidFill>
                          <a:latin typeface="Arial"/>
                          <a:ea typeface="Arial"/>
                          <a:cs typeface="Arial"/>
                        </a:rPr>
                        <a:t>Числа и логика</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int, float, complex, bool</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Нет</a:t>
                      </a:r>
                    </a:p>
                  </a:txBody>
                  <a:tcPr marL="91440" marR="91440" marT="45720" marB="45720" anchor="ctr">
                    <a:solidFill>
                      <a:srgbClr val="FFFFFF"/>
                    </a:solidFill>
                  </a:tcPr>
                </a:tc>
              </a:tr>
              <a:tr h="515938">
                <a:tc>
                  <a:txBody>
                    <a:bodyPr wrap="square" lIns="114300" tIns="57150" rIns="114300" bIns="57150">
                      <a:noAutofit/>
                    </a:bodyPr>
                    <a:lstStyle/>
                    <a:p>
                      <a:r>
                        <a:rPr sz="1740" b="0">
                          <a:solidFill>
                            <a:srgbClr val="131518"/>
                          </a:solidFill>
                          <a:latin typeface="Arial"/>
                          <a:ea typeface="Arial"/>
                          <a:cs typeface="Arial"/>
                        </a:rPr>
                        <a:t>Текст и бинарные данные</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str, bytes / bytearray</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Нет / да</a:t>
                      </a:r>
                    </a:p>
                  </a:txBody>
                  <a:tcPr marL="91440" marR="91440" marT="45720" marB="45720" anchor="ctr">
                    <a:solidFill>
                      <a:srgbClr val="FFFFFF"/>
                    </a:solidFill>
                  </a:tcPr>
                </a:tc>
              </a:tr>
              <a:tr h="515938">
                <a:tc>
                  <a:txBody>
                    <a:bodyPr wrap="square" lIns="114300" tIns="57150" rIns="114300" bIns="57150">
                      <a:noAutofit/>
                    </a:bodyPr>
                    <a:lstStyle/>
                    <a:p>
                      <a:r>
                        <a:rPr sz="1740" b="0">
                          <a:solidFill>
                            <a:srgbClr val="131518"/>
                          </a:solidFill>
                          <a:latin typeface="Arial"/>
                          <a:ea typeface="Arial"/>
                          <a:cs typeface="Arial"/>
                        </a:rPr>
                        <a:t>Последовательности</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list / tuple, range</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Да / нет</a:t>
                      </a:r>
                    </a:p>
                  </a:txBody>
                  <a:tcPr marL="91440" marR="91440" marT="45720" marB="45720" anchor="ctr">
                    <a:solidFill>
                      <a:srgbClr val="FFFFFF"/>
                    </a:solidFill>
                  </a:tcPr>
                </a:tc>
              </a:tr>
              <a:tr h="515938">
                <a:tc>
                  <a:txBody>
                    <a:bodyPr wrap="square" lIns="114300" tIns="57150" rIns="114300" bIns="57150">
                      <a:noAutofit/>
                    </a:bodyPr>
                    <a:lstStyle/>
                    <a:p>
                      <a:r>
                        <a:rPr sz="1740" b="0">
                          <a:solidFill>
                            <a:srgbClr val="131518"/>
                          </a:solidFill>
                          <a:latin typeface="Arial"/>
                          <a:ea typeface="Arial"/>
                          <a:cs typeface="Arial"/>
                        </a:rPr>
                        <a:t>Отображения</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dict</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Да</a:t>
                      </a:r>
                    </a:p>
                  </a:txBody>
                  <a:tcPr marL="91440" marR="91440" marT="45720" marB="45720" anchor="ctr">
                    <a:solidFill>
                      <a:srgbClr val="FFFFFF"/>
                    </a:solidFill>
                  </a:tcPr>
                </a:tc>
              </a:tr>
              <a:tr h="515938">
                <a:tc>
                  <a:txBody>
                    <a:bodyPr wrap="square" lIns="114300" tIns="57150" rIns="114300" bIns="57150">
                      <a:noAutofit/>
                    </a:bodyPr>
                    <a:lstStyle/>
                    <a:p>
                      <a:r>
                        <a:rPr sz="1740" b="0">
                          <a:solidFill>
                            <a:srgbClr val="131518"/>
                          </a:solidFill>
                          <a:latin typeface="Arial"/>
                          <a:ea typeface="Arial"/>
                          <a:cs typeface="Arial"/>
                        </a:rPr>
                        <a:t>Множества</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set / frozenset</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Да / нет</a:t>
                      </a:r>
                    </a:p>
                  </a:txBody>
                  <a:tcPr marL="91440" marR="91440" marT="45720" marB="45720" anchor="ctr">
                    <a:solidFill>
                      <a:srgbClr val="FFFFFF"/>
                    </a:solidFill>
                  </a:tcPr>
                </a:tc>
              </a:tr>
              <a:tr h="515938">
                <a:tc>
                  <a:txBody>
                    <a:bodyPr wrap="square" lIns="114300" tIns="57150" rIns="114300" bIns="57150">
                      <a:noAutofit/>
                    </a:bodyPr>
                    <a:lstStyle/>
                    <a:p>
                      <a:r>
                        <a:rPr sz="1740" b="0">
                          <a:solidFill>
                            <a:srgbClr val="131518"/>
                          </a:solidFill>
                          <a:latin typeface="Arial"/>
                          <a:ea typeface="Arial"/>
                          <a:cs typeface="Arial"/>
                        </a:rPr>
                        <a:t>Отсутствие значения</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None (тип NoneType)</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Нет</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5450104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44">
            <a:extLst xmlns:a="http://schemas.openxmlformats.org/drawingml/2006/main">
              <a:ext uri="{FF2B5EF4-FFF2-40B4-BE49-F238E27FC236}">
                <a16:creationId xmlns:a16="http://schemas.microsoft.com/office/drawing/2014/main" id="{F88EAF03-9331-4A85-BF6D-5CD8E6D2059E}"/>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02 / ЧИСЛА</a:t>
            </a:r>
          </a:p>
        </p:txBody>
      </p:sp>
      <p:sp>
        <p:nvSpPr>
          <p:cNvPr id="2" name="title-10">
            <a:extLst xmlns:a="http://schemas.openxmlformats.org/drawingml/2006/main">
              <a:ext uri="{FF2B5EF4-FFF2-40B4-BE49-F238E27FC236}">
                <a16:creationId xmlns:a16="http://schemas.microsoft.com/office/drawing/2014/main" id="{48B142FC-675C-4D09-B8F9-CAB24DC7CDE1}"/>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int: точные целые и деление вниз</a:t>
            </a:r>
          </a:p>
        </p:txBody>
      </p:sp>
      <p:sp>
        <p:nvSpPr>
          <p:cNvPr id="3" name="text-145">
            <a:extLst xmlns:a="http://schemas.openxmlformats.org/drawingml/2006/main">
              <a:ext uri="{FF2B5EF4-FFF2-40B4-BE49-F238E27FC236}">
                <a16:creationId xmlns:a16="http://schemas.microsoft.com/office/drawing/2014/main" id="{0E645BE5-4623-4476-8775-8040AB0F8702}"/>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Фиксированного переполнения на 32 или 64 битах у Python int нет.</a:t>
            </a:r>
          </a:p>
        </p:txBody>
      </p:sp>
      <p:sp>
        <p:nvSpPr>
          <p:cNvPr id="4" name="surface-146">
            <a:extLst xmlns:a="http://schemas.openxmlformats.org/drawingml/2006/main">
              <a:ext uri="{FF2B5EF4-FFF2-40B4-BE49-F238E27FC236}">
                <a16:creationId xmlns:a16="http://schemas.microsoft.com/office/drawing/2014/main" id="{4DD3D2A3-8178-468A-9646-45E4E543FA3B}"/>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147">
            <a:extLst xmlns:a="http://schemas.openxmlformats.org/drawingml/2006/main">
              <a:ext uri="{FF2B5EF4-FFF2-40B4-BE49-F238E27FC236}">
                <a16:creationId xmlns:a16="http://schemas.microsoft.com/office/drawing/2014/main" id="{0B8F0149-927A-42ED-ACED-180B5CA8A237}"/>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148">
            <a:extLst xmlns:a="http://schemas.openxmlformats.org/drawingml/2006/main">
              <a:ext uri="{FF2B5EF4-FFF2-40B4-BE49-F238E27FC236}">
                <a16:creationId xmlns:a16="http://schemas.microsoft.com/office/drawing/2014/main" id="{51A02F1B-E210-489E-9CA4-115C5E65DA1B}"/>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10</a:t>
            </a:r>
          </a:p>
        </p:txBody>
      </p:sp>
      <p:sp>
        <p:nvSpPr>
          <p:cNvPr id="7" name="surface-149">
            <a:extLst xmlns:a="http://schemas.openxmlformats.org/drawingml/2006/main">
              <a:ext uri="{FF2B5EF4-FFF2-40B4-BE49-F238E27FC236}">
                <a16:creationId xmlns:a16="http://schemas.microsoft.com/office/drawing/2014/main" id="{609D8199-3B88-4B54-8FD0-124CC9028DAE}"/>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10-150">
            <a:extLst xmlns:a="http://schemas.openxmlformats.org/drawingml/2006/main">
              <a:ext uri="{FF2B5EF4-FFF2-40B4-BE49-F238E27FC236}">
                <a16:creationId xmlns:a16="http://schemas.microsoft.com/office/drawing/2014/main" id="{77B706A7-2C17-40A4-9632-D36CBB0D5D94}"/>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2 ** 100        </a:t>
            </a:r>
            <a:r>
              <a:rPr sz="1988" b="0">
                <a:solidFill>
                  <a:srgbClr val="535A61"/>
                </a:solidFill>
                <a:latin typeface="Courier New"/>
                <a:ea typeface="Courier New"/>
                <a:cs typeface="Courier New"/>
              </a:rPr>
              <a:t># большое точное int</a:t>
            </a:r>
          </a:p>
        </p:txBody>
      </p:sp>
      <p:sp>
        <p:nvSpPr>
          <p:cNvPr id="9" name="code-10-151">
            <a:extLst xmlns:a="http://schemas.openxmlformats.org/drawingml/2006/main">
              <a:ext uri="{FF2B5EF4-FFF2-40B4-BE49-F238E27FC236}">
                <a16:creationId xmlns:a16="http://schemas.microsoft.com/office/drawing/2014/main" id="{45432ABE-DCD9-4EE2-858C-99750210F4B8}"/>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7 / 3           </a:t>
            </a:r>
            <a:r>
              <a:rPr sz="1988" b="0">
                <a:solidFill>
                  <a:srgbClr val="535A61"/>
                </a:solidFill>
                <a:latin typeface="Courier New"/>
                <a:ea typeface="Courier New"/>
                <a:cs typeface="Courier New"/>
              </a:rPr>
              <a:t># 2.3333333333333335</a:t>
            </a:r>
          </a:p>
        </p:txBody>
      </p:sp>
      <p:sp>
        <p:nvSpPr>
          <p:cNvPr id="10" name="code-10-152">
            <a:extLst xmlns:a="http://schemas.openxmlformats.org/drawingml/2006/main">
              <a:ext uri="{FF2B5EF4-FFF2-40B4-BE49-F238E27FC236}">
                <a16:creationId xmlns:a16="http://schemas.microsoft.com/office/drawing/2014/main" id="{941A1DCF-12A0-4F55-BBA0-74638270FDF3}"/>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7 // 3          </a:t>
            </a:r>
            <a:r>
              <a:rPr sz="1988" b="0">
                <a:solidFill>
                  <a:srgbClr val="535A61"/>
                </a:solidFill>
                <a:latin typeface="Courier New"/>
                <a:ea typeface="Courier New"/>
                <a:cs typeface="Courier New"/>
              </a:rPr>
              <a:t># 2</a:t>
            </a:r>
          </a:p>
        </p:txBody>
      </p:sp>
      <p:sp>
        <p:nvSpPr>
          <p:cNvPr id="11" name="code-10-153">
            <a:extLst xmlns:a="http://schemas.openxmlformats.org/drawingml/2006/main">
              <a:ext uri="{FF2B5EF4-FFF2-40B4-BE49-F238E27FC236}">
                <a16:creationId xmlns:a16="http://schemas.microsoft.com/office/drawing/2014/main" id="{1D50608F-2DDB-4EF4-A941-086C5E4B837D}"/>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-7 // 3         </a:t>
            </a:r>
            <a:r>
              <a:rPr sz="1988" b="0">
                <a:solidFill>
                  <a:srgbClr val="535A61"/>
                </a:solidFill>
                <a:latin typeface="Courier New"/>
                <a:ea typeface="Courier New"/>
                <a:cs typeface="Courier New"/>
              </a:rPr>
              <a:t># -3</a:t>
            </a:r>
          </a:p>
        </p:txBody>
      </p:sp>
      <p:sp>
        <p:nvSpPr>
          <p:cNvPr id="12" name="code-10-154">
            <a:extLst xmlns:a="http://schemas.openxmlformats.org/drawingml/2006/main">
              <a:ext uri="{FF2B5EF4-FFF2-40B4-BE49-F238E27FC236}">
                <a16:creationId xmlns:a16="http://schemas.microsoft.com/office/drawing/2014/main" id="{DDB00DE2-12A7-46C2-BC3E-337B0E2E8196}"/>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-7 % 3          </a:t>
            </a:r>
            <a:r>
              <a:rPr sz="1988" b="0">
                <a:solidFill>
                  <a:srgbClr val="535A61"/>
                </a:solidFill>
                <a:latin typeface="Courier New"/>
                <a:ea typeface="Courier New"/>
                <a:cs typeface="Courier New"/>
              </a:rPr>
              <a:t># 2</a:t>
            </a:r>
          </a:p>
        </p:txBody>
      </p:sp>
      <p:sp>
        <p:nvSpPr>
          <p:cNvPr id="13" name="code-10-155">
            <a:extLst xmlns:a="http://schemas.openxmlformats.org/drawingml/2006/main">
              <a:ext uri="{FF2B5EF4-FFF2-40B4-BE49-F238E27FC236}">
                <a16:creationId xmlns:a16="http://schemas.microsoft.com/office/drawing/2014/main" id="{AEA6B299-BC1C-4FB2-985C-A478C4963D3B}"/>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divmod(-7, 3)   </a:t>
            </a:r>
            <a:r>
              <a:rPr sz="1988" b="0">
                <a:solidFill>
                  <a:srgbClr val="535A61"/>
                </a:solidFill>
                <a:latin typeface="Courier New"/>
                <a:ea typeface="Courier New"/>
                <a:cs typeface="Courier New"/>
              </a:rPr>
              <a:t># (-3, 2)</a:t>
            </a:r>
          </a:p>
        </p:txBody>
      </p:sp>
      <p:sp>
        <p:nvSpPr>
          <p:cNvPr id="14" name="text-156">
            <a:extLst xmlns:a="http://schemas.openxmlformats.org/drawingml/2006/main">
              <a:ext uri="{FF2B5EF4-FFF2-40B4-BE49-F238E27FC236}">
                <a16:creationId xmlns:a16="http://schemas.microsoft.com/office/drawing/2014/main" id="{9135003C-7675-4065-869F-E9E7A5B364C6}"/>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Большие целые</a:t>
            </a:r>
          </a:p>
        </p:txBody>
      </p:sp>
      <p:sp>
        <p:nvSpPr>
          <p:cNvPr id="15" name="text-157">
            <a:extLst xmlns:a="http://schemas.openxmlformats.org/drawingml/2006/main">
              <a:ext uri="{FF2B5EF4-FFF2-40B4-BE49-F238E27FC236}">
                <a16:creationId xmlns:a16="http://schemas.microsoft.com/office/drawing/2014/main" id="{C85EC0C0-A8C8-4A79-BD80-AB56C99D0155}"/>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Размер ограничен ресурсами.</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Больше разрядов — больше затрат.</a:t>
            </a:r>
          </a:p>
        </p:txBody>
      </p:sp>
      <p:sp>
        <p:nvSpPr>
          <p:cNvPr id="16" name="text-158">
            <a:extLst xmlns:a="http://schemas.openxmlformats.org/drawingml/2006/main">
              <a:ext uri="{FF2B5EF4-FFF2-40B4-BE49-F238E27FC236}">
                <a16:creationId xmlns:a16="http://schemas.microsoft.com/office/drawing/2014/main" id="{B2557651-8670-4203-B690-045E359D769B}"/>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Частное и остаток</a:t>
            </a:r>
          </a:p>
        </p:txBody>
      </p:sp>
      <p:sp>
        <p:nvSpPr>
          <p:cNvPr id="17" name="text-159">
            <a:extLst xmlns:a="http://schemas.openxmlformats.org/drawingml/2006/main">
              <a:ext uri="{FF2B5EF4-FFF2-40B4-BE49-F238E27FC236}">
                <a16:creationId xmlns:a16="http://schemas.microsoft.com/office/drawing/2014/main" id="{DB421874-18A2-4A39-8054-C788B555301E}"/>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a == (a // b) * b + a % b</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для целых, b != 0.</a:t>
            </a:r>
          </a:p>
        </p:txBody>
      </p:sp>
      <p:sp>
        <p:nvSpPr>
          <p:cNvPr id="18" name="takeaway-10">
            <a:extLst xmlns:a="http://schemas.openxmlformats.org/drawingml/2006/main">
              <a:ext uri="{FF2B5EF4-FFF2-40B4-BE49-F238E27FC236}">
                <a16:creationId xmlns:a16="http://schemas.microsoft.com/office/drawing/2014/main" id="{D3972E9D-D3F3-44CF-A50B-800C4DD7804F}"/>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 округляет частное к минус бесконечности, а не к нулю.</a:t>
            </a:r>
          </a:p>
        </p:txBody>
      </p:sp>
    </p:spTree>
    <p:extLst>
      <p:ext uri="{BB962C8B-B14F-4D97-AF65-F5344CB8AC3E}">
        <p14:creationId xmlns:p14="http://schemas.microsoft.com/office/powerpoint/2010/main" val="19402635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160">
            <a:extLst xmlns:a="http://schemas.openxmlformats.org/drawingml/2006/main">
              <a:ext uri="{FF2B5EF4-FFF2-40B4-BE49-F238E27FC236}">
                <a16:creationId xmlns:a16="http://schemas.microsoft.com/office/drawing/2014/main" id="{F179E6CE-F0D2-43B0-B237-0B48199EDF4D}"/>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02 / ЧИСЛА</a:t>
            </a:r>
          </a:p>
        </p:txBody>
      </p:sp>
      <p:sp>
        <p:nvSpPr>
          <p:cNvPr id="2" name="title-11">
            <a:extLst xmlns:a="http://schemas.openxmlformats.org/drawingml/2006/main">
              <a:ext uri="{FF2B5EF4-FFF2-40B4-BE49-F238E27FC236}">
                <a16:creationId xmlns:a16="http://schemas.microsoft.com/office/drawing/2014/main" id="{C56F4891-8B0C-4886-98FB-98031A5F74DF}"/>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float хранит приближение</a:t>
            </a:r>
          </a:p>
        </p:txBody>
      </p:sp>
      <p:sp>
        <p:nvSpPr>
          <p:cNvPr id="3" name="text-161">
            <a:extLst xmlns:a="http://schemas.openxmlformats.org/drawingml/2006/main">
              <a:ext uri="{FF2B5EF4-FFF2-40B4-BE49-F238E27FC236}">
                <a16:creationId xmlns:a16="http://schemas.microsoft.com/office/drawing/2014/main" id="{D7A2FFAF-3786-44B5-845D-1C83EA0B683F}"/>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Многие десятичные дроби не имеют конечной двоичной записи.</a:t>
            </a:r>
          </a:p>
        </p:txBody>
      </p:sp>
      <p:sp>
        <p:nvSpPr>
          <p:cNvPr id="4" name="surface-162">
            <a:extLst xmlns:a="http://schemas.openxmlformats.org/drawingml/2006/main">
              <a:ext uri="{FF2B5EF4-FFF2-40B4-BE49-F238E27FC236}">
                <a16:creationId xmlns:a16="http://schemas.microsoft.com/office/drawing/2014/main" id="{51A1FEAF-B573-45B4-9D43-636646A6BD18}"/>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163">
            <a:extLst xmlns:a="http://schemas.openxmlformats.org/drawingml/2006/main">
              <a:ext uri="{FF2B5EF4-FFF2-40B4-BE49-F238E27FC236}">
                <a16:creationId xmlns:a16="http://schemas.microsoft.com/office/drawing/2014/main" id="{90FC8538-5601-4358-BBA0-52DC7B5DDFD2}"/>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164">
            <a:extLst xmlns:a="http://schemas.openxmlformats.org/drawingml/2006/main">
              <a:ext uri="{FF2B5EF4-FFF2-40B4-BE49-F238E27FC236}">
                <a16:creationId xmlns:a16="http://schemas.microsoft.com/office/drawing/2014/main" id="{84F9BD4F-DAC2-4C46-B310-73708312B8BB}"/>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11</a:t>
            </a:r>
          </a:p>
        </p:txBody>
      </p:sp>
      <p:sp>
        <p:nvSpPr>
          <p:cNvPr id="7" name="surface-165">
            <a:extLst xmlns:a="http://schemas.openxmlformats.org/drawingml/2006/main">
              <a:ext uri="{FF2B5EF4-FFF2-40B4-BE49-F238E27FC236}">
                <a16:creationId xmlns:a16="http://schemas.microsoft.com/office/drawing/2014/main" id="{69285C20-A5E8-49A0-B042-31804A726060}"/>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11-166">
            <a:extLst xmlns:a="http://schemas.openxmlformats.org/drawingml/2006/main">
              <a:ext uri="{FF2B5EF4-FFF2-40B4-BE49-F238E27FC236}">
                <a16:creationId xmlns:a16="http://schemas.microsoft.com/office/drawing/2014/main" id="{C6BEB450-FD1C-4D24-8DF9-0D0640FC01A7}"/>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0.1 + 0.2</a:t>
            </a:r>
          </a:p>
        </p:txBody>
      </p:sp>
      <p:sp>
        <p:nvSpPr>
          <p:cNvPr id="9" name="code-11-167">
            <a:extLst xmlns:a="http://schemas.openxmlformats.org/drawingml/2006/main">
              <a:ext uri="{FF2B5EF4-FFF2-40B4-BE49-F238E27FC236}">
                <a16:creationId xmlns:a16="http://schemas.microsoft.com/office/drawing/2014/main" id="{999A4E0D-B382-44EF-A76C-C679A99B68AA}"/>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535A61"/>
                </a:solidFill>
                <a:latin typeface="Courier New"/>
                <a:ea typeface="Courier New"/>
                <a:cs typeface="Courier New"/>
              </a:rPr>
              <a:t># 0.30000000000000004</a:t>
            </a:r>
          </a:p>
        </p:txBody>
      </p:sp>
      <p:sp>
        <p:nvSpPr>
          <p:cNvPr id="10" name="code-11-168">
            <a:extLst xmlns:a="http://schemas.openxmlformats.org/drawingml/2006/main">
              <a:ext uri="{FF2B5EF4-FFF2-40B4-BE49-F238E27FC236}">
                <a16:creationId xmlns:a16="http://schemas.microsoft.com/office/drawing/2014/main" id="{489BF46C-3EDA-43BA-8B6C-E59B1FDE88A0}"/>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1" name="code-11-169">
            <a:extLst xmlns:a="http://schemas.openxmlformats.org/drawingml/2006/main">
              <a:ext uri="{FF2B5EF4-FFF2-40B4-BE49-F238E27FC236}">
                <a16:creationId xmlns:a16="http://schemas.microsoft.com/office/drawing/2014/main" id="{5193444A-1ABD-4F8B-8605-3486CC31CA55}"/>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0.1 + 0.2 == 0.3  </a:t>
            </a:r>
            <a:r>
              <a:rPr sz="1988" b="0">
                <a:solidFill>
                  <a:srgbClr val="535A61"/>
                </a:solidFill>
                <a:latin typeface="Courier New"/>
                <a:ea typeface="Courier New"/>
                <a:cs typeface="Courier New"/>
              </a:rPr>
              <a:t># False</a:t>
            </a:r>
          </a:p>
        </p:txBody>
      </p:sp>
      <p:sp>
        <p:nvSpPr>
          <p:cNvPr id="12" name="code-11-170">
            <a:extLst xmlns:a="http://schemas.openxmlformats.org/drawingml/2006/main">
              <a:ext uri="{FF2B5EF4-FFF2-40B4-BE49-F238E27FC236}">
                <a16:creationId xmlns:a16="http://schemas.microsoft.com/office/drawing/2014/main" id="{1D77874D-6CF6-4FF2-B296-BB20E2A7501D}"/>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3" name="code-11-171">
            <a:extLst xmlns:a="http://schemas.openxmlformats.org/drawingml/2006/main">
              <a:ext uri="{FF2B5EF4-FFF2-40B4-BE49-F238E27FC236}">
                <a16:creationId xmlns:a16="http://schemas.microsoft.com/office/drawing/2014/main" id="{37C6E29E-4CB0-4640-A965-21EC14010831}"/>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1">
                <a:solidFill>
                  <a:srgbClr val="286DA6"/>
                </a:solidFill>
                <a:latin typeface="Courier New"/>
                <a:ea typeface="Courier New"/>
                <a:cs typeface="Courier New"/>
              </a:rPr>
              <a:t>from</a:t>
            </a:r>
            <a:r>
              <a:rPr sz="1988" b="0">
                <a:solidFill>
                  <a:srgbClr val="131518"/>
                </a:solidFill>
                <a:latin typeface="Courier New"/>
                <a:ea typeface="Courier New"/>
                <a:cs typeface="Courier New"/>
              </a:rPr>
              <a:t> math </a:t>
            </a:r>
            <a:r>
              <a:rPr sz="1988" b="1">
                <a:solidFill>
                  <a:srgbClr val="286DA6"/>
                </a:solidFill>
                <a:latin typeface="Courier New"/>
                <a:ea typeface="Courier New"/>
                <a:cs typeface="Courier New"/>
              </a:rPr>
              <a:t>import</a:t>
            </a:r>
            <a:r>
              <a:rPr sz="1988" b="0">
                <a:solidFill>
                  <a:srgbClr val="131518"/>
                </a:solidFill>
                <a:latin typeface="Courier New"/>
                <a:ea typeface="Courier New"/>
                <a:cs typeface="Courier New"/>
              </a:rPr>
              <a:t> isclose</a:t>
            </a:r>
          </a:p>
        </p:txBody>
      </p:sp>
      <p:sp>
        <p:nvSpPr>
          <p:cNvPr id="14" name="code-11-172">
            <a:extLst xmlns:a="http://schemas.openxmlformats.org/drawingml/2006/main">
              <a:ext uri="{FF2B5EF4-FFF2-40B4-BE49-F238E27FC236}">
                <a16:creationId xmlns:a16="http://schemas.microsoft.com/office/drawing/2014/main" id="{3852A15D-AF80-4B58-9845-32CF706A014F}"/>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isclose(0.1 + 0.2, 0.3)  </a:t>
            </a:r>
            <a:r>
              <a:rPr sz="1988" b="0">
                <a:solidFill>
                  <a:srgbClr val="535A61"/>
                </a:solidFill>
                <a:latin typeface="Courier New"/>
                <a:ea typeface="Courier New"/>
                <a:cs typeface="Courier New"/>
              </a:rPr>
              <a:t># True</a:t>
            </a:r>
          </a:p>
        </p:txBody>
      </p:sp>
      <p:sp>
        <p:nvSpPr>
          <p:cNvPr id="15" name="text-173">
            <a:extLst xmlns:a="http://schemas.openxmlformats.org/drawingml/2006/main">
              <a:ext uri="{FF2B5EF4-FFF2-40B4-BE49-F238E27FC236}">
                <a16:creationId xmlns:a16="http://schemas.microsoft.com/office/drawing/2014/main" id="{03C8FEBD-DDB5-40CF-84EB-3CAFCAD06F17}"/>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Обычный CPython</a:t>
            </a:r>
          </a:p>
        </p:txBody>
      </p:sp>
      <p:sp>
        <p:nvSpPr>
          <p:cNvPr id="16" name="text-174">
            <a:extLst xmlns:a="http://schemas.openxmlformats.org/drawingml/2006/main">
              <a:ext uri="{FF2B5EF4-FFF2-40B4-BE49-F238E27FC236}">
                <a16:creationId xmlns:a16="http://schemas.microsoft.com/office/drawing/2014/main" id="{F34AF0B2-BC88-4A9F-ADA9-8F7B714AA9BD}"/>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Обычно IEEE 754 binary64.</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Значащая часть: 53 бита.</a:t>
            </a:r>
          </a:p>
        </p:txBody>
      </p:sp>
      <p:sp>
        <p:nvSpPr>
          <p:cNvPr id="17" name="text-175">
            <a:extLst xmlns:a="http://schemas.openxmlformats.org/drawingml/2006/main">
              <a:ext uri="{FF2B5EF4-FFF2-40B4-BE49-F238E27FC236}">
                <a16:creationId xmlns:a16="http://schemas.microsoft.com/office/drawing/2014/main" id="{FBB8093E-40CF-4D05-B76C-6FCCD26E0D9D}"/>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Выбор допуска</a:t>
            </a:r>
          </a:p>
        </p:txBody>
      </p:sp>
      <p:sp>
        <p:nvSpPr>
          <p:cNvPr id="18" name="text-176">
            <a:extLst xmlns:a="http://schemas.openxmlformats.org/drawingml/2006/main">
              <a:ext uri="{FF2B5EF4-FFF2-40B4-BE49-F238E27FC236}">
                <a16:creationId xmlns:a16="http://schemas.microsoft.com/office/drawing/2014/main" id="{516D7A71-61EB-426A-9CE3-2F31B2A3183D}"/>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Выбирайте rel_tol и abs_tol</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по смыслу задачи.</a:t>
            </a:r>
          </a:p>
        </p:txBody>
      </p:sp>
      <p:sp>
        <p:nvSpPr>
          <p:cNvPr id="19" name="takeaway-11">
            <a:extLst xmlns:a="http://schemas.openxmlformats.org/drawingml/2006/main">
              <a:ext uri="{FF2B5EF4-FFF2-40B4-BE49-F238E27FC236}">
                <a16:creationId xmlns:a16="http://schemas.microsoft.com/office/drawing/2014/main" id="{BCF9C0FB-3FFA-4BC7-B284-CF0EE0F6E383}"/>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Округление при выводе не повышает точность хранимого числа.</a:t>
            </a:r>
          </a:p>
        </p:txBody>
      </p:sp>
    </p:spTree>
    <p:extLst>
      <p:ext uri="{BB962C8B-B14F-4D97-AF65-F5344CB8AC3E}">
        <p14:creationId xmlns:p14="http://schemas.microsoft.com/office/powerpoint/2010/main" val="9678924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77">
            <a:extLst xmlns:a="http://schemas.openxmlformats.org/drawingml/2006/main">
              <a:ext uri="{FF2B5EF4-FFF2-40B4-BE49-F238E27FC236}">
                <a16:creationId xmlns:a16="http://schemas.microsoft.com/office/drawing/2014/main" id="{3978E2C8-F060-4C17-826E-C419C0E31533}"/>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02 / ЧИСЛА</a:t>
            </a:r>
          </a:p>
        </p:txBody>
      </p:sp>
      <p:sp>
        <p:nvSpPr>
          <p:cNvPr id="2" name="surface-178">
            <a:extLst xmlns:a="http://schemas.openxmlformats.org/drawingml/2006/main">
              <a:ext uri="{FF2B5EF4-FFF2-40B4-BE49-F238E27FC236}">
                <a16:creationId xmlns:a16="http://schemas.microsoft.com/office/drawing/2014/main" id="{3E932F09-601E-4054-9140-4F6776A5313E}"/>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3" name="text-179">
            <a:extLst xmlns:a="http://schemas.openxmlformats.org/drawingml/2006/main">
              <a:ext uri="{FF2B5EF4-FFF2-40B4-BE49-F238E27FC236}">
                <a16:creationId xmlns:a16="http://schemas.microsoft.com/office/drawing/2014/main" id="{54F946E9-4EFD-4734-8AAB-5DE393AC678E}"/>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4" name="text-180">
            <a:extLst xmlns:a="http://schemas.openxmlformats.org/drawingml/2006/main">
              <a:ext uri="{FF2B5EF4-FFF2-40B4-BE49-F238E27FC236}">
                <a16:creationId xmlns:a16="http://schemas.microsoft.com/office/drawing/2014/main" id="{802F44D5-5A94-4DA8-89C5-841EF3709ECA}"/>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12</a:t>
            </a:r>
          </a:p>
        </p:txBody>
      </p:sp>
      <p:sp>
        <p:nvSpPr>
          <p:cNvPr id="5" name="text-181">
            <a:extLst xmlns:a="http://schemas.openxmlformats.org/drawingml/2006/main">
              <a:ext uri="{FF2B5EF4-FFF2-40B4-BE49-F238E27FC236}">
                <a16:creationId xmlns:a16="http://schemas.microsoft.com/office/drawing/2014/main" id="{A78F78B7-853E-471D-AADB-2D17F14CA183}"/>
              </a:ext>
            </a:extLst>
          </p:cNvPr>
          <p:cNvSpPr>
            <a:spLocks xmlns:a="http://schemas.openxmlformats.org/drawingml/2006/main" noGrp="1"/>
          </p:cNvSpPr>
          <p:nvPr/>
        </p:nvSpPr>
        <p:spPr>
          <a:xfrm xmlns:a="http://schemas.openxmlformats.org/drawingml/2006/main">
            <a:off x="685800" y="1066800"/>
            <a:ext cx="59817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«Ну почти же 0.3…»</a:t>
            </a:r>
          </a:p>
        </p:txBody>
      </p:sp>
      <p:sp>
        <p:nvSpPr>
          <p:cNvPr id="6" name="text-182">
            <a:extLst xmlns:a="http://schemas.openxmlformats.org/drawingml/2006/main">
              <a:ext uri="{FF2B5EF4-FFF2-40B4-BE49-F238E27FC236}">
                <a16:creationId xmlns:a16="http://schemas.microsoft.com/office/drawing/2014/main" id="{852DDE4A-3702-4122-9B2F-3B3EF64A8192}"/>
              </a:ext>
            </a:extLst>
          </p:cNvPr>
          <p:cNvSpPr>
            <a:spLocks xmlns:a="http://schemas.openxmlformats.org/drawingml/2006/main" noGrp="1"/>
          </p:cNvSpPr>
          <p:nvPr/>
        </p:nvSpPr>
        <p:spPr>
          <a:xfrm xmlns:a="http://schemas.openxmlformats.org/drawingml/2006/main">
            <a:off x="685800" y="2600325"/>
            <a:ext cx="5648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5A61"/>
                </a:solidFill>
                <a:latin typeface="Arial"/>
                <a:ea typeface="Arial"/>
                <a:cs typeface="Arial"/>
              </a:defRPr>
            </a:pPr>
            <a:r>
              <a:rPr sz="2175" b="0">
                <a:solidFill>
                  <a:srgbClr val="535A61"/>
                </a:solidFill>
                <a:latin typeface="Arial"/>
                <a:ea typeface="Arial"/>
                <a:cs typeface="Arial"/>
              </a:rPr>
              <a:t>Компьютер тоже умеет</a:t>
            </a:r>
          </a:p>
          <a:p xmlns:a="http://schemas.openxmlformats.org/drawingml/2006/main">
            <a:pPr algn="l">
              <a:defRPr sz="2175" b="0">
                <a:solidFill>
                  <a:srgbClr val="535A61"/>
                </a:solidFill>
                <a:latin typeface="Arial"/>
                <a:ea typeface="Arial"/>
                <a:cs typeface="Arial"/>
              </a:defRPr>
            </a:pPr>
            <a:r>
              <a:rPr sz="2175" b="0">
                <a:solidFill>
                  <a:srgbClr val="535A61"/>
                </a:solidFill>
                <a:latin typeface="Arial"/>
                <a:ea typeface="Arial"/>
                <a:cs typeface="Arial"/>
              </a:rPr>
              <a:t>быть формально правым.</a:t>
            </a:r>
          </a:p>
        </p:txBody>
      </p:sp>
      <p:sp>
        <p:nvSpPr>
          <p:cNvPr id="7" name="surface-183">
            <a:extLst xmlns:a="http://schemas.openxmlformats.org/drawingml/2006/main">
              <a:ext uri="{FF2B5EF4-FFF2-40B4-BE49-F238E27FC236}">
                <a16:creationId xmlns:a16="http://schemas.microsoft.com/office/drawing/2014/main" id="{C98874FB-F6C9-442F-B5FD-E99D57C292FE}"/>
              </a:ext>
            </a:extLst>
          </p:cNvPr>
          <p:cNvSpPr>
            <a:spLocks xmlns:a="http://schemas.openxmlformats.org/drawingml/2006/main" noGrp="1"/>
          </p:cNvSpPr>
          <p:nvPr/>
        </p:nvSpPr>
        <p:spPr>
          <a:xfrm xmlns:a="http://schemas.openxmlformats.org/drawingml/2006/main">
            <a:off x="685800" y="3514725"/>
            <a:ext cx="5657850" cy="1537526"/>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12-184">
            <a:extLst xmlns:a="http://schemas.openxmlformats.org/drawingml/2006/main">
              <a:ext uri="{FF2B5EF4-FFF2-40B4-BE49-F238E27FC236}">
                <a16:creationId xmlns:a16="http://schemas.microsoft.com/office/drawing/2014/main" id="{630162B2-83E4-4353-8538-C4350D64686A}"/>
              </a:ext>
            </a:extLst>
          </p:cNvPr>
          <p:cNvSpPr>
            <a:spLocks xmlns:a="http://schemas.openxmlformats.org/drawingml/2006/main" noGrp="1"/>
          </p:cNvSpPr>
          <p:nvPr/>
        </p:nvSpPr>
        <p:spPr>
          <a:xfrm xmlns:a="http://schemas.openxmlformats.org/drawingml/2006/main">
            <a:off x="866775" y="3695700"/>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131518"/>
                </a:solidFill>
                <a:latin typeface="Courier New"/>
                <a:ea typeface="Courier New"/>
                <a:cs typeface="Courier New"/>
              </a:rPr>
              <a:t>format(0.1 + 0.2, ".1f")</a:t>
            </a:r>
          </a:p>
        </p:txBody>
      </p:sp>
      <p:sp>
        <p:nvSpPr>
          <p:cNvPr id="9" name="code-12-185">
            <a:extLst xmlns:a="http://schemas.openxmlformats.org/drawingml/2006/main">
              <a:ext uri="{FF2B5EF4-FFF2-40B4-BE49-F238E27FC236}">
                <a16:creationId xmlns:a16="http://schemas.microsoft.com/office/drawing/2014/main" id="{78FF98A6-2E54-4802-ADEC-447A68164B0B}"/>
              </a:ext>
            </a:extLst>
          </p:cNvPr>
          <p:cNvSpPr>
            <a:spLocks xmlns:a="http://schemas.openxmlformats.org/drawingml/2006/main" noGrp="1"/>
          </p:cNvSpPr>
          <p:nvPr/>
        </p:nvSpPr>
        <p:spPr>
          <a:xfrm xmlns:a="http://schemas.openxmlformats.org/drawingml/2006/main">
            <a:off x="866775" y="3989594"/>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535A61"/>
                </a:solidFill>
                <a:latin typeface="Courier New"/>
                <a:ea typeface="Courier New"/>
                <a:cs typeface="Courier New"/>
              </a:rPr>
              <a:t># "0.3"</a:t>
            </a:r>
          </a:p>
        </p:txBody>
      </p:sp>
      <p:sp>
        <p:nvSpPr>
          <p:cNvPr id="10" name="code-12-186">
            <a:extLst xmlns:a="http://schemas.openxmlformats.org/drawingml/2006/main">
              <a:ext uri="{FF2B5EF4-FFF2-40B4-BE49-F238E27FC236}">
                <a16:creationId xmlns:a16="http://schemas.microsoft.com/office/drawing/2014/main" id="{E64887CC-9183-4AEC-BEBD-71826F9A02B9}"/>
              </a:ext>
            </a:extLst>
          </p:cNvPr>
          <p:cNvSpPr>
            <a:spLocks xmlns:a="http://schemas.openxmlformats.org/drawingml/2006/main" noGrp="1"/>
          </p:cNvSpPr>
          <p:nvPr/>
        </p:nvSpPr>
        <p:spPr>
          <a:xfrm xmlns:a="http://schemas.openxmlformats.org/drawingml/2006/main">
            <a:off x="866775" y="4283488"/>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131518"/>
                </a:solidFill>
                <a:latin typeface="Courier New"/>
                <a:ea typeface="Courier New"/>
                <a:cs typeface="Courier New"/>
              </a:rPr>
              <a:t> </a:t>
            </a:r>
          </a:p>
        </p:txBody>
      </p:sp>
      <p:sp>
        <p:nvSpPr>
          <p:cNvPr id="11" name="code-12-187">
            <a:extLst xmlns:a="http://schemas.openxmlformats.org/drawingml/2006/main">
              <a:ext uri="{FF2B5EF4-FFF2-40B4-BE49-F238E27FC236}">
                <a16:creationId xmlns:a16="http://schemas.microsoft.com/office/drawing/2014/main" id="{7C4F8B77-91A4-4ACA-A66B-763471F6866C}"/>
              </a:ext>
            </a:extLst>
          </p:cNvPr>
          <p:cNvSpPr>
            <a:spLocks xmlns:a="http://schemas.openxmlformats.org/drawingml/2006/main" noGrp="1"/>
          </p:cNvSpPr>
          <p:nvPr/>
        </p:nvSpPr>
        <p:spPr>
          <a:xfrm xmlns:a="http://schemas.openxmlformats.org/drawingml/2006/main">
            <a:off x="866775" y="4577382"/>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535A61"/>
                </a:solidFill>
                <a:latin typeface="Courier New"/>
                <a:ea typeface="Courier New"/>
                <a:cs typeface="Courier New"/>
              </a:rPr>
              <a:t># Красивый вывод — это строка.</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bacbfb5783744d3"/>
          <a:stretch xmlns:a="http://schemas.openxmlformats.org/drawingml/2006/main"/>
        </p:blipFill>
        <p:spPr>
          <a:xfrm xmlns:a="http://schemas.openxmlformats.org/drawingml/2006/main">
            <a:off x="7066843" y="952500"/>
            <a:ext cx="3963813" cy="4953000"/>
          </a:xfrm>
          <a:prstGeom xmlns:a="http://schemas.openxmlformats.org/drawingml/2006/main" prst="rect">
            <a:avLst/>
          </a:prstGeom>
        </p:spPr>
      </p:pic>
      <p:sp>
        <p:nvSpPr>
          <p:cNvPr id="13" name="takeaway-12">
            <a:extLst xmlns:a="http://schemas.openxmlformats.org/drawingml/2006/main">
              <a:ext uri="{FF2B5EF4-FFF2-40B4-BE49-F238E27FC236}">
                <a16:creationId xmlns:a16="http://schemas.microsoft.com/office/drawing/2014/main" id="{FC410054-1CA9-46CF-ABF9-C815F40D76C4}"/>
              </a:ext>
            </a:extLst>
          </p:cNvPr>
          <p:cNvSpPr>
            <a:spLocks xmlns:a="http://schemas.openxmlformats.org/drawingml/2006/main" noGrp="1"/>
          </p:cNvSpPr>
          <p:nvPr/>
        </p:nvSpPr>
        <p:spPr>
          <a:xfrm xmlns:a="http://schemas.openxmlformats.org/drawingml/2006/main">
            <a:off x="685800" y="6000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Представление для человека и точное значение — разные вещи.</a:t>
            </a:r>
          </a:p>
        </p:txBody>
      </p:sp>
    </p:spTree>
    <p:extLst>
      <p:ext uri="{BB962C8B-B14F-4D97-AF65-F5344CB8AC3E}">
        <p14:creationId xmlns:p14="http://schemas.microsoft.com/office/powerpoint/2010/main" val="587623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188">
            <a:extLst xmlns:a="http://schemas.openxmlformats.org/drawingml/2006/main">
              <a:ext uri="{FF2B5EF4-FFF2-40B4-BE49-F238E27FC236}">
                <a16:creationId xmlns:a16="http://schemas.microsoft.com/office/drawing/2014/main" id="{0503F337-3B55-4F67-8B15-4AAC13513E36}"/>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02 / ЧИСЛА</a:t>
            </a:r>
          </a:p>
        </p:txBody>
      </p:sp>
      <p:sp>
        <p:nvSpPr>
          <p:cNvPr id="2" name="title-13">
            <a:extLst xmlns:a="http://schemas.openxmlformats.org/drawingml/2006/main">
              <a:ext uri="{FF2B5EF4-FFF2-40B4-BE49-F238E27FC236}">
                <a16:creationId xmlns:a16="http://schemas.microsoft.com/office/drawing/2014/main" id="{ED84D2BE-8F36-4315-9134-D0635E237BF0}"/>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Числовой тип выбирают под задачу</a:t>
            </a:r>
          </a:p>
        </p:txBody>
      </p:sp>
      <p:sp>
        <p:nvSpPr>
          <p:cNvPr id="3" name="text-189">
            <a:extLst xmlns:a="http://schemas.openxmlformats.org/drawingml/2006/main">
              <a:ext uri="{FF2B5EF4-FFF2-40B4-BE49-F238E27FC236}">
                <a16:creationId xmlns:a16="http://schemas.microsoft.com/office/drawing/2014/main" id="{1CA77C4D-3689-45E5-82CC-82C10BE4EC0A}"/>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Другой тип задаёт другую модель вычисления.</a:t>
            </a:r>
          </a:p>
        </p:txBody>
      </p:sp>
      <p:sp>
        <p:nvSpPr>
          <p:cNvPr id="4" name="surface-190">
            <a:extLst xmlns:a="http://schemas.openxmlformats.org/drawingml/2006/main">
              <a:ext uri="{FF2B5EF4-FFF2-40B4-BE49-F238E27FC236}">
                <a16:creationId xmlns:a16="http://schemas.microsoft.com/office/drawing/2014/main" id="{D4594A3A-4408-4A84-B708-2555E31079A8}"/>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191">
            <a:extLst xmlns:a="http://schemas.openxmlformats.org/drawingml/2006/main">
              <a:ext uri="{FF2B5EF4-FFF2-40B4-BE49-F238E27FC236}">
                <a16:creationId xmlns:a16="http://schemas.microsoft.com/office/drawing/2014/main" id="{A5EDE181-9468-4BD9-807B-EF1B108F0AD1}"/>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192">
            <a:extLst xmlns:a="http://schemas.openxmlformats.org/drawingml/2006/main">
              <a:ext uri="{FF2B5EF4-FFF2-40B4-BE49-F238E27FC236}">
                <a16:creationId xmlns:a16="http://schemas.microsoft.com/office/drawing/2014/main" id="{0FB837F1-B727-413B-8DBC-0C442690FD31}"/>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13</a:t>
            </a:r>
          </a:p>
        </p:txBody>
      </p:sp>
      <p:sp>
        <p:nvSpPr>
          <p:cNvPr id="7" name="text-193">
            <a:extLst xmlns:a="http://schemas.openxmlformats.org/drawingml/2006/main">
              <a:ext uri="{FF2B5EF4-FFF2-40B4-BE49-F238E27FC236}">
                <a16:creationId xmlns:a16="http://schemas.microsoft.com/office/drawing/2014/main" id="{D4A1638E-50AF-4B38-A94F-D8BDE098799B}"/>
              </a:ext>
            </a:extLst>
          </p:cNvPr>
          <p:cNvSpPr>
            <a:spLocks xmlns:a="http://schemas.openxmlformats.org/drawingml/2006/main" noGrp="1"/>
          </p:cNvSpPr>
          <p:nvPr/>
        </p:nvSpPr>
        <p:spPr>
          <a:xfrm xmlns:a="http://schemas.openxmlformats.org/drawingml/2006/main">
            <a:off x="685800" y="2171700"/>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86DA6"/>
                </a:solidFill>
                <a:latin typeface="Arial"/>
                <a:ea typeface="Arial"/>
                <a:cs typeface="Arial"/>
              </a:defRPr>
            </a:pPr>
            <a:r>
              <a:rPr sz="2550" b="1">
                <a:solidFill>
                  <a:srgbClr val="286DA6"/>
                </a:solidFill>
                <a:latin typeface="Arial"/>
                <a:ea typeface="Arial"/>
                <a:cs typeface="Arial"/>
              </a:rPr>
              <a:t>Decimal</a:t>
            </a:r>
          </a:p>
        </p:txBody>
      </p:sp>
      <p:sp>
        <p:nvSpPr>
          <p:cNvPr id="8" name="code-13-194">
            <a:extLst xmlns:a="http://schemas.openxmlformats.org/drawingml/2006/main">
              <a:ext uri="{FF2B5EF4-FFF2-40B4-BE49-F238E27FC236}">
                <a16:creationId xmlns:a16="http://schemas.microsoft.com/office/drawing/2014/main" id="{BB1FFB3A-55F9-4A7B-B4EA-02D7C6BB4658}"/>
              </a:ext>
            </a:extLst>
          </p:cNvPr>
          <p:cNvSpPr>
            <a:spLocks xmlns:a="http://schemas.openxmlformats.org/drawingml/2006/main" noGrp="1"/>
          </p:cNvSpPr>
          <p:nvPr/>
        </p:nvSpPr>
        <p:spPr>
          <a:xfrm xmlns:a="http://schemas.openxmlformats.org/drawingml/2006/main">
            <a:off x="2695575" y="223837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1">
                <a:solidFill>
                  <a:srgbClr val="286DA6"/>
                </a:solidFill>
                <a:latin typeface="Courier New"/>
                <a:ea typeface="Courier New"/>
                <a:cs typeface="Courier New"/>
              </a:rPr>
              <a:t>from</a:t>
            </a:r>
            <a:r>
              <a:rPr sz="1688" b="0">
                <a:solidFill>
                  <a:srgbClr val="131518"/>
                </a:solidFill>
                <a:latin typeface="Courier New"/>
                <a:ea typeface="Courier New"/>
                <a:cs typeface="Courier New"/>
              </a:rPr>
              <a:t> decimal </a:t>
            </a:r>
            <a:r>
              <a:rPr sz="1688" b="1">
                <a:solidFill>
                  <a:srgbClr val="286DA6"/>
                </a:solidFill>
                <a:latin typeface="Courier New"/>
                <a:ea typeface="Courier New"/>
                <a:cs typeface="Courier New"/>
              </a:rPr>
              <a:t>import</a:t>
            </a:r>
            <a:r>
              <a:rPr sz="1688" b="0">
                <a:solidFill>
                  <a:srgbClr val="131518"/>
                </a:solidFill>
                <a:latin typeface="Courier New"/>
                <a:ea typeface="Courier New"/>
                <a:cs typeface="Courier New"/>
              </a:rPr>
              <a:t> Decimal</a:t>
            </a:r>
          </a:p>
        </p:txBody>
      </p:sp>
      <p:sp>
        <p:nvSpPr>
          <p:cNvPr id="9" name="code-13-195">
            <a:extLst xmlns:a="http://schemas.openxmlformats.org/drawingml/2006/main">
              <a:ext uri="{FF2B5EF4-FFF2-40B4-BE49-F238E27FC236}">
                <a16:creationId xmlns:a16="http://schemas.microsoft.com/office/drawing/2014/main" id="{0775422A-DD04-4514-8388-48D4D646952C}"/>
              </a:ext>
            </a:extLst>
          </p:cNvPr>
          <p:cNvSpPr>
            <a:spLocks xmlns:a="http://schemas.openxmlformats.org/drawingml/2006/main" noGrp="1"/>
          </p:cNvSpPr>
          <p:nvPr/>
        </p:nvSpPr>
        <p:spPr>
          <a:xfrm xmlns:a="http://schemas.openxmlformats.org/drawingml/2006/main">
            <a:off x="2695575" y="249555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131518"/>
                </a:solidFill>
                <a:latin typeface="Courier New"/>
                <a:ea typeface="Courier New"/>
                <a:cs typeface="Courier New"/>
              </a:rPr>
              <a:t> </a:t>
            </a:r>
          </a:p>
        </p:txBody>
      </p:sp>
      <p:sp>
        <p:nvSpPr>
          <p:cNvPr id="10" name="code-13-196">
            <a:extLst xmlns:a="http://schemas.openxmlformats.org/drawingml/2006/main">
              <a:ext uri="{FF2B5EF4-FFF2-40B4-BE49-F238E27FC236}">
                <a16:creationId xmlns:a16="http://schemas.microsoft.com/office/drawing/2014/main" id="{410AE92F-D745-4A05-8C72-9F822BCED73E}"/>
              </a:ext>
            </a:extLst>
          </p:cNvPr>
          <p:cNvSpPr>
            <a:spLocks xmlns:a="http://schemas.openxmlformats.org/drawingml/2006/main" noGrp="1"/>
          </p:cNvSpPr>
          <p:nvPr/>
        </p:nvSpPr>
        <p:spPr>
          <a:xfrm xmlns:a="http://schemas.openxmlformats.org/drawingml/2006/main">
            <a:off x="2695575" y="275272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131518"/>
                </a:solidFill>
                <a:latin typeface="Courier New"/>
                <a:ea typeface="Courier New"/>
                <a:cs typeface="Courier New"/>
              </a:rPr>
              <a:t>Decimal("0.1") + Decimal("0.2")</a:t>
            </a:r>
          </a:p>
        </p:txBody>
      </p:sp>
      <p:sp>
        <p:nvSpPr>
          <p:cNvPr id="11" name="code-13-197">
            <a:extLst xmlns:a="http://schemas.openxmlformats.org/drawingml/2006/main">
              <a:ext uri="{FF2B5EF4-FFF2-40B4-BE49-F238E27FC236}">
                <a16:creationId xmlns:a16="http://schemas.microsoft.com/office/drawing/2014/main" id="{3C11CB96-9868-47C5-A4F1-25FFD029032A}"/>
              </a:ext>
            </a:extLst>
          </p:cNvPr>
          <p:cNvSpPr>
            <a:spLocks xmlns:a="http://schemas.openxmlformats.org/drawingml/2006/main" noGrp="1"/>
          </p:cNvSpPr>
          <p:nvPr/>
        </p:nvSpPr>
        <p:spPr>
          <a:xfrm xmlns:a="http://schemas.openxmlformats.org/drawingml/2006/main">
            <a:off x="2695575" y="300990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535A61"/>
                </a:solidFill>
                <a:latin typeface="Courier New"/>
                <a:ea typeface="Courier New"/>
                <a:cs typeface="Courier New"/>
              </a:rPr>
              <a:t># Decimal("0.3")</a:t>
            </a:r>
          </a:p>
        </p:txBody>
      </p:sp>
      <p:sp>
        <p:nvSpPr>
          <p:cNvPr id="12" name="text-198">
            <a:extLst xmlns:a="http://schemas.openxmlformats.org/drawingml/2006/main">
              <a:ext uri="{FF2B5EF4-FFF2-40B4-BE49-F238E27FC236}">
                <a16:creationId xmlns:a16="http://schemas.microsoft.com/office/drawing/2014/main" id="{62259821-F634-4F89-BE51-66721BA37110}"/>
              </a:ext>
            </a:extLst>
          </p:cNvPr>
          <p:cNvSpPr>
            <a:spLocks xmlns:a="http://schemas.openxmlformats.org/drawingml/2006/main" noGrp="1"/>
          </p:cNvSpPr>
          <p:nvPr/>
        </p:nvSpPr>
        <p:spPr>
          <a:xfrm xmlns:a="http://schemas.openxmlformats.org/drawingml/2006/main">
            <a:off x="7943850" y="2171700"/>
            <a:ext cx="35623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Десятичная арифметика.</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Точность и округление</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задаются контекстом.</a:t>
            </a:r>
          </a:p>
        </p:txBody>
      </p:sp>
      <p:sp>
        <p:nvSpPr>
          <p:cNvPr id="13" name="surface-199">
            <a:extLst xmlns:a="http://schemas.openxmlformats.org/drawingml/2006/main">
              <a:ext uri="{FF2B5EF4-FFF2-40B4-BE49-F238E27FC236}">
                <a16:creationId xmlns:a16="http://schemas.microsoft.com/office/drawing/2014/main" id="{3DD15614-01EA-4C0E-A29F-021A711BBECE}"/>
              </a:ext>
            </a:extLst>
          </p:cNvPr>
          <p:cNvSpPr>
            <a:spLocks xmlns:a="http://schemas.openxmlformats.org/drawingml/2006/main" noGrp="1"/>
          </p:cNvSpPr>
          <p:nvPr/>
        </p:nvSpPr>
        <p:spPr>
          <a:xfrm xmlns:a="http://schemas.openxmlformats.org/drawingml/2006/main">
            <a:off x="685800" y="33623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4" name="text-200">
            <a:extLst xmlns:a="http://schemas.openxmlformats.org/drawingml/2006/main">
              <a:ext uri="{FF2B5EF4-FFF2-40B4-BE49-F238E27FC236}">
                <a16:creationId xmlns:a16="http://schemas.microsoft.com/office/drawing/2014/main" id="{6890163D-2B9C-47D0-BDBB-676DEE3320C8}"/>
              </a:ext>
            </a:extLst>
          </p:cNvPr>
          <p:cNvSpPr>
            <a:spLocks xmlns:a="http://schemas.openxmlformats.org/drawingml/2006/main" noGrp="1"/>
          </p:cNvSpPr>
          <p:nvPr/>
        </p:nvSpPr>
        <p:spPr>
          <a:xfrm xmlns:a="http://schemas.openxmlformats.org/drawingml/2006/main">
            <a:off x="685800" y="3514725"/>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86DA6"/>
                </a:solidFill>
                <a:latin typeface="Arial"/>
                <a:ea typeface="Arial"/>
                <a:cs typeface="Arial"/>
              </a:defRPr>
            </a:pPr>
            <a:r>
              <a:rPr sz="2550" b="1">
                <a:solidFill>
                  <a:srgbClr val="286DA6"/>
                </a:solidFill>
                <a:latin typeface="Arial"/>
                <a:ea typeface="Arial"/>
                <a:cs typeface="Arial"/>
              </a:rPr>
              <a:t>Fraction</a:t>
            </a:r>
          </a:p>
        </p:txBody>
      </p:sp>
      <p:sp>
        <p:nvSpPr>
          <p:cNvPr id="15" name="code-13-201">
            <a:extLst xmlns:a="http://schemas.openxmlformats.org/drawingml/2006/main">
              <a:ext uri="{FF2B5EF4-FFF2-40B4-BE49-F238E27FC236}">
                <a16:creationId xmlns:a16="http://schemas.microsoft.com/office/drawing/2014/main" id="{F6A60546-8B32-4E6E-8A05-C2DB7DBA6CFE}"/>
              </a:ext>
            </a:extLst>
          </p:cNvPr>
          <p:cNvSpPr>
            <a:spLocks xmlns:a="http://schemas.openxmlformats.org/drawingml/2006/main" noGrp="1"/>
          </p:cNvSpPr>
          <p:nvPr/>
        </p:nvSpPr>
        <p:spPr>
          <a:xfrm xmlns:a="http://schemas.openxmlformats.org/drawingml/2006/main">
            <a:off x="2695575" y="358140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1">
                <a:solidFill>
                  <a:srgbClr val="286DA6"/>
                </a:solidFill>
                <a:latin typeface="Courier New"/>
                <a:ea typeface="Courier New"/>
                <a:cs typeface="Courier New"/>
              </a:rPr>
              <a:t>from</a:t>
            </a:r>
            <a:r>
              <a:rPr sz="1688" b="0">
                <a:solidFill>
                  <a:srgbClr val="131518"/>
                </a:solidFill>
                <a:latin typeface="Courier New"/>
                <a:ea typeface="Courier New"/>
                <a:cs typeface="Courier New"/>
              </a:rPr>
              <a:t> fractions </a:t>
            </a:r>
            <a:r>
              <a:rPr sz="1688" b="1">
                <a:solidFill>
                  <a:srgbClr val="286DA6"/>
                </a:solidFill>
                <a:latin typeface="Courier New"/>
                <a:ea typeface="Courier New"/>
                <a:cs typeface="Courier New"/>
              </a:rPr>
              <a:t>import</a:t>
            </a:r>
            <a:r>
              <a:rPr sz="1688" b="0">
                <a:solidFill>
                  <a:srgbClr val="131518"/>
                </a:solidFill>
                <a:latin typeface="Courier New"/>
                <a:ea typeface="Courier New"/>
                <a:cs typeface="Courier New"/>
              </a:rPr>
              <a:t> Fraction</a:t>
            </a:r>
          </a:p>
        </p:txBody>
      </p:sp>
      <p:sp>
        <p:nvSpPr>
          <p:cNvPr id="16" name="code-13-202">
            <a:extLst xmlns:a="http://schemas.openxmlformats.org/drawingml/2006/main">
              <a:ext uri="{FF2B5EF4-FFF2-40B4-BE49-F238E27FC236}">
                <a16:creationId xmlns:a16="http://schemas.microsoft.com/office/drawing/2014/main" id="{2352B112-789E-4632-99D6-2BFFDAE93C2A}"/>
              </a:ext>
            </a:extLst>
          </p:cNvPr>
          <p:cNvSpPr>
            <a:spLocks xmlns:a="http://schemas.openxmlformats.org/drawingml/2006/main" noGrp="1"/>
          </p:cNvSpPr>
          <p:nvPr/>
        </p:nvSpPr>
        <p:spPr>
          <a:xfrm xmlns:a="http://schemas.openxmlformats.org/drawingml/2006/main">
            <a:off x="2695575" y="383857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131518"/>
                </a:solidFill>
                <a:latin typeface="Courier New"/>
                <a:ea typeface="Courier New"/>
                <a:cs typeface="Courier New"/>
              </a:rPr>
              <a:t> </a:t>
            </a:r>
          </a:p>
        </p:txBody>
      </p:sp>
      <p:sp>
        <p:nvSpPr>
          <p:cNvPr id="17" name="code-13-203">
            <a:extLst xmlns:a="http://schemas.openxmlformats.org/drawingml/2006/main">
              <a:ext uri="{FF2B5EF4-FFF2-40B4-BE49-F238E27FC236}">
                <a16:creationId xmlns:a16="http://schemas.microsoft.com/office/drawing/2014/main" id="{204862C8-D00C-4E8A-BCA5-3AA671E3D49D}"/>
              </a:ext>
            </a:extLst>
          </p:cNvPr>
          <p:cNvSpPr>
            <a:spLocks xmlns:a="http://schemas.openxmlformats.org/drawingml/2006/main" noGrp="1"/>
          </p:cNvSpPr>
          <p:nvPr/>
        </p:nvSpPr>
        <p:spPr>
          <a:xfrm xmlns:a="http://schemas.openxmlformats.org/drawingml/2006/main">
            <a:off x="2695575" y="409575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131518"/>
                </a:solidFill>
                <a:latin typeface="Courier New"/>
                <a:ea typeface="Courier New"/>
                <a:cs typeface="Courier New"/>
              </a:rPr>
              <a:t>Fraction(1, 3) * 3</a:t>
            </a:r>
          </a:p>
        </p:txBody>
      </p:sp>
      <p:sp>
        <p:nvSpPr>
          <p:cNvPr id="18" name="code-13-204">
            <a:extLst xmlns:a="http://schemas.openxmlformats.org/drawingml/2006/main">
              <a:ext uri="{FF2B5EF4-FFF2-40B4-BE49-F238E27FC236}">
                <a16:creationId xmlns:a16="http://schemas.microsoft.com/office/drawing/2014/main" id="{4EFEA46C-F862-4237-AE6C-C4E224556070}"/>
              </a:ext>
            </a:extLst>
          </p:cNvPr>
          <p:cNvSpPr>
            <a:spLocks xmlns:a="http://schemas.openxmlformats.org/drawingml/2006/main" noGrp="1"/>
          </p:cNvSpPr>
          <p:nvPr/>
        </p:nvSpPr>
        <p:spPr>
          <a:xfrm xmlns:a="http://schemas.openxmlformats.org/drawingml/2006/main">
            <a:off x="2695575" y="435292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535A61"/>
                </a:solidFill>
                <a:latin typeface="Courier New"/>
                <a:ea typeface="Courier New"/>
                <a:cs typeface="Courier New"/>
              </a:rPr>
              <a:t># Fraction(1, 1)</a:t>
            </a:r>
          </a:p>
        </p:txBody>
      </p:sp>
      <p:sp>
        <p:nvSpPr>
          <p:cNvPr id="19" name="text-205">
            <a:extLst xmlns:a="http://schemas.openxmlformats.org/drawingml/2006/main">
              <a:ext uri="{FF2B5EF4-FFF2-40B4-BE49-F238E27FC236}">
                <a16:creationId xmlns:a16="http://schemas.microsoft.com/office/drawing/2014/main" id="{3B4E7574-F7C0-4286-BE62-B06D2AEDF989}"/>
              </a:ext>
            </a:extLst>
          </p:cNvPr>
          <p:cNvSpPr>
            <a:spLocks xmlns:a="http://schemas.openxmlformats.org/drawingml/2006/main" noGrp="1"/>
          </p:cNvSpPr>
          <p:nvPr/>
        </p:nvSpPr>
        <p:spPr>
          <a:xfrm xmlns:a="http://schemas.openxmlformats.org/drawingml/2006/main">
            <a:off x="7943850" y="3514725"/>
            <a:ext cx="35623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Точные дроби.</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Числитель и знаменатель</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могут сильно расти.</a:t>
            </a:r>
          </a:p>
        </p:txBody>
      </p:sp>
      <p:sp>
        <p:nvSpPr>
          <p:cNvPr id="20" name="surface-206">
            <a:extLst xmlns:a="http://schemas.openxmlformats.org/drawingml/2006/main">
              <a:ext uri="{FF2B5EF4-FFF2-40B4-BE49-F238E27FC236}">
                <a16:creationId xmlns:a16="http://schemas.microsoft.com/office/drawing/2014/main" id="{0512D440-A526-4F01-9782-960A033C1A5A}"/>
              </a:ext>
            </a:extLst>
          </p:cNvPr>
          <p:cNvSpPr>
            <a:spLocks xmlns:a="http://schemas.openxmlformats.org/drawingml/2006/main" noGrp="1"/>
          </p:cNvSpPr>
          <p:nvPr/>
        </p:nvSpPr>
        <p:spPr>
          <a:xfrm xmlns:a="http://schemas.openxmlformats.org/drawingml/2006/main">
            <a:off x="685800" y="4705350"/>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21" name="text-207">
            <a:extLst xmlns:a="http://schemas.openxmlformats.org/drawingml/2006/main">
              <a:ext uri="{FF2B5EF4-FFF2-40B4-BE49-F238E27FC236}">
                <a16:creationId xmlns:a16="http://schemas.microsoft.com/office/drawing/2014/main" id="{2EAFF724-41A2-4AC3-BAE6-648DB9CAE3E6}"/>
              </a:ext>
            </a:extLst>
          </p:cNvPr>
          <p:cNvSpPr>
            <a:spLocks xmlns:a="http://schemas.openxmlformats.org/drawingml/2006/main" noGrp="1"/>
          </p:cNvSpPr>
          <p:nvPr/>
        </p:nvSpPr>
        <p:spPr>
          <a:xfrm xmlns:a="http://schemas.openxmlformats.org/drawingml/2006/main">
            <a:off x="685800" y="4857750"/>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86DA6"/>
                </a:solidFill>
                <a:latin typeface="Arial"/>
                <a:ea typeface="Arial"/>
                <a:cs typeface="Arial"/>
              </a:defRPr>
            </a:pPr>
            <a:r>
              <a:rPr sz="2550" b="1">
                <a:solidFill>
                  <a:srgbClr val="286DA6"/>
                </a:solidFill>
                <a:latin typeface="Arial"/>
                <a:ea typeface="Arial"/>
                <a:cs typeface="Arial"/>
              </a:rPr>
              <a:t>complex</a:t>
            </a:r>
          </a:p>
        </p:txBody>
      </p:sp>
      <p:sp>
        <p:nvSpPr>
          <p:cNvPr id="22" name="code-13-208">
            <a:extLst xmlns:a="http://schemas.openxmlformats.org/drawingml/2006/main">
              <a:ext uri="{FF2B5EF4-FFF2-40B4-BE49-F238E27FC236}">
                <a16:creationId xmlns:a16="http://schemas.microsoft.com/office/drawing/2014/main" id="{1025B6E8-C7C0-42B4-ABB9-3599B8229FF8}"/>
              </a:ext>
            </a:extLst>
          </p:cNvPr>
          <p:cNvSpPr>
            <a:spLocks xmlns:a="http://schemas.openxmlformats.org/drawingml/2006/main" noGrp="1"/>
          </p:cNvSpPr>
          <p:nvPr/>
        </p:nvSpPr>
        <p:spPr>
          <a:xfrm xmlns:a="http://schemas.openxmlformats.org/drawingml/2006/main">
            <a:off x="2695575" y="492442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131518"/>
                </a:solidFill>
                <a:latin typeface="Courier New"/>
                <a:ea typeface="Courier New"/>
                <a:cs typeface="Courier New"/>
              </a:rPr>
              <a:t>z = 3 + 4j</a:t>
            </a:r>
          </a:p>
        </p:txBody>
      </p:sp>
      <p:sp>
        <p:nvSpPr>
          <p:cNvPr id="23" name="code-13-209">
            <a:extLst xmlns:a="http://schemas.openxmlformats.org/drawingml/2006/main">
              <a:ext uri="{FF2B5EF4-FFF2-40B4-BE49-F238E27FC236}">
                <a16:creationId xmlns:a16="http://schemas.microsoft.com/office/drawing/2014/main" id="{BCBEC53B-73CB-4717-90A7-FAA51E936873}"/>
              </a:ext>
            </a:extLst>
          </p:cNvPr>
          <p:cNvSpPr>
            <a:spLocks xmlns:a="http://schemas.openxmlformats.org/drawingml/2006/main" noGrp="1"/>
          </p:cNvSpPr>
          <p:nvPr/>
        </p:nvSpPr>
        <p:spPr>
          <a:xfrm xmlns:a="http://schemas.openxmlformats.org/drawingml/2006/main">
            <a:off x="2695575" y="518160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131518"/>
                </a:solidFill>
                <a:latin typeface="Courier New"/>
                <a:ea typeface="Courier New"/>
                <a:cs typeface="Courier New"/>
              </a:rPr>
              <a:t> </a:t>
            </a:r>
          </a:p>
        </p:txBody>
      </p:sp>
      <p:sp>
        <p:nvSpPr>
          <p:cNvPr id="24" name="code-13-210">
            <a:extLst xmlns:a="http://schemas.openxmlformats.org/drawingml/2006/main">
              <a:ext uri="{FF2B5EF4-FFF2-40B4-BE49-F238E27FC236}">
                <a16:creationId xmlns:a16="http://schemas.microsoft.com/office/drawing/2014/main" id="{1BB3D83B-26B9-4FC5-89DF-0927DA775C6E}"/>
              </a:ext>
            </a:extLst>
          </p:cNvPr>
          <p:cNvSpPr>
            <a:spLocks xmlns:a="http://schemas.openxmlformats.org/drawingml/2006/main" noGrp="1"/>
          </p:cNvSpPr>
          <p:nvPr/>
        </p:nvSpPr>
        <p:spPr>
          <a:xfrm xmlns:a="http://schemas.openxmlformats.org/drawingml/2006/main">
            <a:off x="2695575" y="543877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131518"/>
                </a:solidFill>
                <a:latin typeface="Courier New"/>
                <a:ea typeface="Courier New"/>
                <a:cs typeface="Courier New"/>
              </a:rPr>
              <a:t>abs(z)  </a:t>
            </a:r>
            <a:r>
              <a:rPr sz="1688" b="0">
                <a:solidFill>
                  <a:srgbClr val="535A61"/>
                </a:solidFill>
                <a:latin typeface="Courier New"/>
                <a:ea typeface="Courier New"/>
                <a:cs typeface="Courier New"/>
              </a:rPr>
              <a:t># 5.0</a:t>
            </a:r>
          </a:p>
        </p:txBody>
      </p:sp>
      <p:sp>
        <p:nvSpPr>
          <p:cNvPr id="25" name="code-13-211">
            <a:extLst xmlns:a="http://schemas.openxmlformats.org/drawingml/2006/main">
              <a:ext uri="{FF2B5EF4-FFF2-40B4-BE49-F238E27FC236}">
                <a16:creationId xmlns:a16="http://schemas.microsoft.com/office/drawing/2014/main" id="{6A5644EE-E95B-43F0-804E-BB544F5474DF}"/>
              </a:ext>
            </a:extLst>
          </p:cNvPr>
          <p:cNvSpPr>
            <a:spLocks xmlns:a="http://schemas.openxmlformats.org/drawingml/2006/main" noGrp="1"/>
          </p:cNvSpPr>
          <p:nvPr/>
        </p:nvSpPr>
        <p:spPr>
          <a:xfrm xmlns:a="http://schemas.openxmlformats.org/drawingml/2006/main">
            <a:off x="2695575" y="569595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8" b="0">
                <a:solidFill>
                  <a:srgbClr val="131518"/>
                </a:solidFill>
                <a:latin typeface="Courier New"/>
                <a:ea typeface="Courier New"/>
                <a:cs typeface="Courier New"/>
              </a:defRPr>
            </a:pPr>
            <a:r>
              <a:rPr sz="1688" b="0">
                <a:solidFill>
                  <a:srgbClr val="131518"/>
                </a:solidFill>
                <a:latin typeface="Courier New"/>
                <a:ea typeface="Courier New"/>
                <a:cs typeface="Courier New"/>
              </a:rPr>
              <a:t>z.real  </a:t>
            </a:r>
            <a:r>
              <a:rPr sz="1688" b="0">
                <a:solidFill>
                  <a:srgbClr val="535A61"/>
                </a:solidFill>
                <a:latin typeface="Courier New"/>
                <a:ea typeface="Courier New"/>
                <a:cs typeface="Courier New"/>
              </a:rPr>
              <a:t># 3.0</a:t>
            </a:r>
          </a:p>
        </p:txBody>
      </p:sp>
      <p:sp>
        <p:nvSpPr>
          <p:cNvPr id="26" name="text-212">
            <a:extLst xmlns:a="http://schemas.openxmlformats.org/drawingml/2006/main">
              <a:ext uri="{FF2B5EF4-FFF2-40B4-BE49-F238E27FC236}">
                <a16:creationId xmlns:a16="http://schemas.microsoft.com/office/drawing/2014/main" id="{C1D745E7-249E-4038-B4A3-50E1BA0DC4AF}"/>
              </a:ext>
            </a:extLst>
          </p:cNvPr>
          <p:cNvSpPr>
            <a:spLocks xmlns:a="http://schemas.openxmlformats.org/drawingml/2006/main" noGrp="1"/>
          </p:cNvSpPr>
          <p:nvPr/>
        </p:nvSpPr>
        <p:spPr>
          <a:xfrm xmlns:a="http://schemas.openxmlformats.org/drawingml/2006/main">
            <a:off x="7943850" y="4857750"/>
            <a:ext cx="35623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Комплексная арифметика.</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Две части типа float.</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Порядка через &lt; и &gt; нет.</a:t>
            </a:r>
          </a:p>
        </p:txBody>
      </p:sp>
    </p:spTree>
    <p:extLst>
      <p:ext uri="{BB962C8B-B14F-4D97-AF65-F5344CB8AC3E}">
        <p14:creationId xmlns:p14="http://schemas.microsoft.com/office/powerpoint/2010/main" val="20364732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213">
            <a:extLst xmlns:a="http://schemas.openxmlformats.org/drawingml/2006/main">
              <a:ext uri="{FF2B5EF4-FFF2-40B4-BE49-F238E27FC236}">
                <a16:creationId xmlns:a16="http://schemas.microsoft.com/office/drawing/2014/main" id="{7FBCE642-A958-4B67-98AD-AFA41AE97EC7}"/>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02 / ЛОГИКА</a:t>
            </a:r>
          </a:p>
        </p:txBody>
      </p:sp>
      <p:sp>
        <p:nvSpPr>
          <p:cNvPr id="2" name="title-14">
            <a:extLst xmlns:a="http://schemas.openxmlformats.org/drawingml/2006/main">
              <a:ext uri="{FF2B5EF4-FFF2-40B4-BE49-F238E27FC236}">
                <a16:creationId xmlns:a16="http://schemas.microsoft.com/office/drawing/2014/main" id="{B900E382-F2B1-4632-ADD3-9C5868887AB4}"/>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bool и проверка истинности</a:t>
            </a:r>
          </a:p>
        </p:txBody>
      </p:sp>
      <p:sp>
        <p:nvSpPr>
          <p:cNvPr id="3" name="text-214">
            <a:extLst xmlns:a="http://schemas.openxmlformats.org/drawingml/2006/main">
              <a:ext uri="{FF2B5EF4-FFF2-40B4-BE49-F238E27FC236}">
                <a16:creationId xmlns:a16="http://schemas.microsoft.com/office/drawing/2014/main" id="{2875CFEC-6D01-4E1A-9445-0C67841B35AB}"/>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False — одно значение; ложными могут считаться объекты разных типов.</a:t>
            </a:r>
          </a:p>
        </p:txBody>
      </p:sp>
      <p:sp>
        <p:nvSpPr>
          <p:cNvPr id="4" name="surface-215">
            <a:extLst xmlns:a="http://schemas.openxmlformats.org/drawingml/2006/main">
              <a:ext uri="{FF2B5EF4-FFF2-40B4-BE49-F238E27FC236}">
                <a16:creationId xmlns:a16="http://schemas.microsoft.com/office/drawing/2014/main" id="{148D050F-B563-4C67-8184-1B9BB7E03698}"/>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216">
            <a:extLst xmlns:a="http://schemas.openxmlformats.org/drawingml/2006/main">
              <a:ext uri="{FF2B5EF4-FFF2-40B4-BE49-F238E27FC236}">
                <a16:creationId xmlns:a16="http://schemas.microsoft.com/office/drawing/2014/main" id="{24C75346-F473-4DDE-8DCE-629BABB24827}"/>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217">
            <a:extLst xmlns:a="http://schemas.openxmlformats.org/drawingml/2006/main">
              <a:ext uri="{FF2B5EF4-FFF2-40B4-BE49-F238E27FC236}">
                <a16:creationId xmlns:a16="http://schemas.microsoft.com/office/drawing/2014/main" id="{AD008749-7225-4176-9742-6CCDFE30E989}"/>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14</a:t>
            </a:r>
          </a:p>
        </p:txBody>
      </p:sp>
      <p:sp>
        <p:nvSpPr>
          <p:cNvPr id="7" name="text-218">
            <a:extLst xmlns:a="http://schemas.openxmlformats.org/drawingml/2006/main">
              <a:ext uri="{FF2B5EF4-FFF2-40B4-BE49-F238E27FC236}">
                <a16:creationId xmlns:a16="http://schemas.microsoft.com/office/drawing/2014/main" id="{271116F2-0C70-4284-BEC4-41E71CFF56C0}"/>
              </a:ext>
            </a:extLst>
          </p:cNvPr>
          <p:cNvSpPr>
            <a:spLocks xmlns:a="http://schemas.openxmlformats.org/drawingml/2006/main" noGrp="1"/>
          </p:cNvSpPr>
          <p:nvPr/>
        </p:nvSpPr>
        <p:spPr>
          <a:xfrm xmlns:a="http://schemas.openxmlformats.org/drawingml/2006/main">
            <a:off x="68580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ПРИВЕДЕНИЕ К bool</a:t>
            </a:r>
          </a:p>
        </p:txBody>
      </p:sp>
      <p:sp>
        <p:nvSpPr>
          <p:cNvPr id="8" name="surface-219">
            <a:extLst xmlns:a="http://schemas.openxmlformats.org/drawingml/2006/main">
              <a:ext uri="{FF2B5EF4-FFF2-40B4-BE49-F238E27FC236}">
                <a16:creationId xmlns:a16="http://schemas.microsoft.com/office/drawing/2014/main" id="{FCA9DFE1-EBC0-4060-B980-AD9E5EB4FE97}"/>
              </a:ext>
            </a:extLst>
          </p:cNvPr>
          <p:cNvSpPr>
            <a:spLocks xmlns:a="http://schemas.openxmlformats.org/drawingml/2006/main" noGrp="1"/>
          </p:cNvSpPr>
          <p:nvPr/>
        </p:nvSpPr>
        <p:spPr>
          <a:xfrm xmlns:a="http://schemas.openxmlformats.org/drawingml/2006/main">
            <a:off x="68580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code-14-220">
            <a:extLst xmlns:a="http://schemas.openxmlformats.org/drawingml/2006/main">
              <a:ext uri="{FF2B5EF4-FFF2-40B4-BE49-F238E27FC236}">
                <a16:creationId xmlns:a16="http://schemas.microsoft.com/office/drawing/2014/main" id="{09642206-AD51-4702-A350-8F9E0F6D47B6}"/>
              </a:ext>
            </a:extLst>
          </p:cNvPr>
          <p:cNvSpPr>
            <a:spLocks xmlns:a="http://schemas.openxmlformats.org/drawingml/2006/main" noGrp="1"/>
          </p:cNvSpPr>
          <p:nvPr/>
        </p:nvSpPr>
        <p:spPr>
          <a:xfrm xmlns:a="http://schemas.openxmlformats.org/drawingml/2006/main">
            <a:off x="84772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bool(0)       </a:t>
            </a:r>
            <a:r>
              <a:rPr sz="1935" b="0">
                <a:solidFill>
                  <a:srgbClr val="535A61"/>
                </a:solidFill>
                <a:latin typeface="Courier New"/>
                <a:ea typeface="Courier New"/>
                <a:cs typeface="Courier New"/>
              </a:rPr>
              <a:t># False</a:t>
            </a:r>
          </a:p>
        </p:txBody>
      </p:sp>
      <p:sp>
        <p:nvSpPr>
          <p:cNvPr id="10" name="code-14-221">
            <a:extLst xmlns:a="http://schemas.openxmlformats.org/drawingml/2006/main">
              <a:ext uri="{FF2B5EF4-FFF2-40B4-BE49-F238E27FC236}">
                <a16:creationId xmlns:a16="http://schemas.microsoft.com/office/drawing/2014/main" id="{4E578EDC-2F8B-411F-B6F4-849B73DAC98B}"/>
              </a:ext>
            </a:extLst>
          </p:cNvPr>
          <p:cNvSpPr>
            <a:spLocks xmlns:a="http://schemas.openxmlformats.org/drawingml/2006/main" noGrp="1"/>
          </p:cNvSpPr>
          <p:nvPr/>
        </p:nvSpPr>
        <p:spPr>
          <a:xfrm xmlns:a="http://schemas.openxmlformats.org/drawingml/2006/main">
            <a:off x="84772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bool("")      </a:t>
            </a:r>
            <a:r>
              <a:rPr sz="1935" b="0">
                <a:solidFill>
                  <a:srgbClr val="535A61"/>
                </a:solidFill>
                <a:latin typeface="Courier New"/>
                <a:ea typeface="Courier New"/>
                <a:cs typeface="Courier New"/>
              </a:rPr>
              <a:t># False</a:t>
            </a:r>
          </a:p>
        </p:txBody>
      </p:sp>
      <p:sp>
        <p:nvSpPr>
          <p:cNvPr id="11" name="code-14-222">
            <a:extLst xmlns:a="http://schemas.openxmlformats.org/drawingml/2006/main">
              <a:ext uri="{FF2B5EF4-FFF2-40B4-BE49-F238E27FC236}">
                <a16:creationId xmlns:a16="http://schemas.microsoft.com/office/drawing/2014/main" id="{3070B9AA-DC14-4A94-BE29-7A5DFBF8948D}"/>
              </a:ext>
            </a:extLst>
          </p:cNvPr>
          <p:cNvSpPr>
            <a:spLocks xmlns:a="http://schemas.openxmlformats.org/drawingml/2006/main" noGrp="1"/>
          </p:cNvSpPr>
          <p:nvPr/>
        </p:nvSpPr>
        <p:spPr>
          <a:xfrm xmlns:a="http://schemas.openxmlformats.org/drawingml/2006/main">
            <a:off x="84772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bool([])      </a:t>
            </a:r>
            <a:r>
              <a:rPr sz="1935" b="0">
                <a:solidFill>
                  <a:srgbClr val="535A61"/>
                </a:solidFill>
                <a:latin typeface="Courier New"/>
                <a:ea typeface="Courier New"/>
                <a:cs typeface="Courier New"/>
              </a:rPr>
              <a:t># False</a:t>
            </a:r>
          </a:p>
        </p:txBody>
      </p:sp>
      <p:sp>
        <p:nvSpPr>
          <p:cNvPr id="12" name="code-14-223">
            <a:extLst xmlns:a="http://schemas.openxmlformats.org/drawingml/2006/main">
              <a:ext uri="{FF2B5EF4-FFF2-40B4-BE49-F238E27FC236}">
                <a16:creationId xmlns:a16="http://schemas.microsoft.com/office/drawing/2014/main" id="{2390824A-D2BD-4CEA-AE39-A56CD1948D13}"/>
              </a:ext>
            </a:extLst>
          </p:cNvPr>
          <p:cNvSpPr>
            <a:spLocks xmlns:a="http://schemas.openxmlformats.org/drawingml/2006/main" noGrp="1"/>
          </p:cNvSpPr>
          <p:nvPr/>
        </p:nvSpPr>
        <p:spPr>
          <a:xfrm xmlns:a="http://schemas.openxmlformats.org/drawingml/2006/main">
            <a:off x="84772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bool("False") </a:t>
            </a:r>
            <a:r>
              <a:rPr sz="1935" b="0">
                <a:solidFill>
                  <a:srgbClr val="535A61"/>
                </a:solidFill>
                <a:latin typeface="Courier New"/>
                <a:ea typeface="Courier New"/>
                <a:cs typeface="Courier New"/>
              </a:rPr>
              <a:t># True</a:t>
            </a:r>
          </a:p>
        </p:txBody>
      </p:sp>
      <p:sp>
        <p:nvSpPr>
          <p:cNvPr id="13" name="code-14-224">
            <a:extLst xmlns:a="http://schemas.openxmlformats.org/drawingml/2006/main">
              <a:ext uri="{FF2B5EF4-FFF2-40B4-BE49-F238E27FC236}">
                <a16:creationId xmlns:a16="http://schemas.microsoft.com/office/drawing/2014/main" id="{DF589AB9-01E2-4D6A-8A1D-C99436CF0A49}"/>
              </a:ext>
            </a:extLst>
          </p:cNvPr>
          <p:cNvSpPr>
            <a:spLocks xmlns:a="http://schemas.openxmlformats.org/drawingml/2006/main" noGrp="1"/>
          </p:cNvSpPr>
          <p:nvPr/>
        </p:nvSpPr>
        <p:spPr>
          <a:xfrm xmlns:a="http://schemas.openxmlformats.org/drawingml/2006/main">
            <a:off x="84772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bool("0")     </a:t>
            </a:r>
            <a:r>
              <a:rPr sz="1935" b="0">
                <a:solidFill>
                  <a:srgbClr val="535A61"/>
                </a:solidFill>
                <a:latin typeface="Courier New"/>
                <a:ea typeface="Courier New"/>
                <a:cs typeface="Courier New"/>
              </a:rPr>
              <a:t># True</a:t>
            </a:r>
          </a:p>
        </p:txBody>
      </p:sp>
      <p:sp>
        <p:nvSpPr>
          <p:cNvPr id="14" name="text-225">
            <a:extLst xmlns:a="http://schemas.openxmlformats.org/drawingml/2006/main">
              <a:ext uri="{FF2B5EF4-FFF2-40B4-BE49-F238E27FC236}">
                <a16:creationId xmlns:a16="http://schemas.microsoft.com/office/drawing/2014/main" id="{CA33CA3A-D042-4BE5-B622-82237B79E05F}"/>
              </a:ext>
            </a:extLst>
          </p:cNvPr>
          <p:cNvSpPr>
            <a:spLocks xmlns:a="http://schemas.openxmlformats.org/drawingml/2006/main" noGrp="1"/>
          </p:cNvSpPr>
          <p:nvPr/>
        </p:nvSpPr>
        <p:spPr>
          <a:xfrm xmlns:a="http://schemas.openxmlformats.org/drawingml/2006/main">
            <a:off x="68580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Непустая строка истинна</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независимо от её текста.</a:t>
            </a:r>
          </a:p>
        </p:txBody>
      </p:sp>
      <p:sp>
        <p:nvSpPr>
          <p:cNvPr id="15" name="text-226">
            <a:extLst xmlns:a="http://schemas.openxmlformats.org/drawingml/2006/main">
              <a:ext uri="{FF2B5EF4-FFF2-40B4-BE49-F238E27FC236}">
                <a16:creationId xmlns:a16="http://schemas.microsoft.com/office/drawing/2014/main" id="{476F1A7F-B170-457D-81F6-BC1141221924}"/>
              </a:ext>
            </a:extLst>
          </p:cNvPr>
          <p:cNvSpPr>
            <a:spLocks xmlns:a="http://schemas.openxmlformats.org/drawingml/2006/main" noGrp="1"/>
          </p:cNvSpPr>
          <p:nvPr/>
        </p:nvSpPr>
        <p:spPr>
          <a:xfrm xmlns:a="http://schemas.openxmlformats.org/drawingml/2006/main">
            <a:off x="622935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КОРОТКОЕ ВЫЧИСЛЕНИЕ</a:t>
            </a:r>
          </a:p>
        </p:txBody>
      </p:sp>
      <p:sp>
        <p:nvSpPr>
          <p:cNvPr id="16" name="surface-227">
            <a:extLst xmlns:a="http://schemas.openxmlformats.org/drawingml/2006/main">
              <a:ext uri="{FF2B5EF4-FFF2-40B4-BE49-F238E27FC236}">
                <a16:creationId xmlns:a16="http://schemas.microsoft.com/office/drawing/2014/main" id="{587D0143-E938-4901-912B-8AE4B85A14E4}"/>
              </a:ext>
            </a:extLst>
          </p:cNvPr>
          <p:cNvSpPr>
            <a:spLocks xmlns:a="http://schemas.openxmlformats.org/drawingml/2006/main" noGrp="1"/>
          </p:cNvSpPr>
          <p:nvPr/>
        </p:nvSpPr>
        <p:spPr>
          <a:xfrm xmlns:a="http://schemas.openxmlformats.org/drawingml/2006/main">
            <a:off x="622935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7" name="code-14-228">
            <a:extLst xmlns:a="http://schemas.openxmlformats.org/drawingml/2006/main">
              <a:ext uri="{FF2B5EF4-FFF2-40B4-BE49-F238E27FC236}">
                <a16:creationId xmlns:a16="http://schemas.microsoft.com/office/drawing/2014/main" id="{8C097630-23F8-4441-A0C5-19DE67B155F6}"/>
              </a:ext>
            </a:extLst>
          </p:cNvPr>
          <p:cNvSpPr>
            <a:spLocks xmlns:a="http://schemas.openxmlformats.org/drawingml/2006/main" noGrp="1"/>
          </p:cNvSpPr>
          <p:nvPr/>
        </p:nvSpPr>
        <p:spPr>
          <a:xfrm xmlns:a="http://schemas.openxmlformats.org/drawingml/2006/main">
            <a:off x="639127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r>
              <a:rPr sz="1935" b="1">
                <a:solidFill>
                  <a:srgbClr val="286DA6"/>
                </a:solidFill>
                <a:latin typeface="Courier New"/>
                <a:ea typeface="Courier New"/>
                <a:cs typeface="Courier New"/>
              </a:rPr>
              <a:t>or</a:t>
            </a:r>
            <a:r>
              <a:rPr sz="1935" b="0">
                <a:solidFill>
                  <a:srgbClr val="131518"/>
                </a:solidFill>
                <a:latin typeface="Courier New"/>
                <a:ea typeface="Courier New"/>
                <a:cs typeface="Courier New"/>
              </a:rPr>
              <a:t> "guest"   </a:t>
            </a:r>
            <a:r>
              <a:rPr sz="1935" b="0">
                <a:solidFill>
                  <a:srgbClr val="535A61"/>
                </a:solidFill>
                <a:latin typeface="Courier New"/>
                <a:ea typeface="Courier New"/>
                <a:cs typeface="Courier New"/>
              </a:rPr>
              <a:t># "guest"</a:t>
            </a:r>
          </a:p>
        </p:txBody>
      </p:sp>
      <p:sp>
        <p:nvSpPr>
          <p:cNvPr id="18" name="code-14-229">
            <a:extLst xmlns:a="http://schemas.openxmlformats.org/drawingml/2006/main">
              <a:ext uri="{FF2B5EF4-FFF2-40B4-BE49-F238E27FC236}">
                <a16:creationId xmlns:a16="http://schemas.microsoft.com/office/drawing/2014/main" id="{B739D355-EB10-4DA1-A798-02E511E7A6EF}"/>
              </a:ext>
            </a:extLst>
          </p:cNvPr>
          <p:cNvSpPr>
            <a:spLocks xmlns:a="http://schemas.openxmlformats.org/drawingml/2006/main" noGrp="1"/>
          </p:cNvSpPr>
          <p:nvPr/>
        </p:nvSpPr>
        <p:spPr>
          <a:xfrm xmlns:a="http://schemas.openxmlformats.org/drawingml/2006/main">
            <a:off x="639127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0 </a:t>
            </a:r>
            <a:r>
              <a:rPr sz="1935" b="1">
                <a:solidFill>
                  <a:srgbClr val="286DA6"/>
                </a:solidFill>
                <a:latin typeface="Courier New"/>
                <a:ea typeface="Courier New"/>
                <a:cs typeface="Courier New"/>
              </a:rPr>
              <a:t>and</a:t>
            </a:r>
            <a:r>
              <a:rPr sz="1935" b="0">
                <a:solidFill>
                  <a:srgbClr val="131518"/>
                </a:solidFill>
                <a:latin typeface="Courier New"/>
                <a:ea typeface="Courier New"/>
                <a:cs typeface="Courier New"/>
              </a:rPr>
              <a:t> 100       </a:t>
            </a:r>
            <a:r>
              <a:rPr sz="1935" b="0">
                <a:solidFill>
                  <a:srgbClr val="535A61"/>
                </a:solidFill>
                <a:latin typeface="Courier New"/>
                <a:ea typeface="Courier New"/>
                <a:cs typeface="Courier New"/>
              </a:rPr>
              <a:t># 0</a:t>
            </a:r>
          </a:p>
        </p:txBody>
      </p:sp>
      <p:sp>
        <p:nvSpPr>
          <p:cNvPr id="19" name="code-14-230">
            <a:extLst xmlns:a="http://schemas.openxmlformats.org/drawingml/2006/main">
              <a:ext uri="{FF2B5EF4-FFF2-40B4-BE49-F238E27FC236}">
                <a16:creationId xmlns:a16="http://schemas.microsoft.com/office/drawing/2014/main" id="{AE125008-3587-4653-A930-EAC5F7F97F71}"/>
              </a:ext>
            </a:extLst>
          </p:cNvPr>
          <p:cNvSpPr>
            <a:spLocks xmlns:a="http://schemas.openxmlformats.org/drawingml/2006/main" noGrp="1"/>
          </p:cNvSpPr>
          <p:nvPr/>
        </p:nvSpPr>
        <p:spPr>
          <a:xfrm xmlns:a="http://schemas.openxmlformats.org/drawingml/2006/main">
            <a:off x="639127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1">
                <a:solidFill>
                  <a:srgbClr val="286DA6"/>
                </a:solidFill>
                <a:latin typeface="Courier New"/>
                <a:ea typeface="Courier New"/>
                <a:cs typeface="Courier New"/>
              </a:rPr>
              <a:t>not</a:t>
            </a:r>
            <a:r>
              <a:rPr sz="1935" b="0">
                <a:solidFill>
                  <a:srgbClr val="131518"/>
                </a:solidFill>
                <a:latin typeface="Courier New"/>
                <a:ea typeface="Courier New"/>
                <a:cs typeface="Courier New"/>
              </a:rPr>
              <a:t> []          </a:t>
            </a:r>
            <a:r>
              <a:rPr sz="1935" b="0">
                <a:solidFill>
                  <a:srgbClr val="535A61"/>
                </a:solidFill>
                <a:latin typeface="Courier New"/>
                <a:ea typeface="Courier New"/>
                <a:cs typeface="Courier New"/>
              </a:rPr>
              <a:t># True</a:t>
            </a:r>
          </a:p>
        </p:txBody>
      </p:sp>
      <p:sp>
        <p:nvSpPr>
          <p:cNvPr id="20" name="code-14-231">
            <a:extLst xmlns:a="http://schemas.openxmlformats.org/drawingml/2006/main">
              <a:ext uri="{FF2B5EF4-FFF2-40B4-BE49-F238E27FC236}">
                <a16:creationId xmlns:a16="http://schemas.microsoft.com/office/drawing/2014/main" id="{BB0CF1B6-BA85-4516-9D95-9A2827777D38}"/>
              </a:ext>
            </a:extLst>
          </p:cNvPr>
          <p:cNvSpPr>
            <a:spLocks xmlns:a="http://schemas.openxmlformats.org/drawingml/2006/main" noGrp="1"/>
          </p:cNvSpPr>
          <p:nvPr/>
        </p:nvSpPr>
        <p:spPr>
          <a:xfrm xmlns:a="http://schemas.openxmlformats.org/drawingml/2006/main">
            <a:off x="639127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21" name="code-14-232">
            <a:extLst xmlns:a="http://schemas.openxmlformats.org/drawingml/2006/main">
              <a:ext uri="{FF2B5EF4-FFF2-40B4-BE49-F238E27FC236}">
                <a16:creationId xmlns:a16="http://schemas.microsoft.com/office/drawing/2014/main" id="{7B2EA220-D185-418E-8991-41EB1C3EECAF}"/>
              </a:ext>
            </a:extLst>
          </p:cNvPr>
          <p:cNvSpPr>
            <a:spLocks xmlns:a="http://schemas.openxmlformats.org/drawingml/2006/main" noGrp="1"/>
          </p:cNvSpPr>
          <p:nvPr/>
        </p:nvSpPr>
        <p:spPr>
          <a:xfrm xmlns:a="http://schemas.openxmlformats.org/drawingml/2006/main">
            <a:off x="639127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1">
                <a:solidFill>
                  <a:srgbClr val="286DA6"/>
                </a:solidFill>
                <a:latin typeface="Courier New"/>
                <a:ea typeface="Courier New"/>
                <a:cs typeface="Courier New"/>
              </a:rPr>
              <a:t>True</a:t>
            </a:r>
            <a:r>
              <a:rPr sz="1935" b="0">
                <a:solidFill>
                  <a:srgbClr val="131518"/>
                </a:solidFill>
                <a:latin typeface="Courier New"/>
                <a:ea typeface="Courier New"/>
                <a:cs typeface="Courier New"/>
              </a:rPr>
              <a:t> + </a:t>
            </a:r>
            <a:r>
              <a:rPr sz="1935" b="1">
                <a:solidFill>
                  <a:srgbClr val="286DA6"/>
                </a:solidFill>
                <a:latin typeface="Courier New"/>
                <a:ea typeface="Courier New"/>
                <a:cs typeface="Courier New"/>
              </a:rPr>
              <a:t>True</a:t>
            </a:r>
            <a:r>
              <a:rPr sz="1935" b="0">
                <a:solidFill>
                  <a:srgbClr val="131518"/>
                </a:solidFill>
                <a:latin typeface="Courier New"/>
                <a:ea typeface="Courier New"/>
                <a:cs typeface="Courier New"/>
              </a:rPr>
              <a:t>     </a:t>
            </a:r>
            <a:r>
              <a:rPr sz="1935" b="0">
                <a:solidFill>
                  <a:srgbClr val="535A61"/>
                </a:solidFill>
                <a:latin typeface="Courier New"/>
                <a:ea typeface="Courier New"/>
                <a:cs typeface="Courier New"/>
              </a:rPr>
              <a:t># 2</a:t>
            </a:r>
          </a:p>
        </p:txBody>
      </p:sp>
      <p:sp>
        <p:nvSpPr>
          <p:cNvPr id="22" name="text-233">
            <a:extLst xmlns:a="http://schemas.openxmlformats.org/drawingml/2006/main">
              <a:ext uri="{FF2B5EF4-FFF2-40B4-BE49-F238E27FC236}">
                <a16:creationId xmlns:a16="http://schemas.microsoft.com/office/drawing/2014/main" id="{9D1E37E2-1880-40DA-8B0A-3604200F7F1B}"/>
              </a:ext>
            </a:extLst>
          </p:cNvPr>
          <p:cNvSpPr>
            <a:spLocks xmlns:a="http://schemas.openxmlformats.org/drawingml/2006/main" noGrp="1"/>
          </p:cNvSpPr>
          <p:nvPr/>
        </p:nvSpPr>
        <p:spPr>
          <a:xfrm xmlns:a="http://schemas.openxmlformats.org/drawingml/2006/main">
            <a:off x="622935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and и or возвращают операнд.</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not всегда возвращает bool.</a:t>
            </a:r>
          </a:p>
        </p:txBody>
      </p:sp>
      <p:sp>
        <p:nvSpPr>
          <p:cNvPr id="23" name="takeaway-14">
            <a:extLst xmlns:a="http://schemas.openxmlformats.org/drawingml/2006/main">
              <a:ext uri="{FF2B5EF4-FFF2-40B4-BE49-F238E27FC236}">
                <a16:creationId xmlns:a16="http://schemas.microsoft.com/office/drawing/2014/main" id="{AB3DDF0D-0800-47D3-A4D9-9EDF24A2D0B2}"/>
              </a:ext>
            </a:extLst>
          </p:cNvPr>
          <p:cNvSpPr>
            <a:spLocks xmlns:a="http://schemas.openxmlformats.org/drawingml/2006/main" noGrp="1"/>
          </p:cNvSpPr>
          <p:nvPr/>
        </p:nvSpPr>
        <p:spPr>
          <a:xfrm xmlns:a="http://schemas.openxmlformats.org/drawingml/2006/main">
            <a:off x="685800" y="59817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bool — подкласс int, но логический смысл лучше выражать явно.</a:t>
            </a:r>
          </a:p>
        </p:txBody>
      </p:sp>
    </p:spTree>
    <p:extLst>
      <p:ext uri="{BB962C8B-B14F-4D97-AF65-F5344CB8AC3E}">
        <p14:creationId xmlns:p14="http://schemas.microsoft.com/office/powerpoint/2010/main" val="14516834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234">
            <a:extLst xmlns:a="http://schemas.openxmlformats.org/drawingml/2006/main">
              <a:ext uri="{FF2B5EF4-FFF2-40B4-BE49-F238E27FC236}">
                <a16:creationId xmlns:a16="http://schemas.microsoft.com/office/drawing/2014/main" id="{48564521-82DA-40E1-A41B-ECC122B624E0}"/>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02 / ОТСУТСТВИЕ ЗНАЧЕНИЯ</a:t>
            </a:r>
          </a:p>
        </p:txBody>
      </p:sp>
      <p:sp>
        <p:nvSpPr>
          <p:cNvPr id="2" name="title-15">
            <a:extLst xmlns:a="http://schemas.openxmlformats.org/drawingml/2006/main">
              <a:ext uri="{FF2B5EF4-FFF2-40B4-BE49-F238E27FC236}">
                <a16:creationId xmlns:a16="http://schemas.microsoft.com/office/drawing/2014/main" id="{354330A4-26F0-4B46-8FD2-E6AA21369A17}"/>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None не означает ноль или пустоту</a:t>
            </a:r>
          </a:p>
        </p:txBody>
      </p:sp>
      <p:sp>
        <p:nvSpPr>
          <p:cNvPr id="3" name="text-235">
            <a:extLst xmlns:a="http://schemas.openxmlformats.org/drawingml/2006/main">
              <a:ext uri="{FF2B5EF4-FFF2-40B4-BE49-F238E27FC236}">
                <a16:creationId xmlns:a16="http://schemas.microsoft.com/office/drawing/2014/main" id="{04E67B64-9171-4BFE-A5AA-720B4DF32E1D}"/>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Отсутствие результата — отдельное состояние данных.</a:t>
            </a:r>
          </a:p>
        </p:txBody>
      </p:sp>
      <p:sp>
        <p:nvSpPr>
          <p:cNvPr id="4" name="surface-236">
            <a:extLst xmlns:a="http://schemas.openxmlformats.org/drawingml/2006/main">
              <a:ext uri="{FF2B5EF4-FFF2-40B4-BE49-F238E27FC236}">
                <a16:creationId xmlns:a16="http://schemas.microsoft.com/office/drawing/2014/main" id="{7A52D3BC-06B5-4E0E-A0AB-9A1CAB845314}"/>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237">
            <a:extLst xmlns:a="http://schemas.openxmlformats.org/drawingml/2006/main">
              <a:ext uri="{FF2B5EF4-FFF2-40B4-BE49-F238E27FC236}">
                <a16:creationId xmlns:a16="http://schemas.microsoft.com/office/drawing/2014/main" id="{9AC8BD9F-09FF-4AB2-87F6-DB58753B7495}"/>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238">
            <a:extLst xmlns:a="http://schemas.openxmlformats.org/drawingml/2006/main">
              <a:ext uri="{FF2B5EF4-FFF2-40B4-BE49-F238E27FC236}">
                <a16:creationId xmlns:a16="http://schemas.microsoft.com/office/drawing/2014/main" id="{C87EA3A6-CFA4-4FB0-B0E0-2AC0B7221386}"/>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15</a:t>
            </a:r>
          </a:p>
        </p:txBody>
      </p:sp>
      <p:sp>
        <p:nvSpPr>
          <p:cNvPr id="7" name="surface-239">
            <a:extLst xmlns:a="http://schemas.openxmlformats.org/drawingml/2006/main">
              <a:ext uri="{FF2B5EF4-FFF2-40B4-BE49-F238E27FC236}">
                <a16:creationId xmlns:a16="http://schemas.microsoft.com/office/drawing/2014/main" id="{EACBF675-07A1-458F-9613-37F480E30925}"/>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15-240">
            <a:extLst xmlns:a="http://schemas.openxmlformats.org/drawingml/2006/main">
              <a:ext uri="{FF2B5EF4-FFF2-40B4-BE49-F238E27FC236}">
                <a16:creationId xmlns:a16="http://schemas.microsoft.com/office/drawing/2014/main" id="{F49BDCB4-1F52-48A2-A989-3AC8BB14C788}"/>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limit = </a:t>
            </a:r>
            <a:r>
              <a:rPr sz="1988" b="1">
                <a:solidFill>
                  <a:srgbClr val="286DA6"/>
                </a:solidFill>
                <a:latin typeface="Courier New"/>
                <a:ea typeface="Courier New"/>
                <a:cs typeface="Courier New"/>
              </a:rPr>
              <a:t>None</a:t>
            </a:r>
          </a:p>
        </p:txBody>
      </p:sp>
      <p:sp>
        <p:nvSpPr>
          <p:cNvPr id="9" name="code-15-241">
            <a:extLst xmlns:a="http://schemas.openxmlformats.org/drawingml/2006/main">
              <a:ext uri="{FF2B5EF4-FFF2-40B4-BE49-F238E27FC236}">
                <a16:creationId xmlns:a16="http://schemas.microsoft.com/office/drawing/2014/main" id="{06A941E7-9475-4C5D-89C6-389523D4F8FB}"/>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0" name="code-15-242">
            <a:extLst xmlns:a="http://schemas.openxmlformats.org/drawingml/2006/main">
              <a:ext uri="{FF2B5EF4-FFF2-40B4-BE49-F238E27FC236}">
                <a16:creationId xmlns:a16="http://schemas.microsoft.com/office/drawing/2014/main" id="{5AC73D17-F5EB-4D8C-BC80-C90777B5DADF}"/>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1">
                <a:solidFill>
                  <a:srgbClr val="286DA6"/>
                </a:solidFill>
                <a:latin typeface="Courier New"/>
                <a:ea typeface="Courier New"/>
                <a:cs typeface="Courier New"/>
              </a:rPr>
              <a:t>if</a:t>
            </a:r>
            <a:r>
              <a:rPr sz="1988" b="0">
                <a:solidFill>
                  <a:srgbClr val="131518"/>
                </a:solidFill>
                <a:latin typeface="Courier New"/>
                <a:ea typeface="Courier New"/>
                <a:cs typeface="Courier New"/>
              </a:rPr>
              <a:t> limit </a:t>
            </a:r>
            <a:r>
              <a:rPr sz="1988" b="1">
                <a:solidFill>
                  <a:srgbClr val="286DA6"/>
                </a:solidFill>
                <a:latin typeface="Courier New"/>
                <a:ea typeface="Courier New"/>
                <a:cs typeface="Courier New"/>
              </a:rPr>
              <a:t>is</a:t>
            </a:r>
            <a:r>
              <a:rPr sz="1988" b="0">
                <a:solidFill>
                  <a:srgbClr val="131518"/>
                </a:solidFill>
                <a:latin typeface="Courier New"/>
                <a:ea typeface="Courier New"/>
                <a:cs typeface="Courier New"/>
              </a:rPr>
              <a:t> </a:t>
            </a:r>
            <a:r>
              <a:rPr sz="1988" b="1">
                <a:solidFill>
                  <a:srgbClr val="286DA6"/>
                </a:solidFill>
                <a:latin typeface="Courier New"/>
                <a:ea typeface="Courier New"/>
                <a:cs typeface="Courier New"/>
              </a:rPr>
              <a:t>None</a:t>
            </a:r>
            <a:r>
              <a:rPr sz="1988" b="0">
                <a:solidFill>
                  <a:srgbClr val="131518"/>
                </a:solidFill>
                <a:latin typeface="Courier New"/>
                <a:ea typeface="Courier New"/>
                <a:cs typeface="Courier New"/>
              </a:rPr>
              <a:t>:</a:t>
            </a:r>
          </a:p>
        </p:txBody>
      </p:sp>
      <p:sp>
        <p:nvSpPr>
          <p:cNvPr id="11" name="code-15-243">
            <a:extLst xmlns:a="http://schemas.openxmlformats.org/drawingml/2006/main">
              <a:ext uri="{FF2B5EF4-FFF2-40B4-BE49-F238E27FC236}">
                <a16:creationId xmlns:a16="http://schemas.microsoft.com/office/drawing/2014/main" id="{91A5A503-71CB-4445-82CD-D3F1681507C1}"/>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limit = 100</a:t>
            </a:r>
          </a:p>
        </p:txBody>
      </p:sp>
      <p:sp>
        <p:nvSpPr>
          <p:cNvPr id="12" name="code-15-244">
            <a:extLst xmlns:a="http://schemas.openxmlformats.org/drawingml/2006/main">
              <a:ext uri="{FF2B5EF4-FFF2-40B4-BE49-F238E27FC236}">
                <a16:creationId xmlns:a16="http://schemas.microsoft.com/office/drawing/2014/main" id="{46FA81AD-1159-4E6A-A01F-C4B81A0F2232}"/>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3" name="code-15-245">
            <a:extLst xmlns:a="http://schemas.openxmlformats.org/drawingml/2006/main">
              <a:ext uri="{FF2B5EF4-FFF2-40B4-BE49-F238E27FC236}">
                <a16:creationId xmlns:a16="http://schemas.microsoft.com/office/drawing/2014/main" id="{F3F01678-80B4-49E7-9C52-48E90A9775DE}"/>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535A61"/>
                </a:solidFill>
                <a:latin typeface="Courier New"/>
                <a:ea typeface="Courier New"/>
                <a:cs typeface="Courier New"/>
              </a:rPr>
              <a:t># limit = 0 тоже может быть</a:t>
            </a:r>
          </a:p>
        </p:txBody>
      </p:sp>
      <p:sp>
        <p:nvSpPr>
          <p:cNvPr id="14" name="code-15-246">
            <a:extLst xmlns:a="http://schemas.openxmlformats.org/drawingml/2006/main">
              <a:ext uri="{FF2B5EF4-FFF2-40B4-BE49-F238E27FC236}">
                <a16:creationId xmlns:a16="http://schemas.microsoft.com/office/drawing/2014/main" id="{F802C02C-E071-4653-9B69-1ED5E7FF6155}"/>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535A61"/>
                </a:solidFill>
                <a:latin typeface="Courier New"/>
                <a:ea typeface="Courier New"/>
                <a:cs typeface="Courier New"/>
              </a:rPr>
              <a:t># корректным ограничением.</a:t>
            </a:r>
          </a:p>
        </p:txBody>
      </p:sp>
      <p:sp>
        <p:nvSpPr>
          <p:cNvPr id="15" name="text-247">
            <a:extLst xmlns:a="http://schemas.openxmlformats.org/drawingml/2006/main">
              <a:ext uri="{FF2B5EF4-FFF2-40B4-BE49-F238E27FC236}">
                <a16:creationId xmlns:a16="http://schemas.microsoft.com/office/drawing/2014/main" id="{515E8613-89D0-4118-9451-720A6BE069AE}"/>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NoneType</a:t>
            </a:r>
          </a:p>
        </p:txBody>
      </p:sp>
      <p:sp>
        <p:nvSpPr>
          <p:cNvPr id="16" name="text-248">
            <a:extLst xmlns:a="http://schemas.openxmlformats.org/drawingml/2006/main">
              <a:ext uri="{FF2B5EF4-FFF2-40B4-BE49-F238E27FC236}">
                <a16:creationId xmlns:a16="http://schemas.microsoft.com/office/drawing/2014/main" id="{06140A43-B959-4654-B81C-4AF1132E7472}"/>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У этого типа один экземпляр:</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None.</a:t>
            </a:r>
          </a:p>
        </p:txBody>
      </p:sp>
      <p:sp>
        <p:nvSpPr>
          <p:cNvPr id="17" name="text-249">
            <a:extLst xmlns:a="http://schemas.openxmlformats.org/drawingml/2006/main">
              <a:ext uri="{FF2B5EF4-FFF2-40B4-BE49-F238E27FC236}">
                <a16:creationId xmlns:a16="http://schemas.microsoft.com/office/drawing/2014/main" id="{25DCD925-B3CB-45D1-AED3-571CF74A85E2}"/>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return без значения</a:t>
            </a:r>
          </a:p>
        </p:txBody>
      </p:sp>
      <p:sp>
        <p:nvSpPr>
          <p:cNvPr id="18" name="text-250">
            <a:extLst xmlns:a="http://schemas.openxmlformats.org/drawingml/2006/main">
              <a:ext uri="{FF2B5EF4-FFF2-40B4-BE49-F238E27FC236}">
                <a16:creationId xmlns:a16="http://schemas.microsoft.com/office/drawing/2014/main" id="{039938E9-7849-4531-8AFB-06BB76D190DD}"/>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Возвращает None.</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Без выполненного return</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результат такой же.</a:t>
            </a:r>
          </a:p>
        </p:txBody>
      </p:sp>
    </p:spTree>
    <p:extLst>
      <p:ext uri="{BB962C8B-B14F-4D97-AF65-F5344CB8AC3E}">
        <p14:creationId xmlns:p14="http://schemas.microsoft.com/office/powerpoint/2010/main" val="4811172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251">
            <a:extLst xmlns:a="http://schemas.openxmlformats.org/drawingml/2006/main">
              <a:ext uri="{FF2B5EF4-FFF2-40B4-BE49-F238E27FC236}">
                <a16:creationId xmlns:a16="http://schemas.microsoft.com/office/drawing/2014/main" id="{93A9C347-11DA-4309-BC05-B897D1BA7A3A}"/>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03 / ТЕКСТ И ПОСЛЕДОВАТЕЛЬНОСТИ</a:t>
            </a:r>
          </a:p>
        </p:txBody>
      </p:sp>
      <p:sp>
        <p:nvSpPr>
          <p:cNvPr id="2" name="title-16">
            <a:extLst xmlns:a="http://schemas.openxmlformats.org/drawingml/2006/main">
              <a:ext uri="{FF2B5EF4-FFF2-40B4-BE49-F238E27FC236}">
                <a16:creationId xmlns:a16="http://schemas.microsoft.com/office/drawing/2014/main" id="{2ABC3697-6974-4674-8398-D388ED4E0878}"/>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str: текст, Unicode и неизменяемость</a:t>
            </a:r>
          </a:p>
        </p:txBody>
      </p:sp>
      <p:sp>
        <p:nvSpPr>
          <p:cNvPr id="3" name="text-252">
            <a:extLst xmlns:a="http://schemas.openxmlformats.org/drawingml/2006/main">
              <a:ext uri="{FF2B5EF4-FFF2-40B4-BE49-F238E27FC236}">
                <a16:creationId xmlns:a16="http://schemas.microsoft.com/office/drawing/2014/main" id="{BB40DB27-935D-4AD0-B714-E28745D93008}"/>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Индекс строки выбирает кодовую точку Unicode, а не байт.</a:t>
            </a:r>
          </a:p>
        </p:txBody>
      </p:sp>
      <p:sp>
        <p:nvSpPr>
          <p:cNvPr id="4" name="surface-253">
            <a:extLst xmlns:a="http://schemas.openxmlformats.org/drawingml/2006/main">
              <a:ext uri="{FF2B5EF4-FFF2-40B4-BE49-F238E27FC236}">
                <a16:creationId xmlns:a16="http://schemas.microsoft.com/office/drawing/2014/main" id="{8E218D6A-B8F8-4CF6-9EE8-2F1C5FD10D42}"/>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254">
            <a:extLst xmlns:a="http://schemas.openxmlformats.org/drawingml/2006/main">
              <a:ext uri="{FF2B5EF4-FFF2-40B4-BE49-F238E27FC236}">
                <a16:creationId xmlns:a16="http://schemas.microsoft.com/office/drawing/2014/main" id="{AACDFB35-3D26-4564-9790-9C2F29253F80}"/>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255">
            <a:extLst xmlns:a="http://schemas.openxmlformats.org/drawingml/2006/main">
              <a:ext uri="{FF2B5EF4-FFF2-40B4-BE49-F238E27FC236}">
                <a16:creationId xmlns:a16="http://schemas.microsoft.com/office/drawing/2014/main" id="{F4FBAB9B-92D4-4806-90B0-7B6EB53C7E96}"/>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16</a:t>
            </a:r>
          </a:p>
        </p:txBody>
      </p:sp>
      <p:sp>
        <p:nvSpPr>
          <p:cNvPr id="7" name="surface-256">
            <a:extLst xmlns:a="http://schemas.openxmlformats.org/drawingml/2006/main">
              <a:ext uri="{FF2B5EF4-FFF2-40B4-BE49-F238E27FC236}">
                <a16:creationId xmlns:a16="http://schemas.microsoft.com/office/drawing/2014/main" id="{10BBE68A-7991-423D-B238-7EB1201CA5B3}"/>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16-257">
            <a:extLst xmlns:a="http://schemas.openxmlformats.org/drawingml/2006/main">
              <a:ext uri="{FF2B5EF4-FFF2-40B4-BE49-F238E27FC236}">
                <a16:creationId xmlns:a16="http://schemas.microsoft.com/office/drawing/2014/main" id="{7780F6C3-BC72-4FC6-A7FC-963F790CA4D1}"/>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s = "кот"</a:t>
            </a:r>
          </a:p>
        </p:txBody>
      </p:sp>
      <p:sp>
        <p:nvSpPr>
          <p:cNvPr id="9" name="code-16-258">
            <a:extLst xmlns:a="http://schemas.openxmlformats.org/drawingml/2006/main">
              <a:ext uri="{FF2B5EF4-FFF2-40B4-BE49-F238E27FC236}">
                <a16:creationId xmlns:a16="http://schemas.microsoft.com/office/drawing/2014/main" id="{6AB8883D-19B2-473E-8EC1-3744D5A6586F}"/>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len(s)         </a:t>
            </a:r>
            <a:r>
              <a:rPr sz="1988" b="0">
                <a:solidFill>
                  <a:srgbClr val="535A61"/>
                </a:solidFill>
                <a:latin typeface="Courier New"/>
                <a:ea typeface="Courier New"/>
                <a:cs typeface="Courier New"/>
              </a:rPr>
              <a:t># 3</a:t>
            </a:r>
          </a:p>
        </p:txBody>
      </p:sp>
      <p:sp>
        <p:nvSpPr>
          <p:cNvPr id="10" name="code-16-259">
            <a:extLst xmlns:a="http://schemas.openxmlformats.org/drawingml/2006/main">
              <a:ext uri="{FF2B5EF4-FFF2-40B4-BE49-F238E27FC236}">
                <a16:creationId xmlns:a16="http://schemas.microsoft.com/office/drawing/2014/main" id="{F5DA6C6E-BB93-4C8C-85FA-8D37CA2AAF5B}"/>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s[0]           </a:t>
            </a:r>
            <a:r>
              <a:rPr sz="1988" b="0">
                <a:solidFill>
                  <a:srgbClr val="535A61"/>
                </a:solidFill>
                <a:latin typeface="Courier New"/>
                <a:ea typeface="Courier New"/>
                <a:cs typeface="Courier New"/>
              </a:rPr>
              <a:t># "к"</a:t>
            </a:r>
          </a:p>
        </p:txBody>
      </p:sp>
      <p:sp>
        <p:nvSpPr>
          <p:cNvPr id="11" name="code-16-260">
            <a:extLst xmlns:a="http://schemas.openxmlformats.org/drawingml/2006/main">
              <a:ext uri="{FF2B5EF4-FFF2-40B4-BE49-F238E27FC236}">
                <a16:creationId xmlns:a16="http://schemas.microsoft.com/office/drawing/2014/main" id="{1E5183E1-C689-48D3-AE23-9D913BA77B12}"/>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s.upper()      </a:t>
            </a:r>
            <a:r>
              <a:rPr sz="1988" b="0">
                <a:solidFill>
                  <a:srgbClr val="535A61"/>
                </a:solidFill>
                <a:latin typeface="Courier New"/>
                <a:ea typeface="Courier New"/>
                <a:cs typeface="Courier New"/>
              </a:rPr>
              <a:t># "КОТ"</a:t>
            </a:r>
          </a:p>
        </p:txBody>
      </p:sp>
      <p:sp>
        <p:nvSpPr>
          <p:cNvPr id="12" name="code-16-261">
            <a:extLst xmlns:a="http://schemas.openxmlformats.org/drawingml/2006/main">
              <a:ext uri="{FF2B5EF4-FFF2-40B4-BE49-F238E27FC236}">
                <a16:creationId xmlns:a16="http://schemas.microsoft.com/office/drawing/2014/main" id="{B7F04258-E797-4232-84C6-485D9471B91F}"/>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print(s)       </a:t>
            </a:r>
            <a:r>
              <a:rPr sz="1988" b="0">
                <a:solidFill>
                  <a:srgbClr val="535A61"/>
                </a:solidFill>
                <a:latin typeface="Courier New"/>
                <a:ea typeface="Courier New"/>
                <a:cs typeface="Courier New"/>
              </a:rPr>
              <a:t># кот</a:t>
            </a:r>
          </a:p>
        </p:txBody>
      </p:sp>
      <p:sp>
        <p:nvSpPr>
          <p:cNvPr id="13" name="code-16-262">
            <a:extLst xmlns:a="http://schemas.openxmlformats.org/drawingml/2006/main">
              <a:ext uri="{FF2B5EF4-FFF2-40B4-BE49-F238E27FC236}">
                <a16:creationId xmlns:a16="http://schemas.microsoft.com/office/drawing/2014/main" id="{913C302A-1F82-451C-9796-2D9D1B8C163E}"/>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4" name="code-16-263">
            <a:extLst xmlns:a="http://schemas.openxmlformats.org/drawingml/2006/main">
              <a:ext uri="{FF2B5EF4-FFF2-40B4-BE49-F238E27FC236}">
                <a16:creationId xmlns:a16="http://schemas.microsoft.com/office/drawing/2014/main" id="{14FC9B6D-4C29-4B4B-A664-E83AC3999FEF}"/>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len("é")       </a:t>
            </a:r>
            <a:r>
              <a:rPr sz="1988" b="0">
                <a:solidFill>
                  <a:srgbClr val="535A61"/>
                </a:solidFill>
                <a:latin typeface="Courier New"/>
                <a:ea typeface="Courier New"/>
                <a:cs typeface="Courier New"/>
              </a:rPr>
              <a:t># 1</a:t>
            </a:r>
          </a:p>
        </p:txBody>
      </p:sp>
      <p:sp>
        <p:nvSpPr>
          <p:cNvPr id="15" name="code-16-264">
            <a:extLst xmlns:a="http://schemas.openxmlformats.org/drawingml/2006/main">
              <a:ext uri="{FF2B5EF4-FFF2-40B4-BE49-F238E27FC236}">
                <a16:creationId xmlns:a16="http://schemas.microsoft.com/office/drawing/2014/main" id="{DBBC2814-F9CB-4781-BB92-98C07B40762C}"/>
              </a:ext>
            </a:extLst>
          </p:cNvPr>
          <p:cNvSpPr>
            <a:spLocks xmlns:a="http://schemas.openxmlformats.org/drawingml/2006/main" noGrp="1"/>
          </p:cNvSpPr>
          <p:nvPr/>
        </p:nvSpPr>
        <p:spPr>
          <a:xfrm xmlns:a="http://schemas.openxmlformats.org/drawingml/2006/main">
            <a:off x="876300" y="453685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len("e\u0301")      </a:t>
            </a:r>
            <a:r>
              <a:rPr sz="1988" b="0">
                <a:solidFill>
                  <a:srgbClr val="535A61"/>
                </a:solidFill>
                <a:latin typeface="Courier New"/>
                <a:ea typeface="Courier New"/>
                <a:cs typeface="Courier New"/>
              </a:rPr>
              <a:t># 2</a:t>
            </a:r>
          </a:p>
        </p:txBody>
      </p:sp>
      <p:sp>
        <p:nvSpPr>
          <p:cNvPr id="16" name="text-265">
            <a:extLst xmlns:a="http://schemas.openxmlformats.org/drawingml/2006/main">
              <a:ext uri="{FF2B5EF4-FFF2-40B4-BE49-F238E27FC236}">
                <a16:creationId xmlns:a16="http://schemas.microsoft.com/office/drawing/2014/main" id="{2DD7393F-F8D5-4745-B7D7-6B7A12C4D77D}"/>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Нельзя изменить str</a:t>
            </a:r>
          </a:p>
        </p:txBody>
      </p:sp>
      <p:sp>
        <p:nvSpPr>
          <p:cNvPr id="17" name="text-266">
            <a:extLst xmlns:a="http://schemas.openxmlformats.org/drawingml/2006/main">
              <a:ext uri="{FF2B5EF4-FFF2-40B4-BE49-F238E27FC236}">
                <a16:creationId xmlns:a16="http://schemas.microsoft.com/office/drawing/2014/main" id="{8C2A893E-3909-4D97-A909-E630B57A5138}"/>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s[0] = "К" → TypeError.</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Методы возвращают результат.</a:t>
            </a:r>
          </a:p>
        </p:txBody>
      </p:sp>
      <p:sp>
        <p:nvSpPr>
          <p:cNvPr id="18" name="text-267">
            <a:extLst xmlns:a="http://schemas.openxmlformats.org/drawingml/2006/main">
              <a:ext uri="{FF2B5EF4-FFF2-40B4-BE49-F238E27FC236}">
                <a16:creationId xmlns:a16="http://schemas.microsoft.com/office/drawing/2014/main" id="{C51464C9-49F7-4EA1-9154-1908EC58A78E}"/>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Символ и len</a:t>
            </a:r>
          </a:p>
        </p:txBody>
      </p:sp>
      <p:sp>
        <p:nvSpPr>
          <p:cNvPr id="19" name="text-268">
            <a:extLst xmlns:a="http://schemas.openxmlformats.org/drawingml/2006/main">
              <a:ext uri="{FF2B5EF4-FFF2-40B4-BE49-F238E27FC236}">
                <a16:creationId xmlns:a16="http://schemas.microsoft.com/office/drawing/2014/main" id="{A23B2A32-4274-41C1-9FCA-E1A4A23D275F}"/>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Буква и добавочный знак —</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две кодовые точки.</a:t>
            </a:r>
          </a:p>
        </p:txBody>
      </p:sp>
      <p:sp>
        <p:nvSpPr>
          <p:cNvPr id="20" name="takeaway-16">
            <a:extLst xmlns:a="http://schemas.openxmlformats.org/drawingml/2006/main">
              <a:ext uri="{FF2B5EF4-FFF2-40B4-BE49-F238E27FC236}">
                <a16:creationId xmlns:a16="http://schemas.microsoft.com/office/drawing/2014/main" id="{503D718A-751D-4D6E-ABB6-1007D53C25D8}"/>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Нормализацию текста выбирают явно, когда она нужна задаче.</a:t>
            </a:r>
          </a:p>
        </p:txBody>
      </p:sp>
    </p:spTree>
    <p:extLst>
      <p:ext uri="{BB962C8B-B14F-4D97-AF65-F5344CB8AC3E}">
        <p14:creationId xmlns:p14="http://schemas.microsoft.com/office/powerpoint/2010/main" val="21182559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269">
            <a:extLst xmlns:a="http://schemas.openxmlformats.org/drawingml/2006/main">
              <a:ext uri="{FF2B5EF4-FFF2-40B4-BE49-F238E27FC236}">
                <a16:creationId xmlns:a16="http://schemas.microsoft.com/office/drawing/2014/main" id="{C80E1F2C-FEC3-4A86-A569-004ABC5A8B7C}"/>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03 / ПОСЛЕДОВАТЕЛЬНОСТИ</a:t>
            </a:r>
          </a:p>
        </p:txBody>
      </p:sp>
      <p:sp>
        <p:nvSpPr>
          <p:cNvPr id="2" name="title-17">
            <a:extLst xmlns:a="http://schemas.openxmlformats.org/drawingml/2006/main">
              <a:ext uri="{FF2B5EF4-FFF2-40B4-BE49-F238E27FC236}">
                <a16:creationId xmlns:a16="http://schemas.microsoft.com/office/drawing/2014/main" id="{A79EA2EE-7356-4CB0-A15E-8D214E614239}"/>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Срез задаёт полуинтервал</a:t>
            </a:r>
          </a:p>
        </p:txBody>
      </p:sp>
      <p:sp>
        <p:nvSpPr>
          <p:cNvPr id="3" name="text-270">
            <a:extLst xmlns:a="http://schemas.openxmlformats.org/drawingml/2006/main">
              <a:ext uri="{FF2B5EF4-FFF2-40B4-BE49-F238E27FC236}">
                <a16:creationId xmlns:a16="http://schemas.microsoft.com/office/drawing/2014/main" id="{8912C6FA-8AA7-4B02-83F4-C1795503AF7B}"/>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s[start:stop:step] — левая граница включена, правая исключена.</a:t>
            </a:r>
          </a:p>
        </p:txBody>
      </p:sp>
      <p:sp>
        <p:nvSpPr>
          <p:cNvPr id="4" name="surface-271">
            <a:extLst xmlns:a="http://schemas.openxmlformats.org/drawingml/2006/main">
              <a:ext uri="{FF2B5EF4-FFF2-40B4-BE49-F238E27FC236}">
                <a16:creationId xmlns:a16="http://schemas.microsoft.com/office/drawing/2014/main" id="{DF49198D-D31B-4FF8-A1D1-AA2535B48C98}"/>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272">
            <a:extLst xmlns:a="http://schemas.openxmlformats.org/drawingml/2006/main">
              <a:ext uri="{FF2B5EF4-FFF2-40B4-BE49-F238E27FC236}">
                <a16:creationId xmlns:a16="http://schemas.microsoft.com/office/drawing/2014/main" id="{6AFC3F20-1EA7-4CAC-968E-7293590E8707}"/>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273">
            <a:extLst xmlns:a="http://schemas.openxmlformats.org/drawingml/2006/main">
              <a:ext uri="{FF2B5EF4-FFF2-40B4-BE49-F238E27FC236}">
                <a16:creationId xmlns:a16="http://schemas.microsoft.com/office/drawing/2014/main" id="{6885FB52-E7C5-4BBC-B6DE-BBBF9158D121}"/>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17</a:t>
            </a:r>
          </a:p>
        </p:txBody>
      </p:sp>
      <p:sp>
        <p:nvSpPr>
          <p:cNvPr id="7" name="surface-274">
            <a:extLst xmlns:a="http://schemas.openxmlformats.org/drawingml/2006/main">
              <a:ext uri="{FF2B5EF4-FFF2-40B4-BE49-F238E27FC236}">
                <a16:creationId xmlns:a16="http://schemas.microsoft.com/office/drawing/2014/main" id="{D28379E5-FDB4-42B9-9748-1709B2C746A3}"/>
              </a:ext>
            </a:extLst>
          </p:cNvPr>
          <p:cNvSpPr>
            <a:spLocks xmlns:a="http://schemas.openxmlformats.org/drawingml/2006/main" noGrp="1"/>
          </p:cNvSpPr>
          <p:nvPr/>
        </p:nvSpPr>
        <p:spPr>
          <a:xfrm xmlns:a="http://schemas.openxmlformats.org/drawingml/2006/main">
            <a:off x="685800" y="2143125"/>
            <a:ext cx="10820400" cy="3238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17-275">
            <a:extLst xmlns:a="http://schemas.openxmlformats.org/drawingml/2006/main">
              <a:ext uri="{FF2B5EF4-FFF2-40B4-BE49-F238E27FC236}">
                <a16:creationId xmlns:a16="http://schemas.microsoft.com/office/drawing/2014/main" id="{D41E0303-AB59-442E-B6E2-EEB879FDEF8B}"/>
              </a:ext>
            </a:extLst>
          </p:cNvPr>
          <p:cNvSpPr>
            <a:spLocks xmlns:a="http://schemas.openxmlformats.org/drawingml/2006/main" noGrp="1"/>
          </p:cNvSpPr>
          <p:nvPr/>
        </p:nvSpPr>
        <p:spPr>
          <a:xfrm xmlns:a="http://schemas.openxmlformats.org/drawingml/2006/main">
            <a:off x="895350" y="2352675"/>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s = "Python"</a:t>
            </a:r>
          </a:p>
        </p:txBody>
      </p:sp>
      <p:sp>
        <p:nvSpPr>
          <p:cNvPr id="9" name="code-17-276">
            <a:extLst xmlns:a="http://schemas.openxmlformats.org/drawingml/2006/main">
              <a:ext uri="{FF2B5EF4-FFF2-40B4-BE49-F238E27FC236}">
                <a16:creationId xmlns:a16="http://schemas.microsoft.com/office/drawing/2014/main" id="{321D037D-B555-4157-8361-824FDD586FFD}"/>
              </a:ext>
            </a:extLst>
          </p:cNvPr>
          <p:cNvSpPr>
            <a:spLocks xmlns:a="http://schemas.openxmlformats.org/drawingml/2006/main" noGrp="1"/>
          </p:cNvSpPr>
          <p:nvPr/>
        </p:nvSpPr>
        <p:spPr>
          <a:xfrm xmlns:a="http://schemas.openxmlformats.org/drawingml/2006/main">
            <a:off x="895350" y="2697956"/>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 </a:t>
            </a:r>
          </a:p>
        </p:txBody>
      </p:sp>
      <p:sp>
        <p:nvSpPr>
          <p:cNvPr id="10" name="code-17-277">
            <a:extLst xmlns:a="http://schemas.openxmlformats.org/drawingml/2006/main">
              <a:ext uri="{FF2B5EF4-FFF2-40B4-BE49-F238E27FC236}">
                <a16:creationId xmlns:a16="http://schemas.microsoft.com/office/drawing/2014/main" id="{28AD37F6-2A5B-4249-BDA1-1077EDB6F7E1}"/>
              </a:ext>
            </a:extLst>
          </p:cNvPr>
          <p:cNvSpPr>
            <a:spLocks xmlns:a="http://schemas.openxmlformats.org/drawingml/2006/main" noGrp="1"/>
          </p:cNvSpPr>
          <p:nvPr/>
        </p:nvSpPr>
        <p:spPr>
          <a:xfrm xmlns:a="http://schemas.openxmlformats.org/drawingml/2006/main">
            <a:off x="895350" y="3043238"/>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s[0]      </a:t>
            </a:r>
            <a:r>
              <a:rPr sz="2175" b="0">
                <a:solidFill>
                  <a:srgbClr val="535A61"/>
                </a:solidFill>
                <a:latin typeface="Courier New"/>
                <a:ea typeface="Courier New"/>
                <a:cs typeface="Courier New"/>
              </a:rPr>
              <a:t># "P"           s[-1] — последний элемент</a:t>
            </a:r>
          </a:p>
        </p:txBody>
      </p:sp>
      <p:sp>
        <p:nvSpPr>
          <p:cNvPr id="11" name="code-17-278">
            <a:extLst xmlns:a="http://schemas.openxmlformats.org/drawingml/2006/main">
              <a:ext uri="{FF2B5EF4-FFF2-40B4-BE49-F238E27FC236}">
                <a16:creationId xmlns:a16="http://schemas.microsoft.com/office/drawing/2014/main" id="{3248BAEC-A2AF-4397-8B70-9890CE700560}"/>
              </a:ext>
            </a:extLst>
          </p:cNvPr>
          <p:cNvSpPr>
            <a:spLocks xmlns:a="http://schemas.openxmlformats.org/drawingml/2006/main" noGrp="1"/>
          </p:cNvSpPr>
          <p:nvPr/>
        </p:nvSpPr>
        <p:spPr>
          <a:xfrm xmlns:a="http://schemas.openxmlformats.org/drawingml/2006/main">
            <a:off x="895350" y="3388519"/>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s[1:4]    </a:t>
            </a:r>
            <a:r>
              <a:rPr sz="2175" b="0">
                <a:solidFill>
                  <a:srgbClr val="535A61"/>
                </a:solidFill>
                <a:latin typeface="Courier New"/>
                <a:ea typeface="Courier New"/>
                <a:cs typeface="Courier New"/>
              </a:rPr>
              <a:t># "yth"</a:t>
            </a:r>
          </a:p>
        </p:txBody>
      </p:sp>
      <p:sp>
        <p:nvSpPr>
          <p:cNvPr id="12" name="code-17-279">
            <a:extLst xmlns:a="http://schemas.openxmlformats.org/drawingml/2006/main">
              <a:ext uri="{FF2B5EF4-FFF2-40B4-BE49-F238E27FC236}">
                <a16:creationId xmlns:a16="http://schemas.microsoft.com/office/drawing/2014/main" id="{44725D96-E2E9-4853-BB6E-B34B012C476D}"/>
              </a:ext>
            </a:extLst>
          </p:cNvPr>
          <p:cNvSpPr>
            <a:spLocks xmlns:a="http://schemas.openxmlformats.org/drawingml/2006/main" noGrp="1"/>
          </p:cNvSpPr>
          <p:nvPr/>
        </p:nvSpPr>
        <p:spPr>
          <a:xfrm xmlns:a="http://schemas.openxmlformats.org/drawingml/2006/main">
            <a:off x="895350" y="3733800"/>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s[:3]     </a:t>
            </a:r>
            <a:r>
              <a:rPr sz="2175" b="0">
                <a:solidFill>
                  <a:srgbClr val="535A61"/>
                </a:solidFill>
                <a:latin typeface="Courier New"/>
                <a:ea typeface="Courier New"/>
                <a:cs typeface="Courier New"/>
              </a:rPr>
              <a:t># "Pyt"</a:t>
            </a:r>
          </a:p>
        </p:txBody>
      </p:sp>
      <p:sp>
        <p:nvSpPr>
          <p:cNvPr id="13" name="code-17-280">
            <a:extLst xmlns:a="http://schemas.openxmlformats.org/drawingml/2006/main">
              <a:ext uri="{FF2B5EF4-FFF2-40B4-BE49-F238E27FC236}">
                <a16:creationId xmlns:a16="http://schemas.microsoft.com/office/drawing/2014/main" id="{3BAF4263-9E20-4060-9DCC-1B73FFE714D2}"/>
              </a:ext>
            </a:extLst>
          </p:cNvPr>
          <p:cNvSpPr>
            <a:spLocks xmlns:a="http://schemas.openxmlformats.org/drawingml/2006/main" noGrp="1"/>
          </p:cNvSpPr>
          <p:nvPr/>
        </p:nvSpPr>
        <p:spPr>
          <a:xfrm xmlns:a="http://schemas.openxmlformats.org/drawingml/2006/main">
            <a:off x="895350" y="4079081"/>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s[::2]    </a:t>
            </a:r>
            <a:r>
              <a:rPr sz="2175" b="0">
                <a:solidFill>
                  <a:srgbClr val="535A61"/>
                </a:solidFill>
                <a:latin typeface="Courier New"/>
                <a:ea typeface="Courier New"/>
                <a:cs typeface="Courier New"/>
              </a:rPr>
              <a:t># "Pto"</a:t>
            </a:r>
          </a:p>
        </p:txBody>
      </p:sp>
      <p:sp>
        <p:nvSpPr>
          <p:cNvPr id="14" name="code-17-281">
            <a:extLst xmlns:a="http://schemas.openxmlformats.org/drawingml/2006/main">
              <a:ext uri="{FF2B5EF4-FFF2-40B4-BE49-F238E27FC236}">
                <a16:creationId xmlns:a16="http://schemas.microsoft.com/office/drawing/2014/main" id="{8E963D37-BE41-4C77-862E-329FBFAAFA9A}"/>
              </a:ext>
            </a:extLst>
          </p:cNvPr>
          <p:cNvSpPr>
            <a:spLocks xmlns:a="http://schemas.openxmlformats.org/drawingml/2006/main" noGrp="1"/>
          </p:cNvSpPr>
          <p:nvPr/>
        </p:nvSpPr>
        <p:spPr>
          <a:xfrm xmlns:a="http://schemas.openxmlformats.org/drawingml/2006/main">
            <a:off x="895350" y="4424363"/>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s[::-1]   </a:t>
            </a:r>
            <a:r>
              <a:rPr sz="2175" b="0">
                <a:solidFill>
                  <a:srgbClr val="535A61"/>
                </a:solidFill>
                <a:latin typeface="Courier New"/>
                <a:ea typeface="Courier New"/>
                <a:cs typeface="Courier New"/>
              </a:rPr>
              <a:t># "nohtyP"</a:t>
            </a:r>
          </a:p>
        </p:txBody>
      </p:sp>
      <p:sp>
        <p:nvSpPr>
          <p:cNvPr id="15" name="code-17-282">
            <a:extLst xmlns:a="http://schemas.openxmlformats.org/drawingml/2006/main">
              <a:ext uri="{FF2B5EF4-FFF2-40B4-BE49-F238E27FC236}">
                <a16:creationId xmlns:a16="http://schemas.microsoft.com/office/drawing/2014/main" id="{F115D151-F37D-4B24-B132-AB285FE1997A}"/>
              </a:ext>
            </a:extLst>
          </p:cNvPr>
          <p:cNvSpPr>
            <a:spLocks xmlns:a="http://schemas.openxmlformats.org/drawingml/2006/main" noGrp="1"/>
          </p:cNvSpPr>
          <p:nvPr/>
        </p:nvSpPr>
        <p:spPr>
          <a:xfrm xmlns:a="http://schemas.openxmlformats.org/drawingml/2006/main">
            <a:off x="895350" y="4769644"/>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s[99:]    </a:t>
            </a:r>
            <a:r>
              <a:rPr sz="2175" b="0">
                <a:solidFill>
                  <a:srgbClr val="535A61"/>
                </a:solidFill>
                <a:latin typeface="Courier New"/>
                <a:ea typeface="Courier New"/>
                <a:cs typeface="Courier New"/>
              </a:rPr>
              <a:t># ""            срез за границей допустим</a:t>
            </a:r>
          </a:p>
        </p:txBody>
      </p:sp>
      <p:sp>
        <p:nvSpPr>
          <p:cNvPr id="16" name="takeaway-17">
            <a:extLst xmlns:a="http://schemas.openxmlformats.org/drawingml/2006/main">
              <a:ext uri="{FF2B5EF4-FFF2-40B4-BE49-F238E27FC236}">
                <a16:creationId xmlns:a16="http://schemas.microsoft.com/office/drawing/2014/main" id="{9F2CEDB1-64ED-4A2D-9D3D-E63618FE3A2D}"/>
              </a:ext>
            </a:extLst>
          </p:cNvPr>
          <p:cNvSpPr>
            <a:spLocks xmlns:a="http://schemas.openxmlformats.org/drawingml/2006/main" noGrp="1"/>
          </p:cNvSpPr>
          <p:nvPr/>
        </p:nvSpPr>
        <p:spPr>
          <a:xfrm xmlns:a="http://schemas.openxmlformats.org/drawingml/2006/main">
            <a:off x="685800" y="6000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Неверный одиночный индекс вызывает IndexError; шаг среза 0 — ValueError.</a:t>
            </a:r>
          </a:p>
        </p:txBody>
      </p:sp>
    </p:spTree>
    <p:extLst>
      <p:ext uri="{BB962C8B-B14F-4D97-AF65-F5344CB8AC3E}">
        <p14:creationId xmlns:p14="http://schemas.microsoft.com/office/powerpoint/2010/main" val="17327872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283">
            <a:extLst xmlns:a="http://schemas.openxmlformats.org/drawingml/2006/main">
              <a:ext uri="{FF2B5EF4-FFF2-40B4-BE49-F238E27FC236}">
                <a16:creationId xmlns:a16="http://schemas.microsoft.com/office/drawing/2014/main" id="{3D74DA16-FDF5-47F2-8099-D95163828476}"/>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03 / БИНАРНЫЕ ДАННЫЕ</a:t>
            </a:r>
          </a:p>
        </p:txBody>
      </p:sp>
      <p:sp>
        <p:nvSpPr>
          <p:cNvPr id="2" name="title-18">
            <a:extLst xmlns:a="http://schemas.openxmlformats.org/drawingml/2006/main">
              <a:ext uri="{FF2B5EF4-FFF2-40B4-BE49-F238E27FC236}">
                <a16:creationId xmlns:a16="http://schemas.microsoft.com/office/drawing/2014/main" id="{3B7FD6B4-5C60-4185-AC96-8435EECF4B50}"/>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str и bytes разделяют текст и байты</a:t>
            </a:r>
          </a:p>
        </p:txBody>
      </p:sp>
      <p:sp>
        <p:nvSpPr>
          <p:cNvPr id="3" name="text-284">
            <a:extLst xmlns:a="http://schemas.openxmlformats.org/drawingml/2006/main">
              <a:ext uri="{FF2B5EF4-FFF2-40B4-BE49-F238E27FC236}">
                <a16:creationId xmlns:a16="http://schemas.microsoft.com/office/drawing/2014/main" id="{4AC9D96B-F444-4FAC-8CCD-4719E53FFD7C}"/>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Кодирование переводит текст в байты; декодирование выполняет обратный шаг.</a:t>
            </a:r>
          </a:p>
        </p:txBody>
      </p:sp>
      <p:sp>
        <p:nvSpPr>
          <p:cNvPr id="4" name="surface-285">
            <a:extLst xmlns:a="http://schemas.openxmlformats.org/drawingml/2006/main">
              <a:ext uri="{FF2B5EF4-FFF2-40B4-BE49-F238E27FC236}">
                <a16:creationId xmlns:a16="http://schemas.microsoft.com/office/drawing/2014/main" id="{3F90314B-C9B9-4FF0-B35A-FBF3BA36B377}"/>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286">
            <a:extLst xmlns:a="http://schemas.openxmlformats.org/drawingml/2006/main">
              <a:ext uri="{FF2B5EF4-FFF2-40B4-BE49-F238E27FC236}">
                <a16:creationId xmlns:a16="http://schemas.microsoft.com/office/drawing/2014/main" id="{89651088-D586-4B41-9AE1-121D35A36FBC}"/>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287">
            <a:extLst xmlns:a="http://schemas.openxmlformats.org/drawingml/2006/main">
              <a:ext uri="{FF2B5EF4-FFF2-40B4-BE49-F238E27FC236}">
                <a16:creationId xmlns:a16="http://schemas.microsoft.com/office/drawing/2014/main" id="{D1508EE7-23CD-4BFA-A54A-129B5AF4464B}"/>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18</a:t>
            </a:r>
          </a:p>
        </p:txBody>
      </p:sp>
      <p:sp>
        <p:nvSpPr>
          <p:cNvPr id="7" name="surface-288">
            <a:extLst xmlns:a="http://schemas.openxmlformats.org/drawingml/2006/main">
              <a:ext uri="{FF2B5EF4-FFF2-40B4-BE49-F238E27FC236}">
                <a16:creationId xmlns:a16="http://schemas.microsoft.com/office/drawing/2014/main" id="{90B1B7C3-59C6-458E-9909-2B61C114E1D8}"/>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18-289">
            <a:extLst xmlns:a="http://schemas.openxmlformats.org/drawingml/2006/main">
              <a:ext uri="{FF2B5EF4-FFF2-40B4-BE49-F238E27FC236}">
                <a16:creationId xmlns:a16="http://schemas.microsoft.com/office/drawing/2014/main" id="{20785523-CD0C-4140-82D0-453015B390F7}"/>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text = "Я"</a:t>
            </a:r>
          </a:p>
        </p:txBody>
      </p:sp>
      <p:sp>
        <p:nvSpPr>
          <p:cNvPr id="9" name="code-18-290">
            <a:extLst xmlns:a="http://schemas.openxmlformats.org/drawingml/2006/main">
              <a:ext uri="{FF2B5EF4-FFF2-40B4-BE49-F238E27FC236}">
                <a16:creationId xmlns:a16="http://schemas.microsoft.com/office/drawing/2014/main" id="{3C26C537-252D-4805-A185-160AA7709440}"/>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raw = text.encode("utf-8")</a:t>
            </a:r>
          </a:p>
        </p:txBody>
      </p:sp>
      <p:sp>
        <p:nvSpPr>
          <p:cNvPr id="10" name="code-18-291">
            <a:extLst xmlns:a="http://schemas.openxmlformats.org/drawingml/2006/main">
              <a:ext uri="{FF2B5EF4-FFF2-40B4-BE49-F238E27FC236}">
                <a16:creationId xmlns:a16="http://schemas.microsoft.com/office/drawing/2014/main" id="{1A71404E-FFC9-436C-9230-C4F125C08AD4}"/>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1" name="code-18-292">
            <a:extLst xmlns:a="http://schemas.openxmlformats.org/drawingml/2006/main">
              <a:ext uri="{FF2B5EF4-FFF2-40B4-BE49-F238E27FC236}">
                <a16:creationId xmlns:a16="http://schemas.microsoft.com/office/drawing/2014/main" id="{46837256-CCA1-4FBF-90EC-ECC2D046A1D0}"/>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len(text)  </a:t>
            </a:r>
            <a:r>
              <a:rPr sz="1988" b="0">
                <a:solidFill>
                  <a:srgbClr val="535A61"/>
                </a:solidFill>
                <a:latin typeface="Courier New"/>
                <a:ea typeface="Courier New"/>
                <a:cs typeface="Courier New"/>
              </a:rPr>
              <a:t># 1</a:t>
            </a:r>
          </a:p>
        </p:txBody>
      </p:sp>
      <p:sp>
        <p:nvSpPr>
          <p:cNvPr id="12" name="code-18-293">
            <a:extLst xmlns:a="http://schemas.openxmlformats.org/drawingml/2006/main">
              <a:ext uri="{FF2B5EF4-FFF2-40B4-BE49-F238E27FC236}">
                <a16:creationId xmlns:a16="http://schemas.microsoft.com/office/drawing/2014/main" id="{5D0826F9-311E-47DE-BFE1-8ECC279FD8FF}"/>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len(raw)   </a:t>
            </a:r>
            <a:r>
              <a:rPr sz="1988" b="0">
                <a:solidFill>
                  <a:srgbClr val="535A61"/>
                </a:solidFill>
                <a:latin typeface="Courier New"/>
                <a:ea typeface="Courier New"/>
                <a:cs typeface="Courier New"/>
              </a:rPr>
              <a:t># 2</a:t>
            </a:r>
          </a:p>
        </p:txBody>
      </p:sp>
      <p:sp>
        <p:nvSpPr>
          <p:cNvPr id="13" name="code-18-294">
            <a:extLst xmlns:a="http://schemas.openxmlformats.org/drawingml/2006/main">
              <a:ext uri="{FF2B5EF4-FFF2-40B4-BE49-F238E27FC236}">
                <a16:creationId xmlns:a16="http://schemas.microsoft.com/office/drawing/2014/main" id="{41258C84-7B2D-4CA1-A778-8DA5F5F67D5C}"/>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raw[0]     </a:t>
            </a:r>
            <a:r>
              <a:rPr sz="1988" b="0">
                <a:solidFill>
                  <a:srgbClr val="535A61"/>
                </a:solidFill>
                <a:latin typeface="Courier New"/>
                <a:ea typeface="Courier New"/>
                <a:cs typeface="Courier New"/>
              </a:rPr>
              <a:t># 208 (int)</a:t>
            </a:r>
          </a:p>
        </p:txBody>
      </p:sp>
      <p:sp>
        <p:nvSpPr>
          <p:cNvPr id="14" name="code-18-295">
            <a:extLst xmlns:a="http://schemas.openxmlformats.org/drawingml/2006/main">
              <a:ext uri="{FF2B5EF4-FFF2-40B4-BE49-F238E27FC236}">
                <a16:creationId xmlns:a16="http://schemas.microsoft.com/office/drawing/2014/main" id="{403E0302-428B-4FF0-8DD0-544BCAD401BC}"/>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5" name="code-18-296">
            <a:extLst xmlns:a="http://schemas.openxmlformats.org/drawingml/2006/main">
              <a:ext uri="{FF2B5EF4-FFF2-40B4-BE49-F238E27FC236}">
                <a16:creationId xmlns:a16="http://schemas.microsoft.com/office/drawing/2014/main" id="{917F2383-0202-4046-B931-31B204131DA4}"/>
              </a:ext>
            </a:extLst>
          </p:cNvPr>
          <p:cNvSpPr>
            <a:spLocks xmlns:a="http://schemas.openxmlformats.org/drawingml/2006/main" noGrp="1"/>
          </p:cNvSpPr>
          <p:nvPr/>
        </p:nvSpPr>
        <p:spPr>
          <a:xfrm xmlns:a="http://schemas.openxmlformats.org/drawingml/2006/main">
            <a:off x="876300" y="453685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raw.decode("utf-8")  </a:t>
            </a:r>
            <a:r>
              <a:rPr sz="1988" b="0">
                <a:solidFill>
                  <a:srgbClr val="535A61"/>
                </a:solidFill>
                <a:latin typeface="Courier New"/>
                <a:ea typeface="Courier New"/>
                <a:cs typeface="Courier New"/>
              </a:rPr>
              <a:t># "Я"</a:t>
            </a:r>
          </a:p>
        </p:txBody>
      </p:sp>
      <p:sp>
        <p:nvSpPr>
          <p:cNvPr id="16" name="text-297">
            <a:extLst xmlns:a="http://schemas.openxmlformats.org/drawingml/2006/main">
              <a:ext uri="{FF2B5EF4-FFF2-40B4-BE49-F238E27FC236}">
                <a16:creationId xmlns:a16="http://schemas.microsoft.com/office/drawing/2014/main" id="{E55492D3-416C-46BB-AD67-E826B0F7EDDF}"/>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bytes</a:t>
            </a:r>
          </a:p>
        </p:txBody>
      </p:sp>
      <p:sp>
        <p:nvSpPr>
          <p:cNvPr id="17" name="text-298">
            <a:extLst xmlns:a="http://schemas.openxmlformats.org/drawingml/2006/main">
              <a:ext uri="{FF2B5EF4-FFF2-40B4-BE49-F238E27FC236}">
                <a16:creationId xmlns:a16="http://schemas.microsoft.com/office/drawing/2014/main" id="{658099AF-DD38-4006-9422-6A73ECCCF457}"/>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Целые от 0 до 255.</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Изменения на месте нет.</a:t>
            </a:r>
          </a:p>
        </p:txBody>
      </p:sp>
      <p:sp>
        <p:nvSpPr>
          <p:cNvPr id="18" name="text-299">
            <a:extLst xmlns:a="http://schemas.openxmlformats.org/drawingml/2006/main">
              <a:ext uri="{FF2B5EF4-FFF2-40B4-BE49-F238E27FC236}">
                <a16:creationId xmlns:a16="http://schemas.microsoft.com/office/drawing/2014/main" id="{70B0689A-4920-4832-86DC-6719DF3F79A0}"/>
              </a:ext>
            </a:extLst>
          </p:cNvPr>
          <p:cNvSpPr>
            <a:spLocks xmlns:a="http://schemas.openxmlformats.org/drawingml/2006/main" noGrp="1"/>
          </p:cNvSpPr>
          <p:nvPr/>
        </p:nvSpPr>
        <p:spPr>
          <a:xfrm xmlns:a="http://schemas.openxmlformats.org/drawingml/2006/main">
            <a:off x="7905750" y="34290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bytearray</a:t>
            </a:r>
          </a:p>
        </p:txBody>
      </p:sp>
      <p:sp>
        <p:nvSpPr>
          <p:cNvPr id="19" name="text-300">
            <a:extLst xmlns:a="http://schemas.openxmlformats.org/drawingml/2006/main">
              <a:ext uri="{FF2B5EF4-FFF2-40B4-BE49-F238E27FC236}">
                <a16:creationId xmlns:a16="http://schemas.microsoft.com/office/drawing/2014/main" id="{F2B30417-16A2-4A1E-8A82-C0D0571504F2}"/>
              </a:ext>
            </a:extLst>
          </p:cNvPr>
          <p:cNvSpPr>
            <a:spLocks xmlns:a="http://schemas.openxmlformats.org/drawingml/2006/main" noGrp="1"/>
          </p:cNvSpPr>
          <p:nvPr/>
        </p:nvSpPr>
        <p:spPr>
          <a:xfrm xmlns:a="http://schemas.openxmlformats.org/drawingml/2006/main">
            <a:off x="7905750" y="38766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Изменяемый буфер байтов.</a:t>
            </a:r>
          </a:p>
        </p:txBody>
      </p:sp>
      <p:sp>
        <p:nvSpPr>
          <p:cNvPr id="20" name="text-301">
            <a:extLst xmlns:a="http://schemas.openxmlformats.org/drawingml/2006/main">
              <a:ext uri="{FF2B5EF4-FFF2-40B4-BE49-F238E27FC236}">
                <a16:creationId xmlns:a16="http://schemas.microsoft.com/office/drawing/2014/main" id="{8CDEFD98-C98C-4816-886E-C6F576F4A948}"/>
              </a:ext>
            </a:extLst>
          </p:cNvPr>
          <p:cNvSpPr>
            <a:spLocks xmlns:a="http://schemas.openxmlformats.org/drawingml/2006/main" noGrp="1"/>
          </p:cNvSpPr>
          <p:nvPr/>
        </p:nvSpPr>
        <p:spPr>
          <a:xfrm xmlns:a="http://schemas.openxmlformats.org/drawingml/2006/main">
            <a:off x="7905750" y="463867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memoryview</a:t>
            </a:r>
          </a:p>
        </p:txBody>
      </p:sp>
      <p:sp>
        <p:nvSpPr>
          <p:cNvPr id="21" name="text-302">
            <a:extLst xmlns:a="http://schemas.openxmlformats.org/drawingml/2006/main">
              <a:ext uri="{FF2B5EF4-FFF2-40B4-BE49-F238E27FC236}">
                <a16:creationId xmlns:a16="http://schemas.microsoft.com/office/drawing/2014/main" id="{6B477CF3-C25E-4682-B109-94E484AC6E07}"/>
              </a:ext>
            </a:extLst>
          </p:cNvPr>
          <p:cNvSpPr>
            <a:spLocks xmlns:a="http://schemas.openxmlformats.org/drawingml/2006/main" noGrp="1"/>
          </p:cNvSpPr>
          <p:nvPr/>
        </p:nvSpPr>
        <p:spPr>
          <a:xfrm xmlns:a="http://schemas.openxmlformats.org/drawingml/2006/main">
            <a:off x="7905750" y="508635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Представление буфера.</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Часто работает без копии.</a:t>
            </a:r>
          </a:p>
        </p:txBody>
      </p:sp>
    </p:spTree>
    <p:extLst>
      <p:ext uri="{BB962C8B-B14F-4D97-AF65-F5344CB8AC3E}">
        <p14:creationId xmlns:p14="http://schemas.microsoft.com/office/powerpoint/2010/main" val="17065441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303">
            <a:extLst xmlns:a="http://schemas.openxmlformats.org/drawingml/2006/main">
              <a:ext uri="{FF2B5EF4-FFF2-40B4-BE49-F238E27FC236}">
                <a16:creationId xmlns:a16="http://schemas.microsoft.com/office/drawing/2014/main" id="{672CBE22-4087-4BB9-B0AF-FE26F858288C}"/>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03 / СПИСКИ</a:t>
            </a:r>
          </a:p>
        </p:txBody>
      </p:sp>
      <p:sp>
        <p:nvSpPr>
          <p:cNvPr id="2" name="title-19">
            <a:extLst xmlns:a="http://schemas.openxmlformats.org/drawingml/2006/main">
              <a:ext uri="{FF2B5EF4-FFF2-40B4-BE49-F238E27FC236}">
                <a16:creationId xmlns:a16="http://schemas.microsoft.com/office/drawing/2014/main" id="{7A587BF8-D226-4CE7-ACF0-ED7608BB35B7}"/>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list хранит упорядоченные ссылки</a:t>
            </a:r>
          </a:p>
        </p:txBody>
      </p:sp>
      <p:sp>
        <p:nvSpPr>
          <p:cNvPr id="3" name="text-304">
            <a:extLst xmlns:a="http://schemas.openxmlformats.org/drawingml/2006/main">
              <a:ext uri="{FF2B5EF4-FFF2-40B4-BE49-F238E27FC236}">
                <a16:creationId xmlns:a16="http://schemas.microsoft.com/office/drawing/2014/main" id="{6E681CAC-B5C5-42A9-8D71-FE47DCDA5347}"/>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Элементы могут иметь разные типы, хотя однородные данные часто проще обрабатывать.</a:t>
            </a:r>
          </a:p>
        </p:txBody>
      </p:sp>
      <p:sp>
        <p:nvSpPr>
          <p:cNvPr id="4" name="surface-305">
            <a:extLst xmlns:a="http://schemas.openxmlformats.org/drawingml/2006/main">
              <a:ext uri="{FF2B5EF4-FFF2-40B4-BE49-F238E27FC236}">
                <a16:creationId xmlns:a16="http://schemas.microsoft.com/office/drawing/2014/main" id="{FC37A397-848F-40C8-8329-D1D443915F2D}"/>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306">
            <a:extLst xmlns:a="http://schemas.openxmlformats.org/drawingml/2006/main">
              <a:ext uri="{FF2B5EF4-FFF2-40B4-BE49-F238E27FC236}">
                <a16:creationId xmlns:a16="http://schemas.microsoft.com/office/drawing/2014/main" id="{773B8820-1E6D-4F7B-87B2-BE6C945CC8B1}"/>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307">
            <a:extLst xmlns:a="http://schemas.openxmlformats.org/drawingml/2006/main">
              <a:ext uri="{FF2B5EF4-FFF2-40B4-BE49-F238E27FC236}">
                <a16:creationId xmlns:a16="http://schemas.microsoft.com/office/drawing/2014/main" id="{F53D071B-F6F5-4064-A65F-92875DFFF0CF}"/>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19</a:t>
            </a:r>
          </a:p>
        </p:txBody>
      </p:sp>
      <p:sp>
        <p:nvSpPr>
          <p:cNvPr id="7" name="surface-308">
            <a:extLst xmlns:a="http://schemas.openxmlformats.org/drawingml/2006/main">
              <a:ext uri="{FF2B5EF4-FFF2-40B4-BE49-F238E27FC236}">
                <a16:creationId xmlns:a16="http://schemas.microsoft.com/office/drawing/2014/main" id="{EAD58FC1-5E57-4734-8C5A-B37C19355B5F}"/>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19-309">
            <a:extLst xmlns:a="http://schemas.openxmlformats.org/drawingml/2006/main">
              <a:ext uri="{FF2B5EF4-FFF2-40B4-BE49-F238E27FC236}">
                <a16:creationId xmlns:a16="http://schemas.microsoft.com/office/drawing/2014/main" id="{76A9B0C0-2DC2-4CD9-AAD2-2D1D204DD6DE}"/>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items = [3, 1, 2]</a:t>
            </a:r>
          </a:p>
        </p:txBody>
      </p:sp>
      <p:sp>
        <p:nvSpPr>
          <p:cNvPr id="9" name="code-19-310">
            <a:extLst xmlns:a="http://schemas.openxmlformats.org/drawingml/2006/main">
              <a:ext uri="{FF2B5EF4-FFF2-40B4-BE49-F238E27FC236}">
                <a16:creationId xmlns:a16="http://schemas.microsoft.com/office/drawing/2014/main" id="{690491B8-2528-4552-857A-6529BDA00B61}"/>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items.append(4)</a:t>
            </a:r>
          </a:p>
        </p:txBody>
      </p:sp>
      <p:sp>
        <p:nvSpPr>
          <p:cNvPr id="10" name="code-19-311">
            <a:extLst xmlns:a="http://schemas.openxmlformats.org/drawingml/2006/main">
              <a:ext uri="{FF2B5EF4-FFF2-40B4-BE49-F238E27FC236}">
                <a16:creationId xmlns:a16="http://schemas.microsoft.com/office/drawing/2014/main" id="{7BED3429-668E-43EC-94AD-77375936B066}"/>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items.extend([5, 6])</a:t>
            </a:r>
          </a:p>
        </p:txBody>
      </p:sp>
      <p:sp>
        <p:nvSpPr>
          <p:cNvPr id="11" name="code-19-312">
            <a:extLst xmlns:a="http://schemas.openxmlformats.org/drawingml/2006/main">
              <a:ext uri="{FF2B5EF4-FFF2-40B4-BE49-F238E27FC236}">
                <a16:creationId xmlns:a16="http://schemas.microsoft.com/office/drawing/2014/main" id="{9D0D1E82-1042-435F-8E06-921D5AF800B5}"/>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last = items.pop()   </a:t>
            </a:r>
            <a:r>
              <a:rPr sz="1988" b="0">
                <a:solidFill>
                  <a:srgbClr val="535A61"/>
                </a:solidFill>
                <a:latin typeface="Courier New"/>
                <a:ea typeface="Courier New"/>
                <a:cs typeface="Courier New"/>
              </a:rPr>
              <a:t># 6</a:t>
            </a:r>
          </a:p>
        </p:txBody>
      </p:sp>
      <p:sp>
        <p:nvSpPr>
          <p:cNvPr id="12" name="code-19-313">
            <a:extLst xmlns:a="http://schemas.openxmlformats.org/drawingml/2006/main">
              <a:ext uri="{FF2B5EF4-FFF2-40B4-BE49-F238E27FC236}">
                <a16:creationId xmlns:a16="http://schemas.microsoft.com/office/drawing/2014/main" id="{7CE8AB7B-1574-4FD1-B12D-9532DBE6F6E3}"/>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3" name="code-19-314">
            <a:extLst xmlns:a="http://schemas.openxmlformats.org/drawingml/2006/main">
              <a:ext uri="{FF2B5EF4-FFF2-40B4-BE49-F238E27FC236}">
                <a16:creationId xmlns:a16="http://schemas.microsoft.com/office/drawing/2014/main" id="{8D8E3AFC-4849-4D5C-9367-7D5488A6842D}"/>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result = items.sort()</a:t>
            </a:r>
          </a:p>
        </p:txBody>
      </p:sp>
      <p:sp>
        <p:nvSpPr>
          <p:cNvPr id="14" name="code-19-315">
            <a:extLst xmlns:a="http://schemas.openxmlformats.org/drawingml/2006/main">
              <a:ext uri="{FF2B5EF4-FFF2-40B4-BE49-F238E27FC236}">
                <a16:creationId xmlns:a16="http://schemas.microsoft.com/office/drawing/2014/main" id="{497596A3-6923-4010-B1A9-4A8E6D71EECF}"/>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print(items)   </a:t>
            </a:r>
            <a:r>
              <a:rPr sz="1988" b="0">
                <a:solidFill>
                  <a:srgbClr val="535A61"/>
                </a:solidFill>
                <a:latin typeface="Courier New"/>
                <a:ea typeface="Courier New"/>
                <a:cs typeface="Courier New"/>
              </a:rPr>
              <a:t># [1, 2, 3, 4, 5]</a:t>
            </a:r>
          </a:p>
        </p:txBody>
      </p:sp>
      <p:sp>
        <p:nvSpPr>
          <p:cNvPr id="15" name="code-19-316">
            <a:extLst xmlns:a="http://schemas.openxmlformats.org/drawingml/2006/main">
              <a:ext uri="{FF2B5EF4-FFF2-40B4-BE49-F238E27FC236}">
                <a16:creationId xmlns:a16="http://schemas.microsoft.com/office/drawing/2014/main" id="{65044B35-D955-4CC2-8EDD-FA8B71BBF5CC}"/>
              </a:ext>
            </a:extLst>
          </p:cNvPr>
          <p:cNvSpPr>
            <a:spLocks xmlns:a="http://schemas.openxmlformats.org/drawingml/2006/main" noGrp="1"/>
          </p:cNvSpPr>
          <p:nvPr/>
        </p:nvSpPr>
        <p:spPr>
          <a:xfrm xmlns:a="http://schemas.openxmlformats.org/drawingml/2006/main">
            <a:off x="876300" y="453685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print(result)  </a:t>
            </a:r>
            <a:r>
              <a:rPr sz="1988" b="0">
                <a:solidFill>
                  <a:srgbClr val="535A61"/>
                </a:solidFill>
                <a:latin typeface="Courier New"/>
                <a:ea typeface="Courier New"/>
                <a:cs typeface="Courier New"/>
              </a:rPr>
              <a:t># None</a:t>
            </a:r>
          </a:p>
        </p:txBody>
      </p:sp>
      <p:sp>
        <p:nvSpPr>
          <p:cNvPr id="16" name="text-317">
            <a:extLst xmlns:a="http://schemas.openxmlformats.org/drawingml/2006/main">
              <a:ext uri="{FF2B5EF4-FFF2-40B4-BE49-F238E27FC236}">
                <a16:creationId xmlns:a16="http://schemas.microsoft.com/office/drawing/2014/main" id="{6E983758-B4DE-4151-A814-97FB0B496DA5}"/>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append и extend</a:t>
            </a:r>
          </a:p>
        </p:txBody>
      </p:sp>
      <p:sp>
        <p:nvSpPr>
          <p:cNvPr id="17" name="text-318">
            <a:extLst xmlns:a="http://schemas.openxmlformats.org/drawingml/2006/main">
              <a:ext uri="{FF2B5EF4-FFF2-40B4-BE49-F238E27FC236}">
                <a16:creationId xmlns:a16="http://schemas.microsoft.com/office/drawing/2014/main" id="{420657BD-F6E8-4EAB-B234-F9A6902FD5CD}"/>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Один объект / элементы</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из итерируемого объекта.</a:t>
            </a:r>
          </a:p>
        </p:txBody>
      </p:sp>
      <p:sp>
        <p:nvSpPr>
          <p:cNvPr id="18" name="text-319">
            <a:extLst xmlns:a="http://schemas.openxmlformats.org/drawingml/2006/main">
              <a:ext uri="{FF2B5EF4-FFF2-40B4-BE49-F238E27FC236}">
                <a16:creationId xmlns:a16="http://schemas.microsoft.com/office/drawing/2014/main" id="{8CAC7252-4300-49B4-8E4B-344D45785354}"/>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sort и sorted</a:t>
            </a:r>
          </a:p>
        </p:txBody>
      </p:sp>
      <p:sp>
        <p:nvSpPr>
          <p:cNvPr id="19" name="text-320">
            <a:extLst xmlns:a="http://schemas.openxmlformats.org/drawingml/2006/main">
              <a:ext uri="{FF2B5EF4-FFF2-40B4-BE49-F238E27FC236}">
                <a16:creationId xmlns:a16="http://schemas.microsoft.com/office/drawing/2014/main" id="{E764FF41-7907-47AA-B922-001626E1D216}"/>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sort меняет список.</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sorted создаёт новый список.</a:t>
            </a:r>
          </a:p>
        </p:txBody>
      </p:sp>
    </p:spTree>
    <p:extLst>
      <p:ext uri="{BB962C8B-B14F-4D97-AF65-F5344CB8AC3E}">
        <p14:creationId xmlns:p14="http://schemas.microsoft.com/office/powerpoint/2010/main" val="7066599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321">
            <a:extLst xmlns:a="http://schemas.openxmlformats.org/drawingml/2006/main">
              <a:ext uri="{FF2B5EF4-FFF2-40B4-BE49-F238E27FC236}">
                <a16:creationId xmlns:a16="http://schemas.microsoft.com/office/drawing/2014/main" id="{79498530-F80F-4F79-8439-2AE9BEF5B291}"/>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03 / КОРТЕЖИ</a:t>
            </a:r>
          </a:p>
        </p:txBody>
      </p:sp>
      <p:sp>
        <p:nvSpPr>
          <p:cNvPr id="2" name="title-20">
            <a:extLst xmlns:a="http://schemas.openxmlformats.org/drawingml/2006/main">
              <a:ext uri="{FF2B5EF4-FFF2-40B4-BE49-F238E27FC236}">
                <a16:creationId xmlns:a16="http://schemas.microsoft.com/office/drawing/2014/main" id="{5833255B-5B57-4D21-ADC1-BF61C5C721C8}"/>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tuple фиксирует набор ссылок</a:t>
            </a:r>
          </a:p>
        </p:txBody>
      </p:sp>
      <p:sp>
        <p:nvSpPr>
          <p:cNvPr id="3" name="text-322">
            <a:extLst xmlns:a="http://schemas.openxmlformats.org/drawingml/2006/main">
              <a:ext uri="{FF2B5EF4-FFF2-40B4-BE49-F238E27FC236}">
                <a16:creationId xmlns:a16="http://schemas.microsoft.com/office/drawing/2014/main" id="{FC802FB6-5379-4BB8-AAC4-6C9FB01B674E}"/>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Неизменяемость кортежа не делает неизменяемыми вложенные объекты.</a:t>
            </a:r>
          </a:p>
        </p:txBody>
      </p:sp>
      <p:sp>
        <p:nvSpPr>
          <p:cNvPr id="4" name="surface-323">
            <a:extLst xmlns:a="http://schemas.openxmlformats.org/drawingml/2006/main">
              <a:ext uri="{FF2B5EF4-FFF2-40B4-BE49-F238E27FC236}">
                <a16:creationId xmlns:a16="http://schemas.microsoft.com/office/drawing/2014/main" id="{4EEAEB8C-6D32-4112-A1C4-8D8C9E865825}"/>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324">
            <a:extLst xmlns:a="http://schemas.openxmlformats.org/drawingml/2006/main">
              <a:ext uri="{FF2B5EF4-FFF2-40B4-BE49-F238E27FC236}">
                <a16:creationId xmlns:a16="http://schemas.microsoft.com/office/drawing/2014/main" id="{FDE8479C-1240-4E05-9078-8693ADE59E08}"/>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325">
            <a:extLst xmlns:a="http://schemas.openxmlformats.org/drawingml/2006/main">
              <a:ext uri="{FF2B5EF4-FFF2-40B4-BE49-F238E27FC236}">
                <a16:creationId xmlns:a16="http://schemas.microsoft.com/office/drawing/2014/main" id="{D01D741A-084C-4ED2-B5C2-B5504D458BBE}"/>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20</a:t>
            </a:r>
          </a:p>
        </p:txBody>
      </p:sp>
      <p:sp>
        <p:nvSpPr>
          <p:cNvPr id="7" name="surface-326">
            <a:extLst xmlns:a="http://schemas.openxmlformats.org/drawingml/2006/main">
              <a:ext uri="{FF2B5EF4-FFF2-40B4-BE49-F238E27FC236}">
                <a16:creationId xmlns:a16="http://schemas.microsoft.com/office/drawing/2014/main" id="{F3E66F50-F26A-4BC8-94B1-0AE00B77A25B}"/>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20-327">
            <a:extLst xmlns:a="http://schemas.openxmlformats.org/drawingml/2006/main">
              <a:ext uri="{FF2B5EF4-FFF2-40B4-BE49-F238E27FC236}">
                <a16:creationId xmlns:a16="http://schemas.microsoft.com/office/drawing/2014/main" id="{415E4D1F-0019-404B-A9D9-508D088C1230}"/>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point = (10, 20)</a:t>
            </a:r>
          </a:p>
        </p:txBody>
      </p:sp>
      <p:sp>
        <p:nvSpPr>
          <p:cNvPr id="9" name="code-20-328">
            <a:extLst xmlns:a="http://schemas.openxmlformats.org/drawingml/2006/main">
              <a:ext uri="{FF2B5EF4-FFF2-40B4-BE49-F238E27FC236}">
                <a16:creationId xmlns:a16="http://schemas.microsoft.com/office/drawing/2014/main" id="{79468AD3-0ECF-4046-96EA-F919106A8C23}"/>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x, y = point</a:t>
            </a:r>
          </a:p>
        </p:txBody>
      </p:sp>
      <p:sp>
        <p:nvSpPr>
          <p:cNvPr id="10" name="code-20-329">
            <a:extLst xmlns:a="http://schemas.openxmlformats.org/drawingml/2006/main">
              <a:ext uri="{FF2B5EF4-FFF2-40B4-BE49-F238E27FC236}">
                <a16:creationId xmlns:a16="http://schemas.microsoft.com/office/drawing/2014/main" id="{38644632-134D-45F7-88D7-0B50669265FE}"/>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single = (10,)</a:t>
            </a:r>
          </a:p>
        </p:txBody>
      </p:sp>
      <p:sp>
        <p:nvSpPr>
          <p:cNvPr id="11" name="code-20-330">
            <a:extLst xmlns:a="http://schemas.openxmlformats.org/drawingml/2006/main">
              <a:ext uri="{FF2B5EF4-FFF2-40B4-BE49-F238E27FC236}">
                <a16:creationId xmlns:a16="http://schemas.microsoft.com/office/drawing/2014/main" id="{5E545CC5-D658-451B-9F6F-F24EBA0839F7}"/>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2" name="code-20-331">
            <a:extLst xmlns:a="http://schemas.openxmlformats.org/drawingml/2006/main">
              <a:ext uri="{FF2B5EF4-FFF2-40B4-BE49-F238E27FC236}">
                <a16:creationId xmlns:a16="http://schemas.microsoft.com/office/drawing/2014/main" id="{B84CA80B-4409-4709-BA56-F17D86563CBF}"/>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t = ([1, 2], "group")</a:t>
            </a:r>
          </a:p>
        </p:txBody>
      </p:sp>
      <p:sp>
        <p:nvSpPr>
          <p:cNvPr id="13" name="code-20-332">
            <a:extLst xmlns:a="http://schemas.openxmlformats.org/drawingml/2006/main">
              <a:ext uri="{FF2B5EF4-FFF2-40B4-BE49-F238E27FC236}">
                <a16:creationId xmlns:a16="http://schemas.microsoft.com/office/drawing/2014/main" id="{871AFC47-AC53-417D-AA20-03E068AFC1F9}"/>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t[0].append(3)</a:t>
            </a:r>
          </a:p>
        </p:txBody>
      </p:sp>
      <p:sp>
        <p:nvSpPr>
          <p:cNvPr id="14" name="code-20-333">
            <a:extLst xmlns:a="http://schemas.openxmlformats.org/drawingml/2006/main">
              <a:ext uri="{FF2B5EF4-FFF2-40B4-BE49-F238E27FC236}">
                <a16:creationId xmlns:a16="http://schemas.microsoft.com/office/drawing/2014/main" id="{75F5AB0E-7E2E-435D-81FA-5EEC0E6548EC}"/>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print(t)  </a:t>
            </a:r>
            <a:r>
              <a:rPr sz="1988" b="0">
                <a:solidFill>
                  <a:srgbClr val="535A61"/>
                </a:solidFill>
                <a:latin typeface="Courier New"/>
                <a:ea typeface="Courier New"/>
                <a:cs typeface="Courier New"/>
              </a:rPr>
              <a:t># ([1, 2, 3], "group")</a:t>
            </a:r>
          </a:p>
        </p:txBody>
      </p:sp>
      <p:sp>
        <p:nvSpPr>
          <p:cNvPr id="15" name="text-334">
            <a:extLst xmlns:a="http://schemas.openxmlformats.org/drawingml/2006/main">
              <a:ext uri="{FF2B5EF4-FFF2-40B4-BE49-F238E27FC236}">
                <a16:creationId xmlns:a16="http://schemas.microsoft.com/office/drawing/2014/main" id="{1E17BE7C-8688-4754-8320-EB9733924C22}"/>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Важна запятая</a:t>
            </a:r>
          </a:p>
        </p:txBody>
      </p:sp>
      <p:sp>
        <p:nvSpPr>
          <p:cNvPr id="16" name="text-335">
            <a:extLst xmlns:a="http://schemas.openxmlformats.org/drawingml/2006/main">
              <a:ext uri="{FF2B5EF4-FFF2-40B4-BE49-F238E27FC236}">
                <a16:creationId xmlns:a16="http://schemas.microsoft.com/office/drawing/2014/main" id="{2C008D3A-BBF6-46CC-B2CC-635397AA2D99}"/>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(10) — int; (10,) — tuple.</a:t>
            </a:r>
          </a:p>
        </p:txBody>
      </p:sp>
      <p:sp>
        <p:nvSpPr>
          <p:cNvPr id="17" name="text-336">
            <a:extLst xmlns:a="http://schemas.openxmlformats.org/drawingml/2006/main">
              <a:ext uri="{FF2B5EF4-FFF2-40B4-BE49-F238E27FC236}">
                <a16:creationId xmlns:a16="http://schemas.microsoft.com/office/drawing/2014/main" id="{1BA527D1-2566-4DCE-BEB9-72CBD1A8E09B}"/>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Фиксированные ссылки</a:t>
            </a:r>
          </a:p>
        </p:txBody>
      </p:sp>
      <p:sp>
        <p:nvSpPr>
          <p:cNvPr id="18" name="text-337">
            <a:extLst xmlns:a="http://schemas.openxmlformats.org/drawingml/2006/main">
              <a:ext uri="{FF2B5EF4-FFF2-40B4-BE49-F238E27FC236}">
                <a16:creationId xmlns:a16="http://schemas.microsoft.com/office/drawing/2014/main" id="{8A759FFD-4739-4B6B-9DFE-9A3944AA8062}"/>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t[0] = [] запрещено.</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Изменить список t[0] можно.</a:t>
            </a:r>
          </a:p>
        </p:txBody>
      </p:sp>
      <p:sp>
        <p:nvSpPr>
          <p:cNvPr id="19" name="takeaway-20">
            <a:extLst xmlns:a="http://schemas.openxmlformats.org/drawingml/2006/main">
              <a:ext uri="{FF2B5EF4-FFF2-40B4-BE49-F238E27FC236}">
                <a16:creationId xmlns:a16="http://schemas.microsoft.com/office/drawing/2014/main" id="{8D42569E-185E-4329-AE2C-F699A81066DF}"/>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Возвращение нескольких значений часто использует упаковку и распаковку tuple.</a:t>
            </a:r>
          </a:p>
        </p:txBody>
      </p:sp>
    </p:spTree>
    <p:extLst>
      <p:ext uri="{BB962C8B-B14F-4D97-AF65-F5344CB8AC3E}">
        <p14:creationId xmlns:p14="http://schemas.microsoft.com/office/powerpoint/2010/main" val="170498202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338">
            <a:extLst xmlns:a="http://schemas.openxmlformats.org/drawingml/2006/main">
              <a:ext uri="{FF2B5EF4-FFF2-40B4-BE49-F238E27FC236}">
                <a16:creationId xmlns:a16="http://schemas.microsoft.com/office/drawing/2014/main" id="{F7E81725-B894-4BF1-9ABB-E06EDCF85F1B}"/>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03 / ЛОВУШКА СО ССЫЛКАМИ</a:t>
            </a:r>
          </a:p>
        </p:txBody>
      </p:sp>
      <p:sp>
        <p:nvSpPr>
          <p:cNvPr id="2" name="surface-339">
            <a:extLst xmlns:a="http://schemas.openxmlformats.org/drawingml/2006/main">
              <a:ext uri="{FF2B5EF4-FFF2-40B4-BE49-F238E27FC236}">
                <a16:creationId xmlns:a16="http://schemas.microsoft.com/office/drawing/2014/main" id="{35437774-E1A7-49FD-9B29-103656C6A0F9}"/>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3" name="text-340">
            <a:extLst xmlns:a="http://schemas.openxmlformats.org/drawingml/2006/main">
              <a:ext uri="{FF2B5EF4-FFF2-40B4-BE49-F238E27FC236}">
                <a16:creationId xmlns:a16="http://schemas.microsoft.com/office/drawing/2014/main" id="{FD996842-56E9-447B-B4A8-38B5649C5083}"/>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4" name="text-341">
            <a:extLst xmlns:a="http://schemas.openxmlformats.org/drawingml/2006/main">
              <a:ext uri="{FF2B5EF4-FFF2-40B4-BE49-F238E27FC236}">
                <a16:creationId xmlns:a16="http://schemas.microsoft.com/office/drawing/2014/main" id="{38C8C9B8-003B-45E3-BE0E-27056F04938F}"/>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21</a:t>
            </a:r>
          </a:p>
        </p:txBody>
      </p:sp>
      <p:sp>
        <p:nvSpPr>
          <p:cNvPr id="5" name="text-342">
            <a:extLst xmlns:a="http://schemas.openxmlformats.org/drawingml/2006/main">
              <a:ext uri="{FF2B5EF4-FFF2-40B4-BE49-F238E27FC236}">
                <a16:creationId xmlns:a16="http://schemas.microsoft.com/office/drawing/2014/main" id="{B78CC8EC-63DF-478C-9D3B-D98AFCA4277B}"/>
              </a:ext>
            </a:extLst>
          </p:cNvPr>
          <p:cNvSpPr>
            <a:spLocks xmlns:a="http://schemas.openxmlformats.org/drawingml/2006/main" noGrp="1"/>
          </p:cNvSpPr>
          <p:nvPr/>
        </p:nvSpPr>
        <p:spPr>
          <a:xfrm xmlns:a="http://schemas.openxmlformats.org/drawingml/2006/main">
            <a:off x="685800" y="1066800"/>
            <a:ext cx="59817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131518"/>
                </a:solidFill>
                <a:latin typeface="Arial"/>
                <a:ea typeface="Arial"/>
                <a:cs typeface="Arial"/>
              </a:defRPr>
            </a:pPr>
            <a:r>
              <a:rPr sz="4275" b="1">
                <a:solidFill>
                  <a:srgbClr val="131518"/>
                </a:solidFill>
                <a:latin typeface="Arial"/>
                <a:ea typeface="Arial"/>
                <a:cs typeface="Arial"/>
              </a:rPr>
              <a:t>Три строки.</a:t>
            </a:r>
          </a:p>
          <a:p xmlns:a="http://schemas.openxmlformats.org/drawingml/2006/main">
            <a:pPr algn="l">
              <a:defRPr sz="4275" b="1">
                <a:solidFill>
                  <a:srgbClr val="131518"/>
                </a:solidFill>
                <a:latin typeface="Arial"/>
                <a:ea typeface="Arial"/>
                <a:cs typeface="Arial"/>
              </a:defRPr>
            </a:pPr>
            <a:r>
              <a:rPr sz="4275" b="1">
                <a:solidFill>
                  <a:srgbClr val="131518"/>
                </a:solidFill>
                <a:latin typeface="Arial"/>
                <a:ea typeface="Arial"/>
                <a:cs typeface="Arial"/>
              </a:rPr>
              <a:t>Одна миска.</a:t>
            </a:r>
          </a:p>
        </p:txBody>
      </p:sp>
      <p:sp>
        <p:nvSpPr>
          <p:cNvPr id="6" name="text-343">
            <a:extLst xmlns:a="http://schemas.openxmlformats.org/drawingml/2006/main">
              <a:ext uri="{FF2B5EF4-FFF2-40B4-BE49-F238E27FC236}">
                <a16:creationId xmlns:a16="http://schemas.microsoft.com/office/drawing/2014/main" id="{4F56289F-7358-4B09-95C9-3AE1C2AA0FB5}"/>
              </a:ext>
            </a:extLst>
          </p:cNvPr>
          <p:cNvSpPr>
            <a:spLocks xmlns:a="http://schemas.openxmlformats.org/drawingml/2006/main" noGrp="1"/>
          </p:cNvSpPr>
          <p:nvPr/>
        </p:nvSpPr>
        <p:spPr>
          <a:xfrm xmlns:a="http://schemas.openxmlformats.org/drawingml/2006/main">
            <a:off x="685800" y="2600325"/>
            <a:ext cx="5648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5A61"/>
                </a:solidFill>
                <a:latin typeface="Arial"/>
                <a:ea typeface="Arial"/>
                <a:cs typeface="Arial"/>
              </a:defRPr>
            </a:pPr>
            <a:r>
              <a:rPr sz="2175" b="0">
                <a:solidFill>
                  <a:srgbClr val="535A61"/>
                </a:solidFill>
                <a:latin typeface="Arial"/>
                <a:ea typeface="Arial"/>
                <a:cs typeface="Arial"/>
              </a:rPr>
              <a:t>Повторение списка повторяет ссылки.</a:t>
            </a:r>
          </a:p>
        </p:txBody>
      </p:sp>
      <p:sp>
        <p:nvSpPr>
          <p:cNvPr id="7" name="surface-344">
            <a:extLst xmlns:a="http://schemas.openxmlformats.org/drawingml/2006/main">
              <a:ext uri="{FF2B5EF4-FFF2-40B4-BE49-F238E27FC236}">
                <a16:creationId xmlns:a16="http://schemas.microsoft.com/office/drawing/2014/main" id="{0404B18C-60B9-432D-9246-14D55F66BD32}"/>
              </a:ext>
            </a:extLst>
          </p:cNvPr>
          <p:cNvSpPr>
            <a:spLocks xmlns:a="http://schemas.openxmlformats.org/drawingml/2006/main" noGrp="1"/>
          </p:cNvSpPr>
          <p:nvPr/>
        </p:nvSpPr>
        <p:spPr>
          <a:xfrm xmlns:a="http://schemas.openxmlformats.org/drawingml/2006/main">
            <a:off x="685800" y="3514725"/>
            <a:ext cx="5657850" cy="2125313"/>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21-345">
            <a:extLst xmlns:a="http://schemas.openxmlformats.org/drawingml/2006/main">
              <a:ext uri="{FF2B5EF4-FFF2-40B4-BE49-F238E27FC236}">
                <a16:creationId xmlns:a16="http://schemas.microsoft.com/office/drawing/2014/main" id="{8E396DDB-9FFA-4B61-85EC-06041270DC39}"/>
              </a:ext>
            </a:extLst>
          </p:cNvPr>
          <p:cNvSpPr>
            <a:spLocks xmlns:a="http://schemas.openxmlformats.org/drawingml/2006/main" noGrp="1"/>
          </p:cNvSpPr>
          <p:nvPr/>
        </p:nvSpPr>
        <p:spPr>
          <a:xfrm xmlns:a="http://schemas.openxmlformats.org/drawingml/2006/main">
            <a:off x="866775" y="3695700"/>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131518"/>
                </a:solidFill>
                <a:latin typeface="Courier New"/>
                <a:ea typeface="Courier New"/>
                <a:cs typeface="Courier New"/>
              </a:rPr>
              <a:t>grid = [[0] * 3] * 3</a:t>
            </a:r>
          </a:p>
        </p:txBody>
      </p:sp>
      <p:sp>
        <p:nvSpPr>
          <p:cNvPr id="9" name="code-21-346">
            <a:extLst xmlns:a="http://schemas.openxmlformats.org/drawingml/2006/main">
              <a:ext uri="{FF2B5EF4-FFF2-40B4-BE49-F238E27FC236}">
                <a16:creationId xmlns:a16="http://schemas.microsoft.com/office/drawing/2014/main" id="{02BC8420-CED2-4C36-BCCC-8A5B40B3DDC1}"/>
              </a:ext>
            </a:extLst>
          </p:cNvPr>
          <p:cNvSpPr>
            <a:spLocks xmlns:a="http://schemas.openxmlformats.org/drawingml/2006/main" noGrp="1"/>
          </p:cNvSpPr>
          <p:nvPr/>
        </p:nvSpPr>
        <p:spPr>
          <a:xfrm xmlns:a="http://schemas.openxmlformats.org/drawingml/2006/main">
            <a:off x="866775" y="3989594"/>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131518"/>
                </a:solidFill>
                <a:latin typeface="Courier New"/>
                <a:ea typeface="Courier New"/>
                <a:cs typeface="Courier New"/>
              </a:rPr>
              <a:t>grid[0][0] = 1</a:t>
            </a:r>
          </a:p>
        </p:txBody>
      </p:sp>
      <p:sp>
        <p:nvSpPr>
          <p:cNvPr id="10" name="code-21-347">
            <a:extLst xmlns:a="http://schemas.openxmlformats.org/drawingml/2006/main">
              <a:ext uri="{FF2B5EF4-FFF2-40B4-BE49-F238E27FC236}">
                <a16:creationId xmlns:a16="http://schemas.microsoft.com/office/drawing/2014/main" id="{3D05DFA1-B750-4583-9536-93E05DD82200}"/>
              </a:ext>
            </a:extLst>
          </p:cNvPr>
          <p:cNvSpPr>
            <a:spLocks xmlns:a="http://schemas.openxmlformats.org/drawingml/2006/main" noGrp="1"/>
          </p:cNvSpPr>
          <p:nvPr/>
        </p:nvSpPr>
        <p:spPr>
          <a:xfrm xmlns:a="http://schemas.openxmlformats.org/drawingml/2006/main">
            <a:off x="866775" y="4283488"/>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131518"/>
                </a:solidFill>
                <a:latin typeface="Courier New"/>
                <a:ea typeface="Courier New"/>
                <a:cs typeface="Courier New"/>
              </a:rPr>
              <a:t> </a:t>
            </a:r>
          </a:p>
        </p:txBody>
      </p:sp>
      <p:sp>
        <p:nvSpPr>
          <p:cNvPr id="11" name="code-21-348">
            <a:extLst xmlns:a="http://schemas.openxmlformats.org/drawingml/2006/main">
              <a:ext uri="{FF2B5EF4-FFF2-40B4-BE49-F238E27FC236}">
                <a16:creationId xmlns:a16="http://schemas.microsoft.com/office/drawing/2014/main" id="{F4677891-C6F6-43B9-8238-628099ECDCEB}"/>
              </a:ext>
            </a:extLst>
          </p:cNvPr>
          <p:cNvSpPr>
            <a:spLocks xmlns:a="http://schemas.openxmlformats.org/drawingml/2006/main" noGrp="1"/>
          </p:cNvSpPr>
          <p:nvPr/>
        </p:nvSpPr>
        <p:spPr>
          <a:xfrm xmlns:a="http://schemas.openxmlformats.org/drawingml/2006/main">
            <a:off x="866775" y="4577382"/>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535A61"/>
                </a:solidFill>
                <a:latin typeface="Courier New"/>
                <a:ea typeface="Courier New"/>
                <a:cs typeface="Courier New"/>
              </a:rPr>
              <a:t># [[1, 0, 0],</a:t>
            </a:r>
          </a:p>
        </p:txBody>
      </p:sp>
      <p:sp>
        <p:nvSpPr>
          <p:cNvPr id="12" name="code-21-349">
            <a:extLst xmlns:a="http://schemas.openxmlformats.org/drawingml/2006/main">
              <a:ext uri="{FF2B5EF4-FFF2-40B4-BE49-F238E27FC236}">
                <a16:creationId xmlns:a16="http://schemas.microsoft.com/office/drawing/2014/main" id="{2DD3E9EB-4614-4A83-A9D4-045AD39E4811}"/>
              </a:ext>
            </a:extLst>
          </p:cNvPr>
          <p:cNvSpPr>
            <a:spLocks xmlns:a="http://schemas.openxmlformats.org/drawingml/2006/main" noGrp="1"/>
          </p:cNvSpPr>
          <p:nvPr/>
        </p:nvSpPr>
        <p:spPr>
          <a:xfrm xmlns:a="http://schemas.openxmlformats.org/drawingml/2006/main">
            <a:off x="866775" y="4871276"/>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535A61"/>
                </a:solidFill>
                <a:latin typeface="Courier New"/>
                <a:ea typeface="Courier New"/>
                <a:cs typeface="Courier New"/>
              </a:rPr>
              <a:t>#  [1, 0, 0],</a:t>
            </a:r>
          </a:p>
        </p:txBody>
      </p:sp>
      <p:sp>
        <p:nvSpPr>
          <p:cNvPr id="13" name="code-21-350">
            <a:extLst xmlns:a="http://schemas.openxmlformats.org/drawingml/2006/main">
              <a:ext uri="{FF2B5EF4-FFF2-40B4-BE49-F238E27FC236}">
                <a16:creationId xmlns:a16="http://schemas.microsoft.com/office/drawing/2014/main" id="{2D7D0F7E-3248-4D23-AFA4-6A1AF3FFC5EA}"/>
              </a:ext>
            </a:extLst>
          </p:cNvPr>
          <p:cNvSpPr>
            <a:spLocks xmlns:a="http://schemas.openxmlformats.org/drawingml/2006/main" noGrp="1"/>
          </p:cNvSpPr>
          <p:nvPr/>
        </p:nvSpPr>
        <p:spPr>
          <a:xfrm xmlns:a="http://schemas.openxmlformats.org/drawingml/2006/main">
            <a:off x="866775" y="5165169"/>
            <a:ext cx="5295900" cy="312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13" b="0">
                <a:solidFill>
                  <a:srgbClr val="131518"/>
                </a:solidFill>
                <a:latin typeface="Courier New"/>
                <a:ea typeface="Courier New"/>
                <a:cs typeface="Courier New"/>
              </a:defRPr>
            </a:pPr>
            <a:r>
              <a:rPr sz="1913" b="0">
                <a:solidFill>
                  <a:srgbClr val="535A61"/>
                </a:solidFill>
                <a:latin typeface="Courier New"/>
                <a:ea typeface="Courier New"/>
                <a:cs typeface="Courier New"/>
              </a:rPr>
              <a:t>#  [1, 0, 0]]</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53292ac2bdd4f29"/>
          <a:stretch xmlns:a="http://schemas.openxmlformats.org/drawingml/2006/main"/>
        </p:blipFill>
        <p:spPr>
          <a:xfrm xmlns:a="http://schemas.openxmlformats.org/drawingml/2006/main">
            <a:off x="7066843" y="952500"/>
            <a:ext cx="3963813" cy="4953000"/>
          </a:xfrm>
          <a:prstGeom xmlns:a="http://schemas.openxmlformats.org/drawingml/2006/main" prst="rect">
            <a:avLst/>
          </a:prstGeom>
        </p:spPr>
      </p:pic>
      <p:sp>
        <p:nvSpPr>
          <p:cNvPr id="15" name="takeaway-21">
            <a:extLst xmlns:a="http://schemas.openxmlformats.org/drawingml/2006/main">
              <a:ext uri="{FF2B5EF4-FFF2-40B4-BE49-F238E27FC236}">
                <a16:creationId xmlns:a16="http://schemas.microsoft.com/office/drawing/2014/main" id="{A1E3EB5A-421C-4580-B749-13F0E66889A3}"/>
              </a:ext>
            </a:extLst>
          </p:cNvPr>
          <p:cNvSpPr>
            <a:spLocks xmlns:a="http://schemas.openxmlformats.org/drawingml/2006/main" noGrp="1"/>
          </p:cNvSpPr>
          <p:nvPr/>
        </p:nvSpPr>
        <p:spPr>
          <a:xfrm xmlns:a="http://schemas.openxmlformats.org/drawingml/2006/main">
            <a:off x="685800" y="6000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Независимые строки: [[0] * 3 for _ in range(3)]</a:t>
            </a:r>
          </a:p>
        </p:txBody>
      </p:sp>
    </p:spTree>
    <p:extLst>
      <p:ext uri="{BB962C8B-B14F-4D97-AF65-F5344CB8AC3E}">
        <p14:creationId xmlns:p14="http://schemas.microsoft.com/office/powerpoint/2010/main" val="89289284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351">
            <a:extLst xmlns:a="http://schemas.openxmlformats.org/drawingml/2006/main">
              <a:ext uri="{FF2B5EF4-FFF2-40B4-BE49-F238E27FC236}">
                <a16:creationId xmlns:a16="http://schemas.microsoft.com/office/drawing/2014/main" id="{8F5DA72C-E302-4C29-9787-6D349A729195}"/>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03 / КОПИРОВАНИЕ</a:t>
            </a:r>
          </a:p>
        </p:txBody>
      </p:sp>
      <p:sp>
        <p:nvSpPr>
          <p:cNvPr id="2" name="title-22">
            <a:extLst xmlns:a="http://schemas.openxmlformats.org/drawingml/2006/main">
              <a:ext uri="{FF2B5EF4-FFF2-40B4-BE49-F238E27FC236}">
                <a16:creationId xmlns:a16="http://schemas.microsoft.com/office/drawing/2014/main" id="{5BC5AD70-08AA-4D9A-B1F9-26BECFDE0847}"/>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Копия бывает поверхностной</a:t>
            </a:r>
          </a:p>
        </p:txBody>
      </p:sp>
      <p:sp>
        <p:nvSpPr>
          <p:cNvPr id="3" name="text-352">
            <a:extLst xmlns:a="http://schemas.openxmlformats.org/drawingml/2006/main">
              <a:ext uri="{FF2B5EF4-FFF2-40B4-BE49-F238E27FC236}">
                <a16:creationId xmlns:a16="http://schemas.microsoft.com/office/drawing/2014/main" id="{EBDB431D-CBA0-4845-BF0D-35D4D78125BA}"/>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Новый внешний контейнер ещё не означает независимость вложенных данных.</a:t>
            </a:r>
          </a:p>
        </p:txBody>
      </p:sp>
      <p:sp>
        <p:nvSpPr>
          <p:cNvPr id="4" name="surface-353">
            <a:extLst xmlns:a="http://schemas.openxmlformats.org/drawingml/2006/main">
              <a:ext uri="{FF2B5EF4-FFF2-40B4-BE49-F238E27FC236}">
                <a16:creationId xmlns:a16="http://schemas.microsoft.com/office/drawing/2014/main" id="{80928A92-8297-4750-B857-707C02990B48}"/>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354">
            <a:extLst xmlns:a="http://schemas.openxmlformats.org/drawingml/2006/main">
              <a:ext uri="{FF2B5EF4-FFF2-40B4-BE49-F238E27FC236}">
                <a16:creationId xmlns:a16="http://schemas.microsoft.com/office/drawing/2014/main" id="{65EA4E88-175C-4EFD-B9B3-D6DBDD0D0202}"/>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355">
            <a:extLst xmlns:a="http://schemas.openxmlformats.org/drawingml/2006/main">
              <a:ext uri="{FF2B5EF4-FFF2-40B4-BE49-F238E27FC236}">
                <a16:creationId xmlns:a16="http://schemas.microsoft.com/office/drawing/2014/main" id="{90771341-312F-4AB5-8D22-A99FC85DE010}"/>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22</a:t>
            </a:r>
          </a:p>
        </p:txBody>
      </p:sp>
      <p:sp>
        <p:nvSpPr>
          <p:cNvPr id="7" name="text-356">
            <a:extLst xmlns:a="http://schemas.openxmlformats.org/drawingml/2006/main">
              <a:ext uri="{FF2B5EF4-FFF2-40B4-BE49-F238E27FC236}">
                <a16:creationId xmlns:a16="http://schemas.microsoft.com/office/drawing/2014/main" id="{F802EC39-FC8F-43B5-B1E8-7DF66F234145}"/>
              </a:ext>
            </a:extLst>
          </p:cNvPr>
          <p:cNvSpPr>
            <a:spLocks xmlns:a="http://schemas.openxmlformats.org/drawingml/2006/main" noGrp="1"/>
          </p:cNvSpPr>
          <p:nvPr/>
        </p:nvSpPr>
        <p:spPr>
          <a:xfrm xmlns:a="http://schemas.openxmlformats.org/drawingml/2006/main">
            <a:off x="68580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list.copy()</a:t>
            </a:r>
          </a:p>
        </p:txBody>
      </p:sp>
      <p:sp>
        <p:nvSpPr>
          <p:cNvPr id="8" name="surface-357">
            <a:extLst xmlns:a="http://schemas.openxmlformats.org/drawingml/2006/main">
              <a:ext uri="{FF2B5EF4-FFF2-40B4-BE49-F238E27FC236}">
                <a16:creationId xmlns:a16="http://schemas.microsoft.com/office/drawing/2014/main" id="{E0DAC692-0461-4090-AA5B-880B25F5D6D7}"/>
              </a:ext>
            </a:extLst>
          </p:cNvPr>
          <p:cNvSpPr>
            <a:spLocks xmlns:a="http://schemas.openxmlformats.org/drawingml/2006/main" noGrp="1"/>
          </p:cNvSpPr>
          <p:nvPr/>
        </p:nvSpPr>
        <p:spPr>
          <a:xfrm xmlns:a="http://schemas.openxmlformats.org/drawingml/2006/main">
            <a:off x="68580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code-22-358">
            <a:extLst xmlns:a="http://schemas.openxmlformats.org/drawingml/2006/main">
              <a:ext uri="{FF2B5EF4-FFF2-40B4-BE49-F238E27FC236}">
                <a16:creationId xmlns:a16="http://schemas.microsoft.com/office/drawing/2014/main" id="{922D849C-B1CF-4FA6-8ECB-DFEE8606BFC1}"/>
              </a:ext>
            </a:extLst>
          </p:cNvPr>
          <p:cNvSpPr>
            <a:spLocks xmlns:a="http://schemas.openxmlformats.org/drawingml/2006/main" noGrp="1"/>
          </p:cNvSpPr>
          <p:nvPr/>
        </p:nvSpPr>
        <p:spPr>
          <a:xfrm xmlns:a="http://schemas.openxmlformats.org/drawingml/2006/main">
            <a:off x="84772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a = [[1], [2]]</a:t>
            </a:r>
          </a:p>
        </p:txBody>
      </p:sp>
      <p:sp>
        <p:nvSpPr>
          <p:cNvPr id="10" name="code-22-359">
            <a:extLst xmlns:a="http://schemas.openxmlformats.org/drawingml/2006/main">
              <a:ext uri="{FF2B5EF4-FFF2-40B4-BE49-F238E27FC236}">
                <a16:creationId xmlns:a16="http://schemas.microsoft.com/office/drawing/2014/main" id="{15C3C3B3-EDA8-4A41-993B-4120DCC2E5A2}"/>
              </a:ext>
            </a:extLst>
          </p:cNvPr>
          <p:cNvSpPr>
            <a:spLocks xmlns:a="http://schemas.openxmlformats.org/drawingml/2006/main" noGrp="1"/>
          </p:cNvSpPr>
          <p:nvPr/>
        </p:nvSpPr>
        <p:spPr>
          <a:xfrm xmlns:a="http://schemas.openxmlformats.org/drawingml/2006/main">
            <a:off x="84772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 = a.copy()</a:t>
            </a:r>
          </a:p>
        </p:txBody>
      </p:sp>
      <p:sp>
        <p:nvSpPr>
          <p:cNvPr id="11" name="code-22-360">
            <a:extLst xmlns:a="http://schemas.openxmlformats.org/drawingml/2006/main">
              <a:ext uri="{FF2B5EF4-FFF2-40B4-BE49-F238E27FC236}">
                <a16:creationId xmlns:a16="http://schemas.microsoft.com/office/drawing/2014/main" id="{0C446BEA-2F4D-47C4-B87B-5D0CB9E6AE09}"/>
              </a:ext>
            </a:extLst>
          </p:cNvPr>
          <p:cNvSpPr>
            <a:spLocks xmlns:a="http://schemas.openxmlformats.org/drawingml/2006/main" noGrp="1"/>
          </p:cNvSpPr>
          <p:nvPr/>
        </p:nvSpPr>
        <p:spPr>
          <a:xfrm xmlns:a="http://schemas.openxmlformats.org/drawingml/2006/main">
            <a:off x="84772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b[0].append(9)</a:t>
            </a:r>
          </a:p>
        </p:txBody>
      </p:sp>
      <p:sp>
        <p:nvSpPr>
          <p:cNvPr id="12" name="code-22-361">
            <a:extLst xmlns:a="http://schemas.openxmlformats.org/drawingml/2006/main">
              <a:ext uri="{FF2B5EF4-FFF2-40B4-BE49-F238E27FC236}">
                <a16:creationId xmlns:a16="http://schemas.microsoft.com/office/drawing/2014/main" id="{037E9A38-F657-4FA9-8332-3DFEA6BC242D}"/>
              </a:ext>
            </a:extLst>
          </p:cNvPr>
          <p:cNvSpPr>
            <a:spLocks xmlns:a="http://schemas.openxmlformats.org/drawingml/2006/main" noGrp="1"/>
          </p:cNvSpPr>
          <p:nvPr/>
        </p:nvSpPr>
        <p:spPr>
          <a:xfrm xmlns:a="http://schemas.openxmlformats.org/drawingml/2006/main">
            <a:off x="84772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13" name="code-22-362">
            <a:extLst xmlns:a="http://schemas.openxmlformats.org/drawingml/2006/main">
              <a:ext uri="{FF2B5EF4-FFF2-40B4-BE49-F238E27FC236}">
                <a16:creationId xmlns:a16="http://schemas.microsoft.com/office/drawing/2014/main" id="{8B117892-DF4D-413E-A554-BC31369DE08C}"/>
              </a:ext>
            </a:extLst>
          </p:cNvPr>
          <p:cNvSpPr>
            <a:spLocks xmlns:a="http://schemas.openxmlformats.org/drawingml/2006/main" noGrp="1"/>
          </p:cNvSpPr>
          <p:nvPr/>
        </p:nvSpPr>
        <p:spPr>
          <a:xfrm xmlns:a="http://schemas.openxmlformats.org/drawingml/2006/main">
            <a:off x="84772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print(a)</a:t>
            </a:r>
          </a:p>
        </p:txBody>
      </p:sp>
      <p:sp>
        <p:nvSpPr>
          <p:cNvPr id="14" name="code-22-363">
            <a:extLst xmlns:a="http://schemas.openxmlformats.org/drawingml/2006/main">
              <a:ext uri="{FF2B5EF4-FFF2-40B4-BE49-F238E27FC236}">
                <a16:creationId xmlns:a16="http://schemas.microsoft.com/office/drawing/2014/main" id="{63B5A4AA-35FF-4BED-B169-1523DA866524}"/>
              </a:ext>
            </a:extLst>
          </p:cNvPr>
          <p:cNvSpPr>
            <a:spLocks xmlns:a="http://schemas.openxmlformats.org/drawingml/2006/main" noGrp="1"/>
          </p:cNvSpPr>
          <p:nvPr/>
        </p:nvSpPr>
        <p:spPr>
          <a:xfrm xmlns:a="http://schemas.openxmlformats.org/drawingml/2006/main">
            <a:off x="847725" y="4321207"/>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535A61"/>
                </a:solidFill>
                <a:latin typeface="Courier New"/>
                <a:ea typeface="Courier New"/>
                <a:cs typeface="Courier New"/>
              </a:rPr>
              <a:t># [[1, 9], [2]]</a:t>
            </a:r>
          </a:p>
        </p:txBody>
      </p:sp>
      <p:sp>
        <p:nvSpPr>
          <p:cNvPr id="15" name="text-364">
            <a:extLst xmlns:a="http://schemas.openxmlformats.org/drawingml/2006/main">
              <a:ext uri="{FF2B5EF4-FFF2-40B4-BE49-F238E27FC236}">
                <a16:creationId xmlns:a16="http://schemas.microsoft.com/office/drawing/2014/main" id="{FC5C5816-B129-4ACE-BEB4-C2523042B50E}"/>
              </a:ext>
            </a:extLst>
          </p:cNvPr>
          <p:cNvSpPr>
            <a:spLocks xmlns:a="http://schemas.openxmlformats.org/drawingml/2006/main" noGrp="1"/>
          </p:cNvSpPr>
          <p:nvPr/>
        </p:nvSpPr>
        <p:spPr>
          <a:xfrm xmlns:a="http://schemas.openxmlformats.org/drawingml/2006/main">
            <a:off x="68580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a is b → False</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a[0] is b[0] → True</a:t>
            </a:r>
          </a:p>
        </p:txBody>
      </p:sp>
      <p:sp>
        <p:nvSpPr>
          <p:cNvPr id="16" name="text-365">
            <a:extLst xmlns:a="http://schemas.openxmlformats.org/drawingml/2006/main">
              <a:ext uri="{FF2B5EF4-FFF2-40B4-BE49-F238E27FC236}">
                <a16:creationId xmlns:a16="http://schemas.microsoft.com/office/drawing/2014/main" id="{1D383527-14A0-4EED-8BBB-49F3AE2DB427}"/>
              </a:ext>
            </a:extLst>
          </p:cNvPr>
          <p:cNvSpPr>
            <a:spLocks xmlns:a="http://schemas.openxmlformats.org/drawingml/2006/main" noGrp="1"/>
          </p:cNvSpPr>
          <p:nvPr/>
        </p:nvSpPr>
        <p:spPr>
          <a:xfrm xmlns:a="http://schemas.openxmlformats.org/drawingml/2006/main">
            <a:off x="622935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copy.deepcopy()</a:t>
            </a:r>
          </a:p>
        </p:txBody>
      </p:sp>
      <p:sp>
        <p:nvSpPr>
          <p:cNvPr id="17" name="surface-366">
            <a:extLst xmlns:a="http://schemas.openxmlformats.org/drawingml/2006/main">
              <a:ext uri="{FF2B5EF4-FFF2-40B4-BE49-F238E27FC236}">
                <a16:creationId xmlns:a16="http://schemas.microsoft.com/office/drawing/2014/main" id="{038399EE-1341-46FD-A3AB-1AF5BC77F0FC}"/>
              </a:ext>
            </a:extLst>
          </p:cNvPr>
          <p:cNvSpPr>
            <a:spLocks xmlns:a="http://schemas.openxmlformats.org/drawingml/2006/main" noGrp="1"/>
          </p:cNvSpPr>
          <p:nvPr/>
        </p:nvSpPr>
        <p:spPr>
          <a:xfrm xmlns:a="http://schemas.openxmlformats.org/drawingml/2006/main">
            <a:off x="622935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8" name="code-22-367">
            <a:extLst xmlns:a="http://schemas.openxmlformats.org/drawingml/2006/main">
              <a:ext uri="{FF2B5EF4-FFF2-40B4-BE49-F238E27FC236}">
                <a16:creationId xmlns:a16="http://schemas.microsoft.com/office/drawing/2014/main" id="{BFB29E61-7B33-46F3-9285-D6E5EB130D1B}"/>
              </a:ext>
            </a:extLst>
          </p:cNvPr>
          <p:cNvSpPr>
            <a:spLocks xmlns:a="http://schemas.openxmlformats.org/drawingml/2006/main" noGrp="1"/>
          </p:cNvSpPr>
          <p:nvPr/>
        </p:nvSpPr>
        <p:spPr>
          <a:xfrm xmlns:a="http://schemas.openxmlformats.org/drawingml/2006/main">
            <a:off x="639127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1">
                <a:solidFill>
                  <a:srgbClr val="286DA6"/>
                </a:solidFill>
                <a:latin typeface="Courier New"/>
                <a:ea typeface="Courier New"/>
                <a:cs typeface="Courier New"/>
              </a:rPr>
              <a:t>from</a:t>
            </a:r>
            <a:r>
              <a:rPr sz="1935" b="0">
                <a:solidFill>
                  <a:srgbClr val="131518"/>
                </a:solidFill>
                <a:latin typeface="Courier New"/>
                <a:ea typeface="Courier New"/>
                <a:cs typeface="Courier New"/>
              </a:rPr>
              <a:t> copy </a:t>
            </a:r>
            <a:r>
              <a:rPr sz="1935" b="1">
                <a:solidFill>
                  <a:srgbClr val="286DA6"/>
                </a:solidFill>
                <a:latin typeface="Courier New"/>
                <a:ea typeface="Courier New"/>
                <a:cs typeface="Courier New"/>
              </a:rPr>
              <a:t>import</a:t>
            </a:r>
            <a:r>
              <a:rPr sz="1935" b="0">
                <a:solidFill>
                  <a:srgbClr val="131518"/>
                </a:solidFill>
                <a:latin typeface="Courier New"/>
                <a:ea typeface="Courier New"/>
                <a:cs typeface="Courier New"/>
              </a:rPr>
              <a:t> deepcopy</a:t>
            </a:r>
          </a:p>
        </p:txBody>
      </p:sp>
      <p:sp>
        <p:nvSpPr>
          <p:cNvPr id="19" name="code-22-368">
            <a:extLst xmlns:a="http://schemas.openxmlformats.org/drawingml/2006/main">
              <a:ext uri="{FF2B5EF4-FFF2-40B4-BE49-F238E27FC236}">
                <a16:creationId xmlns:a16="http://schemas.microsoft.com/office/drawing/2014/main" id="{832418A3-D3F5-40E0-9643-998446AE6AC6}"/>
              </a:ext>
            </a:extLst>
          </p:cNvPr>
          <p:cNvSpPr>
            <a:spLocks xmlns:a="http://schemas.openxmlformats.org/drawingml/2006/main" noGrp="1"/>
          </p:cNvSpPr>
          <p:nvPr/>
        </p:nvSpPr>
        <p:spPr>
          <a:xfrm xmlns:a="http://schemas.openxmlformats.org/drawingml/2006/main">
            <a:off x="639127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20" name="code-22-369">
            <a:extLst xmlns:a="http://schemas.openxmlformats.org/drawingml/2006/main">
              <a:ext uri="{FF2B5EF4-FFF2-40B4-BE49-F238E27FC236}">
                <a16:creationId xmlns:a16="http://schemas.microsoft.com/office/drawing/2014/main" id="{015AABA8-9583-4CBE-8C74-BFAD253B5535}"/>
              </a:ext>
            </a:extLst>
          </p:cNvPr>
          <p:cNvSpPr>
            <a:spLocks xmlns:a="http://schemas.openxmlformats.org/drawingml/2006/main" noGrp="1"/>
          </p:cNvSpPr>
          <p:nvPr/>
        </p:nvSpPr>
        <p:spPr>
          <a:xfrm xmlns:a="http://schemas.openxmlformats.org/drawingml/2006/main">
            <a:off x="639127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a = [[1], [2]]</a:t>
            </a:r>
          </a:p>
        </p:txBody>
      </p:sp>
      <p:sp>
        <p:nvSpPr>
          <p:cNvPr id="21" name="code-22-370">
            <a:extLst xmlns:a="http://schemas.openxmlformats.org/drawingml/2006/main">
              <a:ext uri="{FF2B5EF4-FFF2-40B4-BE49-F238E27FC236}">
                <a16:creationId xmlns:a16="http://schemas.microsoft.com/office/drawing/2014/main" id="{BB14CE19-B566-4FEE-8EBB-9D3D7D8357A5}"/>
              </a:ext>
            </a:extLst>
          </p:cNvPr>
          <p:cNvSpPr>
            <a:spLocks xmlns:a="http://schemas.openxmlformats.org/drawingml/2006/main" noGrp="1"/>
          </p:cNvSpPr>
          <p:nvPr/>
        </p:nvSpPr>
        <p:spPr>
          <a:xfrm xmlns:a="http://schemas.openxmlformats.org/drawingml/2006/main">
            <a:off x="639127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 = deepcopy(a)</a:t>
            </a:r>
          </a:p>
        </p:txBody>
      </p:sp>
      <p:sp>
        <p:nvSpPr>
          <p:cNvPr id="22" name="code-22-371">
            <a:extLst xmlns:a="http://schemas.openxmlformats.org/drawingml/2006/main">
              <a:ext uri="{FF2B5EF4-FFF2-40B4-BE49-F238E27FC236}">
                <a16:creationId xmlns:a16="http://schemas.microsoft.com/office/drawing/2014/main" id="{6E826072-F5C4-4CDE-A8A4-653E237599C0}"/>
              </a:ext>
            </a:extLst>
          </p:cNvPr>
          <p:cNvSpPr>
            <a:spLocks xmlns:a="http://schemas.openxmlformats.org/drawingml/2006/main" noGrp="1"/>
          </p:cNvSpPr>
          <p:nvPr/>
        </p:nvSpPr>
        <p:spPr>
          <a:xfrm xmlns:a="http://schemas.openxmlformats.org/drawingml/2006/main">
            <a:off x="639127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b[0].append(9)</a:t>
            </a:r>
          </a:p>
        </p:txBody>
      </p:sp>
      <p:sp>
        <p:nvSpPr>
          <p:cNvPr id="23" name="code-22-372">
            <a:extLst xmlns:a="http://schemas.openxmlformats.org/drawingml/2006/main">
              <a:ext uri="{FF2B5EF4-FFF2-40B4-BE49-F238E27FC236}">
                <a16:creationId xmlns:a16="http://schemas.microsoft.com/office/drawing/2014/main" id="{FC874F66-2CDB-4A14-8A8C-59E37D175425}"/>
              </a:ext>
            </a:extLst>
          </p:cNvPr>
          <p:cNvSpPr>
            <a:spLocks xmlns:a="http://schemas.openxmlformats.org/drawingml/2006/main" noGrp="1"/>
          </p:cNvSpPr>
          <p:nvPr/>
        </p:nvSpPr>
        <p:spPr>
          <a:xfrm xmlns:a="http://schemas.openxmlformats.org/drawingml/2006/main">
            <a:off x="6391275" y="4321207"/>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print(a)  </a:t>
            </a:r>
            <a:r>
              <a:rPr sz="1935" b="0">
                <a:solidFill>
                  <a:srgbClr val="535A61"/>
                </a:solidFill>
                <a:latin typeface="Courier New"/>
                <a:ea typeface="Courier New"/>
                <a:cs typeface="Courier New"/>
              </a:rPr>
              <a:t># [[1], [2]]</a:t>
            </a:r>
          </a:p>
        </p:txBody>
      </p:sp>
      <p:sp>
        <p:nvSpPr>
          <p:cNvPr id="24" name="text-373">
            <a:extLst xmlns:a="http://schemas.openxmlformats.org/drawingml/2006/main">
              <a:ext uri="{FF2B5EF4-FFF2-40B4-BE49-F238E27FC236}">
                <a16:creationId xmlns:a16="http://schemas.microsoft.com/office/drawing/2014/main" id="{564340BC-64C8-4D8B-AF9C-8895C382DA68}"/>
              </a:ext>
            </a:extLst>
          </p:cNvPr>
          <p:cNvSpPr>
            <a:spLocks xmlns:a="http://schemas.openxmlformats.org/drawingml/2006/main" noGrp="1"/>
          </p:cNvSpPr>
          <p:nvPr/>
        </p:nvSpPr>
        <p:spPr>
          <a:xfrm xmlns:a="http://schemas.openxmlformats.org/drawingml/2006/main">
            <a:off x="622935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В этом примере вложенные</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списки тоже независимы.</a:t>
            </a:r>
          </a:p>
        </p:txBody>
      </p:sp>
    </p:spTree>
    <p:extLst>
      <p:ext uri="{BB962C8B-B14F-4D97-AF65-F5344CB8AC3E}">
        <p14:creationId xmlns:p14="http://schemas.microsoft.com/office/powerpoint/2010/main" val="45732776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374">
            <a:extLst xmlns:a="http://schemas.openxmlformats.org/drawingml/2006/main">
              <a:ext uri="{FF2B5EF4-FFF2-40B4-BE49-F238E27FC236}">
                <a16:creationId xmlns:a16="http://schemas.microsoft.com/office/drawing/2014/main" id="{402C28D1-CE38-4788-AEC3-8DAA636949D4}"/>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04 / СЛОВАРИ И МНОЖЕСТВА</a:t>
            </a:r>
          </a:p>
        </p:txBody>
      </p:sp>
      <p:sp>
        <p:nvSpPr>
          <p:cNvPr id="2" name="title-23">
            <a:extLst xmlns:a="http://schemas.openxmlformats.org/drawingml/2006/main">
              <a:ext uri="{FF2B5EF4-FFF2-40B4-BE49-F238E27FC236}">
                <a16:creationId xmlns:a16="http://schemas.microsoft.com/office/drawing/2014/main" id="{FD2401C1-9C1F-43A5-AEDE-1316679FC7F6}"/>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dict связывает ключ со значением</a:t>
            </a:r>
          </a:p>
        </p:txBody>
      </p:sp>
      <p:sp>
        <p:nvSpPr>
          <p:cNvPr id="3" name="text-375">
            <a:extLst xmlns:a="http://schemas.openxmlformats.org/drawingml/2006/main">
              <a:ext uri="{FF2B5EF4-FFF2-40B4-BE49-F238E27FC236}">
                <a16:creationId xmlns:a16="http://schemas.microsoft.com/office/drawing/2014/main" id="{4157E065-2B83-49FA-8C65-AA2A8B19B150}"/>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Каждому ключу соответствует одно текущее значение.</a:t>
            </a:r>
          </a:p>
        </p:txBody>
      </p:sp>
      <p:sp>
        <p:nvSpPr>
          <p:cNvPr id="4" name="surface-376">
            <a:extLst xmlns:a="http://schemas.openxmlformats.org/drawingml/2006/main">
              <a:ext uri="{FF2B5EF4-FFF2-40B4-BE49-F238E27FC236}">
                <a16:creationId xmlns:a16="http://schemas.microsoft.com/office/drawing/2014/main" id="{B3F68711-F8E8-4D08-AC10-E2196FB10281}"/>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377">
            <a:extLst xmlns:a="http://schemas.openxmlformats.org/drawingml/2006/main">
              <a:ext uri="{FF2B5EF4-FFF2-40B4-BE49-F238E27FC236}">
                <a16:creationId xmlns:a16="http://schemas.microsoft.com/office/drawing/2014/main" id="{DD0F9CE3-BAAB-470A-A980-E70206FDBA61}"/>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378">
            <a:extLst xmlns:a="http://schemas.openxmlformats.org/drawingml/2006/main">
              <a:ext uri="{FF2B5EF4-FFF2-40B4-BE49-F238E27FC236}">
                <a16:creationId xmlns:a16="http://schemas.microsoft.com/office/drawing/2014/main" id="{CA953F5A-B1AA-4405-88EF-F607D94FE134}"/>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23</a:t>
            </a:r>
          </a:p>
        </p:txBody>
      </p:sp>
      <p:sp>
        <p:nvSpPr>
          <p:cNvPr id="7" name="surface-379">
            <a:extLst xmlns:a="http://schemas.openxmlformats.org/drawingml/2006/main">
              <a:ext uri="{FF2B5EF4-FFF2-40B4-BE49-F238E27FC236}">
                <a16:creationId xmlns:a16="http://schemas.microsoft.com/office/drawing/2014/main" id="{E37EA76B-58B6-47BF-BDBA-52A72B47624E}"/>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23-380">
            <a:extLst xmlns:a="http://schemas.openxmlformats.org/drawingml/2006/main">
              <a:ext uri="{FF2B5EF4-FFF2-40B4-BE49-F238E27FC236}">
                <a16:creationId xmlns:a16="http://schemas.microsoft.com/office/drawing/2014/main" id="{42223436-A8E2-4252-819F-D9114179A95F}"/>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student = {"name": "Анна", "score": 5}</a:t>
            </a:r>
          </a:p>
        </p:txBody>
      </p:sp>
      <p:sp>
        <p:nvSpPr>
          <p:cNvPr id="9" name="code-23-381">
            <a:extLst xmlns:a="http://schemas.openxmlformats.org/drawingml/2006/main">
              <a:ext uri="{FF2B5EF4-FFF2-40B4-BE49-F238E27FC236}">
                <a16:creationId xmlns:a16="http://schemas.microsoft.com/office/drawing/2014/main" id="{922A226C-8FDB-425A-A1B9-BA136ADC0F0F}"/>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student["score"] = 4</a:t>
            </a:r>
          </a:p>
        </p:txBody>
      </p:sp>
      <p:sp>
        <p:nvSpPr>
          <p:cNvPr id="10" name="code-23-382">
            <a:extLst xmlns:a="http://schemas.openxmlformats.org/drawingml/2006/main">
              <a:ext uri="{FF2B5EF4-FFF2-40B4-BE49-F238E27FC236}">
                <a16:creationId xmlns:a16="http://schemas.microsoft.com/office/drawing/2014/main" id="{F931CC77-093A-4BC7-A677-1744F1FDDE47}"/>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1" name="code-23-383">
            <a:extLst xmlns:a="http://schemas.openxmlformats.org/drawingml/2006/main">
              <a:ext uri="{FF2B5EF4-FFF2-40B4-BE49-F238E27FC236}">
                <a16:creationId xmlns:a16="http://schemas.microsoft.com/office/drawing/2014/main" id="{C17EF6F4-AB75-41B9-A90A-BEED5AA8C989}"/>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student["name"]          </a:t>
            </a:r>
            <a:r>
              <a:rPr sz="1988" b="0">
                <a:solidFill>
                  <a:srgbClr val="535A61"/>
                </a:solidFill>
                <a:latin typeface="Courier New"/>
                <a:ea typeface="Courier New"/>
                <a:cs typeface="Courier New"/>
              </a:rPr>
              <a:t># "Анна"</a:t>
            </a:r>
          </a:p>
        </p:txBody>
      </p:sp>
      <p:sp>
        <p:nvSpPr>
          <p:cNvPr id="12" name="code-23-384">
            <a:extLst xmlns:a="http://schemas.openxmlformats.org/drawingml/2006/main">
              <a:ext uri="{FF2B5EF4-FFF2-40B4-BE49-F238E27FC236}">
                <a16:creationId xmlns:a16="http://schemas.microsoft.com/office/drawing/2014/main" id="{EAA55223-D42B-4570-90D3-05388200B029}"/>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student.get("group", "?") </a:t>
            </a:r>
            <a:r>
              <a:rPr sz="1988" b="0">
                <a:solidFill>
                  <a:srgbClr val="535A61"/>
                </a:solidFill>
                <a:latin typeface="Courier New"/>
                <a:ea typeface="Courier New"/>
                <a:cs typeface="Courier New"/>
              </a:rPr>
              <a:t># "?"</a:t>
            </a:r>
          </a:p>
        </p:txBody>
      </p:sp>
      <p:sp>
        <p:nvSpPr>
          <p:cNvPr id="13" name="code-23-385">
            <a:extLst xmlns:a="http://schemas.openxmlformats.org/drawingml/2006/main">
              <a:ext uri="{FF2B5EF4-FFF2-40B4-BE49-F238E27FC236}">
                <a16:creationId xmlns:a16="http://schemas.microsoft.com/office/drawing/2014/main" id="{088867C2-0E3E-440D-BA56-B8293FE20A71}"/>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"name" </a:t>
            </a:r>
            <a:r>
              <a:rPr sz="1988" b="1">
                <a:solidFill>
                  <a:srgbClr val="286DA6"/>
                </a:solidFill>
                <a:latin typeface="Courier New"/>
                <a:ea typeface="Courier New"/>
                <a:cs typeface="Courier New"/>
              </a:rPr>
              <a:t>in</a:t>
            </a:r>
            <a:r>
              <a:rPr sz="1988" b="0">
                <a:solidFill>
                  <a:srgbClr val="131518"/>
                </a:solidFill>
                <a:latin typeface="Courier New"/>
                <a:ea typeface="Courier New"/>
                <a:cs typeface="Courier New"/>
              </a:rPr>
              <a:t> student        </a:t>
            </a:r>
            <a:r>
              <a:rPr sz="1988" b="0">
                <a:solidFill>
                  <a:srgbClr val="535A61"/>
                </a:solidFill>
                <a:latin typeface="Courier New"/>
                <a:ea typeface="Courier New"/>
                <a:cs typeface="Courier New"/>
              </a:rPr>
              <a:t># True</a:t>
            </a:r>
          </a:p>
        </p:txBody>
      </p:sp>
      <p:sp>
        <p:nvSpPr>
          <p:cNvPr id="14" name="code-23-386">
            <a:extLst xmlns:a="http://schemas.openxmlformats.org/drawingml/2006/main">
              <a:ext uri="{FF2B5EF4-FFF2-40B4-BE49-F238E27FC236}">
                <a16:creationId xmlns:a16="http://schemas.microsoft.com/office/drawing/2014/main" id="{77996989-700C-4871-AA61-1A61782CC387}"/>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"Анна" </a:t>
            </a:r>
            <a:r>
              <a:rPr sz="1988" b="1">
                <a:solidFill>
                  <a:srgbClr val="286DA6"/>
                </a:solidFill>
                <a:latin typeface="Courier New"/>
                <a:ea typeface="Courier New"/>
                <a:cs typeface="Courier New"/>
              </a:rPr>
              <a:t>in</a:t>
            </a:r>
            <a:r>
              <a:rPr sz="1988" b="0">
                <a:solidFill>
                  <a:srgbClr val="131518"/>
                </a:solidFill>
                <a:latin typeface="Courier New"/>
                <a:ea typeface="Courier New"/>
                <a:cs typeface="Courier New"/>
              </a:rPr>
              <a:t> student        </a:t>
            </a:r>
            <a:r>
              <a:rPr sz="1988" b="0">
                <a:solidFill>
                  <a:srgbClr val="535A61"/>
                </a:solidFill>
                <a:latin typeface="Courier New"/>
                <a:ea typeface="Courier New"/>
                <a:cs typeface="Courier New"/>
              </a:rPr>
              <a:t># False</a:t>
            </a:r>
          </a:p>
        </p:txBody>
      </p:sp>
      <p:sp>
        <p:nvSpPr>
          <p:cNvPr id="15" name="text-387">
            <a:extLst xmlns:a="http://schemas.openxmlformats.org/drawingml/2006/main">
              <a:ext uri="{FF2B5EF4-FFF2-40B4-BE49-F238E27FC236}">
                <a16:creationId xmlns:a16="http://schemas.microsoft.com/office/drawing/2014/main" id="{C6A0D221-4BA2-4C88-8F1D-D7911419C25E}"/>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Поиск по ключу</a:t>
            </a:r>
          </a:p>
        </p:txBody>
      </p:sp>
      <p:sp>
        <p:nvSpPr>
          <p:cNvPr id="16" name="text-388">
            <a:extLst xmlns:a="http://schemas.openxmlformats.org/drawingml/2006/main">
              <a:ext uri="{FF2B5EF4-FFF2-40B4-BE49-F238E27FC236}">
                <a16:creationId xmlns:a16="http://schemas.microsoft.com/office/drawing/2014/main" id="{7C9DCCD0-367E-4D5F-B851-6F5A157085F2}"/>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Нет ключа в d[key] —</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возникает KeyError.</a:t>
            </a:r>
          </a:p>
        </p:txBody>
      </p:sp>
      <p:sp>
        <p:nvSpPr>
          <p:cNvPr id="17" name="text-389">
            <a:extLst xmlns:a="http://schemas.openxmlformats.org/drawingml/2006/main">
              <a:ext uri="{FF2B5EF4-FFF2-40B4-BE49-F238E27FC236}">
                <a16:creationId xmlns:a16="http://schemas.microsoft.com/office/drawing/2014/main" id="{D037B0EE-DB27-4D58-BA57-601EE2AE3839}"/>
              </a:ext>
            </a:extLst>
          </p:cNvPr>
          <p:cNvSpPr>
            <a:spLocks xmlns:a="http://schemas.openxmlformats.org/drawingml/2006/main" noGrp="1"/>
          </p:cNvSpPr>
          <p:nvPr/>
        </p:nvSpPr>
        <p:spPr>
          <a:xfrm xmlns:a="http://schemas.openxmlformats.org/drawingml/2006/main">
            <a:off x="7905750" y="34290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Метод get</a:t>
            </a:r>
          </a:p>
        </p:txBody>
      </p:sp>
      <p:sp>
        <p:nvSpPr>
          <p:cNvPr id="18" name="text-390">
            <a:extLst xmlns:a="http://schemas.openxmlformats.org/drawingml/2006/main">
              <a:ext uri="{FF2B5EF4-FFF2-40B4-BE49-F238E27FC236}">
                <a16:creationId xmlns:a16="http://schemas.microsoft.com/office/drawing/2014/main" id="{B67F3DC2-EEF6-4449-BF0D-76331378650B}"/>
              </a:ext>
            </a:extLst>
          </p:cNvPr>
          <p:cNvSpPr>
            <a:spLocks xmlns:a="http://schemas.openxmlformats.org/drawingml/2006/main" noGrp="1"/>
          </p:cNvSpPr>
          <p:nvPr/>
        </p:nvSpPr>
        <p:spPr>
          <a:xfrm xmlns:a="http://schemas.openxmlformats.org/drawingml/2006/main">
            <a:off x="7905750" y="38766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Есть значение по умолчанию.</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Ключ не добавляется.</a:t>
            </a:r>
          </a:p>
        </p:txBody>
      </p:sp>
      <p:sp>
        <p:nvSpPr>
          <p:cNvPr id="19" name="text-391">
            <a:extLst xmlns:a="http://schemas.openxmlformats.org/drawingml/2006/main">
              <a:ext uri="{FF2B5EF4-FFF2-40B4-BE49-F238E27FC236}">
                <a16:creationId xmlns:a16="http://schemas.microsoft.com/office/drawing/2014/main" id="{CD24D22B-7415-43B9-82A5-CE8FF5FE0257}"/>
              </a:ext>
            </a:extLst>
          </p:cNvPr>
          <p:cNvSpPr>
            <a:spLocks xmlns:a="http://schemas.openxmlformats.org/drawingml/2006/main" noGrp="1"/>
          </p:cNvSpPr>
          <p:nvPr/>
        </p:nvSpPr>
        <p:spPr>
          <a:xfrm xmlns:a="http://schemas.openxmlformats.org/drawingml/2006/main">
            <a:off x="7905750" y="463867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Любые значения</a:t>
            </a:r>
          </a:p>
        </p:txBody>
      </p:sp>
      <p:sp>
        <p:nvSpPr>
          <p:cNvPr id="20" name="text-392">
            <a:extLst xmlns:a="http://schemas.openxmlformats.org/drawingml/2006/main">
              <a:ext uri="{FF2B5EF4-FFF2-40B4-BE49-F238E27FC236}">
                <a16:creationId xmlns:a16="http://schemas.microsoft.com/office/drawing/2014/main" id="{009BEB73-E7BE-46A3-9420-722C1E72F2D4}"/>
              </a:ext>
            </a:extLst>
          </p:cNvPr>
          <p:cNvSpPr>
            <a:spLocks xmlns:a="http://schemas.openxmlformats.org/drawingml/2006/main" noGrp="1"/>
          </p:cNvSpPr>
          <p:nvPr/>
        </p:nvSpPr>
        <p:spPr>
          <a:xfrm xmlns:a="http://schemas.openxmlformats.org/drawingml/2006/main">
            <a:off x="7905750" y="508635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Хешируемость нужна ключам.</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Значения могут быть любыми.</a:t>
            </a:r>
          </a:p>
        </p:txBody>
      </p:sp>
    </p:spTree>
    <p:extLst>
      <p:ext uri="{BB962C8B-B14F-4D97-AF65-F5344CB8AC3E}">
        <p14:creationId xmlns:p14="http://schemas.microsoft.com/office/powerpoint/2010/main" val="114752507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393">
            <a:extLst xmlns:a="http://schemas.openxmlformats.org/drawingml/2006/main">
              <a:ext uri="{FF2B5EF4-FFF2-40B4-BE49-F238E27FC236}">
                <a16:creationId xmlns:a16="http://schemas.microsoft.com/office/drawing/2014/main" id="{EC6078AB-F445-4650-9342-035DBDBA6A30}"/>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04 / СЛОВАРИ</a:t>
            </a:r>
          </a:p>
        </p:txBody>
      </p:sp>
      <p:sp>
        <p:nvSpPr>
          <p:cNvPr id="2" name="title-24">
            <a:extLst xmlns:a="http://schemas.openxmlformats.org/drawingml/2006/main">
              <a:ext uri="{FF2B5EF4-FFF2-40B4-BE49-F238E27FC236}">
                <a16:creationId xmlns:a16="http://schemas.microsoft.com/office/drawing/2014/main" id="{04D0DDC3-83F4-4FD9-A357-63B9B4B5F48E}"/>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Словарь помнит порядок вставки</a:t>
            </a:r>
          </a:p>
        </p:txBody>
      </p:sp>
      <p:sp>
        <p:nvSpPr>
          <p:cNvPr id="3" name="text-394">
            <a:extLst xmlns:a="http://schemas.openxmlformats.org/drawingml/2006/main">
              <a:ext uri="{FF2B5EF4-FFF2-40B4-BE49-F238E27FC236}">
                <a16:creationId xmlns:a16="http://schemas.microsoft.com/office/drawing/2014/main" id="{F7F6D62A-6DE2-453F-AB18-6D09DFA8ADAE}"/>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Порядок обхода предсказуем; сортировки ключей при этом нет.</a:t>
            </a:r>
          </a:p>
        </p:txBody>
      </p:sp>
      <p:sp>
        <p:nvSpPr>
          <p:cNvPr id="4" name="surface-395">
            <a:extLst xmlns:a="http://schemas.openxmlformats.org/drawingml/2006/main">
              <a:ext uri="{FF2B5EF4-FFF2-40B4-BE49-F238E27FC236}">
                <a16:creationId xmlns:a16="http://schemas.microsoft.com/office/drawing/2014/main" id="{D407B0E7-CFF9-4376-8A49-260093B4CA7A}"/>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396">
            <a:extLst xmlns:a="http://schemas.openxmlformats.org/drawingml/2006/main">
              <a:ext uri="{FF2B5EF4-FFF2-40B4-BE49-F238E27FC236}">
                <a16:creationId xmlns:a16="http://schemas.microsoft.com/office/drawing/2014/main" id="{9E9541CD-4027-4ED9-8385-662799146EA9}"/>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397">
            <a:extLst xmlns:a="http://schemas.openxmlformats.org/drawingml/2006/main">
              <a:ext uri="{FF2B5EF4-FFF2-40B4-BE49-F238E27FC236}">
                <a16:creationId xmlns:a16="http://schemas.microsoft.com/office/drawing/2014/main" id="{8E0EA9BD-2569-46E5-A00C-417D8AD6C89E}"/>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24</a:t>
            </a:r>
          </a:p>
        </p:txBody>
      </p:sp>
      <p:sp>
        <p:nvSpPr>
          <p:cNvPr id="7" name="surface-398">
            <a:extLst xmlns:a="http://schemas.openxmlformats.org/drawingml/2006/main">
              <a:ext uri="{FF2B5EF4-FFF2-40B4-BE49-F238E27FC236}">
                <a16:creationId xmlns:a16="http://schemas.microsoft.com/office/drawing/2014/main" id="{7086ABA5-9CC3-48FA-A3A2-20C61A510C23}"/>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24-399">
            <a:extLst xmlns:a="http://schemas.openxmlformats.org/drawingml/2006/main">
              <a:ext uri="{FF2B5EF4-FFF2-40B4-BE49-F238E27FC236}">
                <a16:creationId xmlns:a16="http://schemas.microsoft.com/office/drawing/2014/main" id="{E0900414-D42C-429F-978E-3EA56E7C541D}"/>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d = {"b": 2, "a": 1}</a:t>
            </a:r>
          </a:p>
        </p:txBody>
      </p:sp>
      <p:sp>
        <p:nvSpPr>
          <p:cNvPr id="9" name="code-24-400">
            <a:extLst xmlns:a="http://schemas.openxmlformats.org/drawingml/2006/main">
              <a:ext uri="{FF2B5EF4-FFF2-40B4-BE49-F238E27FC236}">
                <a16:creationId xmlns:a16="http://schemas.microsoft.com/office/drawing/2014/main" id="{F58F59E7-8BA5-44E5-BC88-5742CE143FBD}"/>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keys = d.keys()</a:t>
            </a:r>
          </a:p>
        </p:txBody>
      </p:sp>
      <p:sp>
        <p:nvSpPr>
          <p:cNvPr id="10" name="code-24-401">
            <a:extLst xmlns:a="http://schemas.openxmlformats.org/drawingml/2006/main">
              <a:ext uri="{FF2B5EF4-FFF2-40B4-BE49-F238E27FC236}">
                <a16:creationId xmlns:a16="http://schemas.microsoft.com/office/drawing/2014/main" id="{82F1F5ED-B1CE-4682-8E3C-28CF0A833DCF}"/>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d["c"] = 3</a:t>
            </a:r>
          </a:p>
        </p:txBody>
      </p:sp>
      <p:sp>
        <p:nvSpPr>
          <p:cNvPr id="11" name="code-24-402">
            <a:extLst xmlns:a="http://schemas.openxmlformats.org/drawingml/2006/main">
              <a:ext uri="{FF2B5EF4-FFF2-40B4-BE49-F238E27FC236}">
                <a16:creationId xmlns:a16="http://schemas.microsoft.com/office/drawing/2014/main" id="{C9B07826-2545-4329-ABA7-63729FE5A374}"/>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2" name="code-24-403">
            <a:extLst xmlns:a="http://schemas.openxmlformats.org/drawingml/2006/main">
              <a:ext uri="{FF2B5EF4-FFF2-40B4-BE49-F238E27FC236}">
                <a16:creationId xmlns:a16="http://schemas.microsoft.com/office/drawing/2014/main" id="{6098D25C-E44B-46D6-9FB0-D9D0C937491D}"/>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list(keys)  </a:t>
            </a:r>
            <a:r>
              <a:rPr sz="1988" b="0">
                <a:solidFill>
                  <a:srgbClr val="535A61"/>
                </a:solidFill>
                <a:latin typeface="Courier New"/>
                <a:ea typeface="Courier New"/>
                <a:cs typeface="Courier New"/>
              </a:rPr>
              <a:t># ["b", "a", "c"]</a:t>
            </a:r>
          </a:p>
        </p:txBody>
      </p:sp>
      <p:sp>
        <p:nvSpPr>
          <p:cNvPr id="13" name="code-24-404">
            <a:extLst xmlns:a="http://schemas.openxmlformats.org/drawingml/2006/main">
              <a:ext uri="{FF2B5EF4-FFF2-40B4-BE49-F238E27FC236}">
                <a16:creationId xmlns:a16="http://schemas.microsoft.com/office/drawing/2014/main" id="{58BBFB0A-4BC5-4EFE-B98D-9C446925CB5F}"/>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4" name="code-24-405">
            <a:extLst xmlns:a="http://schemas.openxmlformats.org/drawingml/2006/main">
              <a:ext uri="{FF2B5EF4-FFF2-40B4-BE49-F238E27FC236}">
                <a16:creationId xmlns:a16="http://schemas.microsoft.com/office/drawing/2014/main" id="{B00A1B05-F916-4B4E-B1F3-345DABF0A031}"/>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1">
                <a:solidFill>
                  <a:srgbClr val="286DA6"/>
                </a:solidFill>
                <a:latin typeface="Courier New"/>
                <a:ea typeface="Courier New"/>
                <a:cs typeface="Courier New"/>
              </a:rPr>
              <a:t>for</a:t>
            </a:r>
            <a:r>
              <a:rPr sz="1988" b="0">
                <a:solidFill>
                  <a:srgbClr val="131518"/>
                </a:solidFill>
                <a:latin typeface="Courier New"/>
                <a:ea typeface="Courier New"/>
                <a:cs typeface="Courier New"/>
              </a:rPr>
              <a:t> key, value </a:t>
            </a:r>
            <a:r>
              <a:rPr sz="1988" b="1">
                <a:solidFill>
                  <a:srgbClr val="286DA6"/>
                </a:solidFill>
                <a:latin typeface="Courier New"/>
                <a:ea typeface="Courier New"/>
                <a:cs typeface="Courier New"/>
              </a:rPr>
              <a:t>in</a:t>
            </a:r>
            <a:r>
              <a:rPr sz="1988" b="0">
                <a:solidFill>
                  <a:srgbClr val="131518"/>
                </a:solidFill>
                <a:latin typeface="Courier New"/>
                <a:ea typeface="Courier New"/>
                <a:cs typeface="Courier New"/>
              </a:rPr>
              <a:t> d.items():</a:t>
            </a:r>
          </a:p>
        </p:txBody>
      </p:sp>
      <p:sp>
        <p:nvSpPr>
          <p:cNvPr id="15" name="code-24-406">
            <a:extLst xmlns:a="http://schemas.openxmlformats.org/drawingml/2006/main">
              <a:ext uri="{FF2B5EF4-FFF2-40B4-BE49-F238E27FC236}">
                <a16:creationId xmlns:a16="http://schemas.microsoft.com/office/drawing/2014/main" id="{9298700F-88C5-4F04-82D6-3FE422BB738A}"/>
              </a:ext>
            </a:extLst>
          </p:cNvPr>
          <p:cNvSpPr>
            <a:spLocks xmlns:a="http://schemas.openxmlformats.org/drawingml/2006/main" noGrp="1"/>
          </p:cNvSpPr>
          <p:nvPr/>
        </p:nvSpPr>
        <p:spPr>
          <a:xfrm xmlns:a="http://schemas.openxmlformats.org/drawingml/2006/main">
            <a:off x="876300" y="453685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print(key, value)</a:t>
            </a:r>
          </a:p>
        </p:txBody>
      </p:sp>
      <p:sp>
        <p:nvSpPr>
          <p:cNvPr id="16" name="text-407">
            <a:extLst xmlns:a="http://schemas.openxmlformats.org/drawingml/2006/main">
              <a:ext uri="{FF2B5EF4-FFF2-40B4-BE49-F238E27FC236}">
                <a16:creationId xmlns:a16="http://schemas.microsoft.com/office/drawing/2014/main" id="{CB23E060-DDA0-4A17-B9D1-52D7C12967A9}"/>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Порядок вставки</a:t>
            </a:r>
          </a:p>
        </p:txBody>
      </p:sp>
      <p:sp>
        <p:nvSpPr>
          <p:cNvPr id="17" name="text-408">
            <a:extLst xmlns:a="http://schemas.openxmlformats.org/drawingml/2006/main">
              <a:ext uri="{FF2B5EF4-FFF2-40B4-BE49-F238E27FC236}">
                <a16:creationId xmlns:a16="http://schemas.microsoft.com/office/drawing/2014/main" id="{FC462DC1-E08D-440F-8752-DFE66472BD3E}"/>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Гарантия языка с Python 3.7.</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Обновление значения не двигает ключ.</a:t>
            </a:r>
          </a:p>
        </p:txBody>
      </p:sp>
      <p:sp>
        <p:nvSpPr>
          <p:cNvPr id="18" name="text-409">
            <a:extLst xmlns:a="http://schemas.openxmlformats.org/drawingml/2006/main">
              <a:ext uri="{FF2B5EF4-FFF2-40B4-BE49-F238E27FC236}">
                <a16:creationId xmlns:a16="http://schemas.microsoft.com/office/drawing/2014/main" id="{90D2B9EE-F650-40D2-9429-697C6968A06E}"/>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keys, values, items</a:t>
            </a:r>
          </a:p>
        </p:txBody>
      </p:sp>
      <p:sp>
        <p:nvSpPr>
          <p:cNvPr id="19" name="text-410">
            <a:extLst xmlns:a="http://schemas.openxmlformats.org/drawingml/2006/main">
              <a:ext uri="{FF2B5EF4-FFF2-40B4-BE49-F238E27FC236}">
                <a16:creationId xmlns:a16="http://schemas.microsoft.com/office/drawing/2014/main" id="{DC571D34-4D84-4DC8-AC82-EADAEFED83D8}"/>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Динамические представления</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содержимого словаря.</a:t>
            </a:r>
          </a:p>
        </p:txBody>
      </p:sp>
      <p:sp>
        <p:nvSpPr>
          <p:cNvPr id="20" name="takeaway-24">
            <a:extLst xmlns:a="http://schemas.openxmlformats.org/drawingml/2006/main">
              <a:ext uri="{FF2B5EF4-FFF2-40B4-BE49-F238E27FC236}">
                <a16:creationId xmlns:a16="http://schemas.microsoft.com/office/drawing/2014/main" id="{DE6A8A20-839C-4409-8F9A-1ABBAB0B206D}"/>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Для отдельного снимка ключей создайте list(d).</a:t>
            </a:r>
          </a:p>
        </p:txBody>
      </p:sp>
    </p:spTree>
    <p:extLst>
      <p:ext uri="{BB962C8B-B14F-4D97-AF65-F5344CB8AC3E}">
        <p14:creationId xmlns:p14="http://schemas.microsoft.com/office/powerpoint/2010/main" val="94301614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11">
            <a:extLst xmlns:a="http://schemas.openxmlformats.org/drawingml/2006/main">
              <a:ext uri="{FF2B5EF4-FFF2-40B4-BE49-F238E27FC236}">
                <a16:creationId xmlns:a16="http://schemas.microsoft.com/office/drawing/2014/main" id="{D6A95744-25DC-473E-9930-C11BB6DE8072}"/>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04 / ХЕШИРУЕМОСТЬ</a:t>
            </a:r>
          </a:p>
        </p:txBody>
      </p:sp>
      <p:sp>
        <p:nvSpPr>
          <p:cNvPr id="2" name="title-25">
            <a:extLst xmlns:a="http://schemas.openxmlformats.org/drawingml/2006/main">
              <a:ext uri="{FF2B5EF4-FFF2-40B4-BE49-F238E27FC236}">
                <a16:creationId xmlns:a16="http://schemas.microsoft.com/office/drawing/2014/main" id="{09A6C8D1-2DCC-4414-9122-40966D4DF12C}"/>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Ключ должен иметь устойчивый хеш</a:t>
            </a:r>
          </a:p>
        </p:txBody>
      </p:sp>
      <p:sp>
        <p:nvSpPr>
          <p:cNvPr id="3" name="text-412">
            <a:extLst xmlns:a="http://schemas.openxmlformats.org/drawingml/2006/main">
              <a:ext uri="{FF2B5EF4-FFF2-40B4-BE49-F238E27FC236}">
                <a16:creationId xmlns:a16="http://schemas.microsoft.com/office/drawing/2014/main" id="{D6B9D4E0-6D22-46E8-BA5F-50F5FD904EC8}"/>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Если a == b, то hash(a) == hash(b). Обратное не обязательно.</a:t>
            </a:r>
          </a:p>
        </p:txBody>
      </p:sp>
      <p:sp>
        <p:nvSpPr>
          <p:cNvPr id="4" name="surface-413">
            <a:extLst xmlns:a="http://schemas.openxmlformats.org/drawingml/2006/main">
              <a:ext uri="{FF2B5EF4-FFF2-40B4-BE49-F238E27FC236}">
                <a16:creationId xmlns:a16="http://schemas.microsoft.com/office/drawing/2014/main" id="{5BACD276-4C96-4F54-9C03-4F741AB5CC79}"/>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414">
            <a:extLst xmlns:a="http://schemas.openxmlformats.org/drawingml/2006/main">
              <a:ext uri="{FF2B5EF4-FFF2-40B4-BE49-F238E27FC236}">
                <a16:creationId xmlns:a16="http://schemas.microsoft.com/office/drawing/2014/main" id="{DC39CA64-A4ED-41D6-BC48-E849406A4817}"/>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415">
            <a:extLst xmlns:a="http://schemas.openxmlformats.org/drawingml/2006/main">
              <a:ext uri="{FF2B5EF4-FFF2-40B4-BE49-F238E27FC236}">
                <a16:creationId xmlns:a16="http://schemas.microsoft.com/office/drawing/2014/main" id="{DCC39C5D-928C-486D-A00F-8B0D662B3E11}"/>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25</a:t>
            </a:r>
          </a:p>
        </p:txBody>
      </p:sp>
      <p:graphicFrame>
        <p:nvGraphicFramePr>
          <p:cNvPr id="15" name=""/>
          <p:cNvGraphicFramePr/>
          <p:nvPr/>
        </p:nvGraphicFramePr>
        <p:xfrm>
          <a:off xmlns:a="http://schemas.openxmlformats.org/drawingml/2006/main" x="685800" y="2181225"/>
          <a:ext xmlns:a="http://schemas.openxmlformats.org/drawingml/2006/main" cx="10820400" cy="3314700"/>
        </p:xfrm>
        <a:graphic xmlns:a="http://schemas.openxmlformats.org/drawingml/2006/main">
          <a:graphicData uri="http://schemas.openxmlformats.org/drawingml/2006/table">
            <a:tbl>
              <a:tblPr firstRow="0" bandRow="0"/>
              <a:tblGrid>
                <a:gridCol w="2571750"/>
                <a:gridCol w="3095625"/>
                <a:gridCol w="5153025"/>
              </a:tblGrid>
              <a:tr h="438150">
                <a:tc>
                  <a:txBody>
                    <a:bodyPr wrap="square" lIns="114300" tIns="57150" rIns="114300" bIns="57150">
                      <a:noAutofit/>
                    </a:bodyPr>
                    <a:lstStyle/>
                    <a:p>
                      <a:r>
                        <a:rPr sz="1800" b="1">
                          <a:solidFill>
                            <a:srgbClr val="131518"/>
                          </a:solidFill>
                          <a:latin typeface="Arial"/>
                          <a:ea typeface="Arial"/>
                          <a:cs typeface="Arial"/>
                        </a:rPr>
                        <a:t>Объект</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Ключ dict / элемент set?</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Почему</a:t>
                      </a:r>
                    </a:p>
                  </a:txBody>
                  <a:tcPr marL="91440" marR="91440" marT="45720" marB="45720" anchor="ctr">
                    <a:solidFill>
                      <a:srgbClr val="F0F1F2"/>
                    </a:solidFill>
                  </a:tcPr>
                </a:tc>
              </a:tr>
              <a:tr h="575310">
                <a:tc>
                  <a:txBody>
                    <a:bodyPr wrap="square" lIns="114300" tIns="57150" rIns="114300" bIns="57150">
                      <a:noAutofit/>
                    </a:bodyPr>
                    <a:lstStyle/>
                    <a:p>
                      <a:r>
                        <a:rPr sz="1740" b="0">
                          <a:solidFill>
                            <a:srgbClr val="131518"/>
                          </a:solidFill>
                          <a:latin typeface="Arial"/>
                          <a:ea typeface="Arial"/>
                          <a:cs typeface="Arial"/>
                        </a:rPr>
                        <a:t>42, "id", b"id"</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Да</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Поддерживают стабильный хеш</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(1, "A")</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Да</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Все элементы хешируемы</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(1, [2])</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Нет</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Внутри есть нехешируемый list</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 {}, set()</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Нет</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Встроенные изменяемые контейнеры</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frozenset({1, 2})</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Да</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Неизменяемое множество</a:t>
                      </a:r>
                    </a:p>
                  </a:txBody>
                  <a:tcPr marL="91440" marR="91440" marT="45720" marB="45720" anchor="ctr">
                    <a:solidFill>
                      <a:srgbClr val="FFFFFF"/>
                    </a:solidFill>
                  </a:tcPr>
                </a:tc>
              </a:tr>
            </a:tbl>
          </a:graphicData>
        </a:graphic>
      </p:graphicFrame>
      <p:sp>
        <p:nvSpPr>
          <p:cNvPr id="8" name="takeaway-25">
            <a:extLst xmlns:a="http://schemas.openxmlformats.org/drawingml/2006/main">
              <a:ext uri="{FF2B5EF4-FFF2-40B4-BE49-F238E27FC236}">
                <a16:creationId xmlns:a16="http://schemas.microsoft.com/office/drawing/2014/main" id="{769CF241-14A8-497D-825A-62CF3EBB4215}"/>
              </a:ext>
            </a:extLst>
          </p:cNvPr>
          <p:cNvSpPr>
            <a:spLocks xmlns:a="http://schemas.openxmlformats.org/drawingml/2006/main" noGrp="1"/>
          </p:cNvSpPr>
          <p:nvPr/>
        </p:nvSpPr>
        <p:spPr>
          <a:xfrm xmlns:a="http://schemas.openxmlformats.org/drawingml/2006/main">
            <a:off x="685800" y="5953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Хешируемость и неизменяемость — связанные, но разные свойства.</a:t>
            </a:r>
          </a:p>
        </p:txBody>
      </p:sp>
    </p:spTree>
    <p:extLst>
      <p:ext uri="{BB962C8B-B14F-4D97-AF65-F5344CB8AC3E}">
        <p14:creationId xmlns:p14="http://schemas.microsoft.com/office/powerpoint/2010/main" val="15785213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416">
            <a:extLst xmlns:a="http://schemas.openxmlformats.org/drawingml/2006/main">
              <a:ext uri="{FF2B5EF4-FFF2-40B4-BE49-F238E27FC236}">
                <a16:creationId xmlns:a16="http://schemas.microsoft.com/office/drawing/2014/main" id="{975188C3-F4CA-4806-8B9E-EE79244E6AAB}"/>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04 / РАВЕНСТВО КЛЮЧЕЙ</a:t>
            </a:r>
          </a:p>
        </p:txBody>
      </p:sp>
      <p:sp>
        <p:nvSpPr>
          <p:cNvPr id="2" name="title-26">
            <a:extLst xmlns:a="http://schemas.openxmlformats.org/drawingml/2006/main">
              <a:ext uri="{FF2B5EF4-FFF2-40B4-BE49-F238E27FC236}">
                <a16:creationId xmlns:a16="http://schemas.microsoft.com/office/drawing/2014/main" id="{AFEE8E53-4C81-4CFD-88CD-7E07A77ADB01}"/>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Три записи могут означать один ключ</a:t>
            </a:r>
          </a:p>
        </p:txBody>
      </p:sp>
      <p:sp>
        <p:nvSpPr>
          <p:cNvPr id="3" name="text-417">
            <a:extLst xmlns:a="http://schemas.openxmlformats.org/drawingml/2006/main">
              <a:ext uri="{FF2B5EF4-FFF2-40B4-BE49-F238E27FC236}">
                <a16:creationId xmlns:a16="http://schemas.microsoft.com/office/drawing/2014/main" id="{72C53744-959E-49AC-866E-EFB81BEDB0FD}"/>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Разные числовые типы способны представлять равные значения.</a:t>
            </a:r>
          </a:p>
        </p:txBody>
      </p:sp>
      <p:sp>
        <p:nvSpPr>
          <p:cNvPr id="4" name="surface-418">
            <a:extLst xmlns:a="http://schemas.openxmlformats.org/drawingml/2006/main">
              <a:ext uri="{FF2B5EF4-FFF2-40B4-BE49-F238E27FC236}">
                <a16:creationId xmlns:a16="http://schemas.microsoft.com/office/drawing/2014/main" id="{7AF15BDA-DC05-473D-BA7D-174CD3B0911E}"/>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419">
            <a:extLst xmlns:a="http://schemas.openxmlformats.org/drawingml/2006/main">
              <a:ext uri="{FF2B5EF4-FFF2-40B4-BE49-F238E27FC236}">
                <a16:creationId xmlns:a16="http://schemas.microsoft.com/office/drawing/2014/main" id="{CCF4EBB7-5BED-4116-AB9A-AFC19AFA8306}"/>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420">
            <a:extLst xmlns:a="http://schemas.openxmlformats.org/drawingml/2006/main">
              <a:ext uri="{FF2B5EF4-FFF2-40B4-BE49-F238E27FC236}">
                <a16:creationId xmlns:a16="http://schemas.microsoft.com/office/drawing/2014/main" id="{CE2B6CFC-08BA-44F6-ADE2-E187A4F453E4}"/>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26</a:t>
            </a:r>
          </a:p>
        </p:txBody>
      </p:sp>
      <p:sp>
        <p:nvSpPr>
          <p:cNvPr id="7" name="surface-421">
            <a:extLst xmlns:a="http://schemas.openxmlformats.org/drawingml/2006/main">
              <a:ext uri="{FF2B5EF4-FFF2-40B4-BE49-F238E27FC236}">
                <a16:creationId xmlns:a16="http://schemas.microsoft.com/office/drawing/2014/main" id="{2D68D623-E81C-4747-A6E2-39B9B450EC4F}"/>
              </a:ext>
            </a:extLst>
          </p:cNvPr>
          <p:cNvSpPr>
            <a:spLocks xmlns:a="http://schemas.openxmlformats.org/drawingml/2006/main" noGrp="1"/>
          </p:cNvSpPr>
          <p:nvPr/>
        </p:nvSpPr>
        <p:spPr>
          <a:xfrm xmlns:a="http://schemas.openxmlformats.org/drawingml/2006/main">
            <a:off x="685800" y="2143125"/>
            <a:ext cx="10820400" cy="3238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26-422">
            <a:extLst xmlns:a="http://schemas.openxmlformats.org/drawingml/2006/main">
              <a:ext uri="{FF2B5EF4-FFF2-40B4-BE49-F238E27FC236}">
                <a16:creationId xmlns:a16="http://schemas.microsoft.com/office/drawing/2014/main" id="{E584A43F-B3BA-45A2-B2A6-CE27AD109234}"/>
              </a:ext>
            </a:extLst>
          </p:cNvPr>
          <p:cNvSpPr>
            <a:spLocks xmlns:a="http://schemas.openxmlformats.org/drawingml/2006/main" noGrp="1"/>
          </p:cNvSpPr>
          <p:nvPr/>
        </p:nvSpPr>
        <p:spPr>
          <a:xfrm xmlns:a="http://schemas.openxmlformats.org/drawingml/2006/main">
            <a:off x="895350" y="2352675"/>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1">
                <a:solidFill>
                  <a:srgbClr val="286DA6"/>
                </a:solidFill>
                <a:latin typeface="Courier New"/>
                <a:ea typeface="Courier New"/>
                <a:cs typeface="Courier New"/>
              </a:rPr>
              <a:t>True</a:t>
            </a:r>
            <a:r>
              <a:rPr sz="2175" b="0">
                <a:solidFill>
                  <a:srgbClr val="131518"/>
                </a:solidFill>
                <a:latin typeface="Courier New"/>
                <a:ea typeface="Courier New"/>
                <a:cs typeface="Courier New"/>
              </a:rPr>
              <a:t> == 1 == 1.0                </a:t>
            </a:r>
            <a:r>
              <a:rPr sz="2175" b="0">
                <a:solidFill>
                  <a:srgbClr val="535A61"/>
                </a:solidFill>
                <a:latin typeface="Courier New"/>
                <a:ea typeface="Courier New"/>
                <a:cs typeface="Courier New"/>
              </a:rPr>
              <a:t># True</a:t>
            </a:r>
          </a:p>
        </p:txBody>
      </p:sp>
      <p:sp>
        <p:nvSpPr>
          <p:cNvPr id="9" name="code-26-423">
            <a:extLst xmlns:a="http://schemas.openxmlformats.org/drawingml/2006/main">
              <a:ext uri="{FF2B5EF4-FFF2-40B4-BE49-F238E27FC236}">
                <a16:creationId xmlns:a16="http://schemas.microsoft.com/office/drawing/2014/main" id="{3CE786B2-7D7F-4BB0-BA8A-68ABB997BDD8}"/>
              </a:ext>
            </a:extLst>
          </p:cNvPr>
          <p:cNvSpPr>
            <a:spLocks xmlns:a="http://schemas.openxmlformats.org/drawingml/2006/main" noGrp="1"/>
          </p:cNvSpPr>
          <p:nvPr/>
        </p:nvSpPr>
        <p:spPr>
          <a:xfrm xmlns:a="http://schemas.openxmlformats.org/drawingml/2006/main">
            <a:off x="895350" y="2697956"/>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hash(</a:t>
            </a:r>
            <a:r>
              <a:rPr sz="2175" b="1">
                <a:solidFill>
                  <a:srgbClr val="286DA6"/>
                </a:solidFill>
                <a:latin typeface="Courier New"/>
                <a:ea typeface="Courier New"/>
                <a:cs typeface="Courier New"/>
              </a:rPr>
              <a:t>True</a:t>
            </a:r>
            <a:r>
              <a:rPr sz="2175" b="0">
                <a:solidFill>
                  <a:srgbClr val="131518"/>
                </a:solidFill>
                <a:latin typeface="Courier New"/>
                <a:ea typeface="Courier New"/>
                <a:cs typeface="Courier New"/>
              </a:rPr>
              <a:t>) == hash(1) == hash(1.0) </a:t>
            </a:r>
            <a:r>
              <a:rPr sz="2175" b="0">
                <a:solidFill>
                  <a:srgbClr val="535A61"/>
                </a:solidFill>
                <a:latin typeface="Courier New"/>
                <a:ea typeface="Courier New"/>
                <a:cs typeface="Courier New"/>
              </a:rPr>
              <a:t># True</a:t>
            </a:r>
          </a:p>
        </p:txBody>
      </p:sp>
      <p:sp>
        <p:nvSpPr>
          <p:cNvPr id="10" name="code-26-424">
            <a:extLst xmlns:a="http://schemas.openxmlformats.org/drawingml/2006/main">
              <a:ext uri="{FF2B5EF4-FFF2-40B4-BE49-F238E27FC236}">
                <a16:creationId xmlns:a16="http://schemas.microsoft.com/office/drawing/2014/main" id="{A53529C6-88EF-4BAC-BBEA-7CE66ECA2AC6}"/>
              </a:ext>
            </a:extLst>
          </p:cNvPr>
          <p:cNvSpPr>
            <a:spLocks xmlns:a="http://schemas.openxmlformats.org/drawingml/2006/main" noGrp="1"/>
          </p:cNvSpPr>
          <p:nvPr/>
        </p:nvSpPr>
        <p:spPr>
          <a:xfrm xmlns:a="http://schemas.openxmlformats.org/drawingml/2006/main">
            <a:off x="895350" y="3043238"/>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 </a:t>
            </a:r>
          </a:p>
        </p:txBody>
      </p:sp>
      <p:sp>
        <p:nvSpPr>
          <p:cNvPr id="11" name="code-26-425">
            <a:extLst xmlns:a="http://schemas.openxmlformats.org/drawingml/2006/main">
              <a:ext uri="{FF2B5EF4-FFF2-40B4-BE49-F238E27FC236}">
                <a16:creationId xmlns:a16="http://schemas.microsoft.com/office/drawing/2014/main" id="{ADCDD0EF-E047-46D7-A763-CFFD333B6BA7}"/>
              </a:ext>
            </a:extLst>
          </p:cNvPr>
          <p:cNvSpPr>
            <a:spLocks xmlns:a="http://schemas.openxmlformats.org/drawingml/2006/main" noGrp="1"/>
          </p:cNvSpPr>
          <p:nvPr/>
        </p:nvSpPr>
        <p:spPr>
          <a:xfrm xmlns:a="http://schemas.openxmlformats.org/drawingml/2006/main">
            <a:off x="895350" y="3388519"/>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d = {</a:t>
            </a:r>
            <a:r>
              <a:rPr sz="2175" b="1">
                <a:solidFill>
                  <a:srgbClr val="286DA6"/>
                </a:solidFill>
                <a:latin typeface="Courier New"/>
                <a:ea typeface="Courier New"/>
                <a:cs typeface="Courier New"/>
              </a:rPr>
              <a:t>True</a:t>
            </a:r>
            <a:r>
              <a:rPr sz="2175" b="0">
                <a:solidFill>
                  <a:srgbClr val="131518"/>
                </a:solidFill>
                <a:latin typeface="Courier New"/>
                <a:ea typeface="Courier New"/>
                <a:cs typeface="Courier New"/>
              </a:rPr>
              <a:t>: "A", 1: "B", 1.0: "C"}</a:t>
            </a:r>
          </a:p>
        </p:txBody>
      </p:sp>
      <p:sp>
        <p:nvSpPr>
          <p:cNvPr id="12" name="code-26-426">
            <a:extLst xmlns:a="http://schemas.openxmlformats.org/drawingml/2006/main">
              <a:ext uri="{FF2B5EF4-FFF2-40B4-BE49-F238E27FC236}">
                <a16:creationId xmlns:a16="http://schemas.microsoft.com/office/drawing/2014/main" id="{C0E20D8C-4046-4D80-8189-62DD926BF0A0}"/>
              </a:ext>
            </a:extLst>
          </p:cNvPr>
          <p:cNvSpPr>
            <a:spLocks xmlns:a="http://schemas.openxmlformats.org/drawingml/2006/main" noGrp="1"/>
          </p:cNvSpPr>
          <p:nvPr/>
        </p:nvSpPr>
        <p:spPr>
          <a:xfrm xmlns:a="http://schemas.openxmlformats.org/drawingml/2006/main">
            <a:off x="895350" y="3733800"/>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 </a:t>
            </a:r>
          </a:p>
        </p:txBody>
      </p:sp>
      <p:sp>
        <p:nvSpPr>
          <p:cNvPr id="13" name="code-26-427">
            <a:extLst xmlns:a="http://schemas.openxmlformats.org/drawingml/2006/main">
              <a:ext uri="{FF2B5EF4-FFF2-40B4-BE49-F238E27FC236}">
                <a16:creationId xmlns:a16="http://schemas.microsoft.com/office/drawing/2014/main" id="{55B662DF-F871-44C3-9D2F-4DF023DC2788}"/>
              </a:ext>
            </a:extLst>
          </p:cNvPr>
          <p:cNvSpPr>
            <a:spLocks xmlns:a="http://schemas.openxmlformats.org/drawingml/2006/main" noGrp="1"/>
          </p:cNvSpPr>
          <p:nvPr/>
        </p:nvSpPr>
        <p:spPr>
          <a:xfrm xmlns:a="http://schemas.openxmlformats.org/drawingml/2006/main">
            <a:off x="895350" y="4079081"/>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len(d)    </a:t>
            </a:r>
            <a:r>
              <a:rPr sz="2175" b="0">
                <a:solidFill>
                  <a:srgbClr val="535A61"/>
                </a:solidFill>
                <a:latin typeface="Courier New"/>
                <a:ea typeface="Courier New"/>
                <a:cs typeface="Courier New"/>
              </a:rPr>
              <a:t># 1</a:t>
            </a:r>
          </a:p>
        </p:txBody>
      </p:sp>
      <p:sp>
        <p:nvSpPr>
          <p:cNvPr id="14" name="code-26-428">
            <a:extLst xmlns:a="http://schemas.openxmlformats.org/drawingml/2006/main">
              <a:ext uri="{FF2B5EF4-FFF2-40B4-BE49-F238E27FC236}">
                <a16:creationId xmlns:a16="http://schemas.microsoft.com/office/drawing/2014/main" id="{250645D6-3DBA-4D25-85BE-2B76B027525E}"/>
              </a:ext>
            </a:extLst>
          </p:cNvPr>
          <p:cNvSpPr>
            <a:spLocks xmlns:a="http://schemas.openxmlformats.org/drawingml/2006/main" noGrp="1"/>
          </p:cNvSpPr>
          <p:nvPr/>
        </p:nvSpPr>
        <p:spPr>
          <a:xfrm xmlns:a="http://schemas.openxmlformats.org/drawingml/2006/main">
            <a:off x="895350" y="4424363"/>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d[</a:t>
            </a:r>
            <a:r>
              <a:rPr sz="2175" b="1">
                <a:solidFill>
                  <a:srgbClr val="286DA6"/>
                </a:solidFill>
                <a:latin typeface="Courier New"/>
                <a:ea typeface="Courier New"/>
                <a:cs typeface="Courier New"/>
              </a:rPr>
              <a:t>True</a:t>
            </a:r>
            <a:r>
              <a:rPr sz="2175" b="0">
                <a:solidFill>
                  <a:srgbClr val="131518"/>
                </a:solidFill>
                <a:latin typeface="Courier New"/>
                <a:ea typeface="Courier New"/>
                <a:cs typeface="Courier New"/>
              </a:rPr>
              <a:t>]   </a:t>
            </a:r>
            <a:r>
              <a:rPr sz="2175" b="0">
                <a:solidFill>
                  <a:srgbClr val="535A61"/>
                </a:solidFill>
                <a:latin typeface="Courier New"/>
                <a:ea typeface="Courier New"/>
                <a:cs typeface="Courier New"/>
              </a:rPr>
              <a:t># "C"</a:t>
            </a:r>
          </a:p>
        </p:txBody>
      </p:sp>
      <p:sp>
        <p:nvSpPr>
          <p:cNvPr id="15" name="code-26-429">
            <a:extLst xmlns:a="http://schemas.openxmlformats.org/drawingml/2006/main">
              <a:ext uri="{FF2B5EF4-FFF2-40B4-BE49-F238E27FC236}">
                <a16:creationId xmlns:a16="http://schemas.microsoft.com/office/drawing/2014/main" id="{EB29BD62-6B92-4090-AED7-0265A5987349}"/>
              </a:ext>
            </a:extLst>
          </p:cNvPr>
          <p:cNvSpPr>
            <a:spLocks xmlns:a="http://schemas.openxmlformats.org/drawingml/2006/main" noGrp="1"/>
          </p:cNvSpPr>
          <p:nvPr/>
        </p:nvSpPr>
        <p:spPr>
          <a:xfrm xmlns:a="http://schemas.openxmlformats.org/drawingml/2006/main">
            <a:off x="895350" y="4769644"/>
            <a:ext cx="10401300"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31518"/>
                </a:solidFill>
                <a:latin typeface="Courier New"/>
                <a:ea typeface="Courier New"/>
                <a:cs typeface="Courier New"/>
              </a:defRPr>
            </a:pPr>
            <a:r>
              <a:rPr sz="2175" b="0">
                <a:solidFill>
                  <a:srgbClr val="131518"/>
                </a:solidFill>
                <a:latin typeface="Courier New"/>
                <a:ea typeface="Courier New"/>
                <a:cs typeface="Courier New"/>
              </a:rPr>
              <a:t>d[1.0]    </a:t>
            </a:r>
            <a:r>
              <a:rPr sz="2175" b="0">
                <a:solidFill>
                  <a:srgbClr val="535A61"/>
                </a:solidFill>
                <a:latin typeface="Courier New"/>
                <a:ea typeface="Courier New"/>
                <a:cs typeface="Courier New"/>
              </a:rPr>
              <a:t># "C"</a:t>
            </a:r>
          </a:p>
        </p:txBody>
      </p:sp>
      <p:sp>
        <p:nvSpPr>
          <p:cNvPr id="16" name="takeaway-26">
            <a:extLst xmlns:a="http://schemas.openxmlformats.org/drawingml/2006/main">
              <a:ext uri="{FF2B5EF4-FFF2-40B4-BE49-F238E27FC236}">
                <a16:creationId xmlns:a16="http://schemas.microsoft.com/office/drawing/2014/main" id="{4AA54E7D-0486-42EA-BBD1-7D9FB3FFD27D}"/>
              </a:ext>
            </a:extLst>
          </p:cNvPr>
          <p:cNvSpPr>
            <a:spLocks xmlns:a="http://schemas.openxmlformats.org/drawingml/2006/main" noGrp="1"/>
          </p:cNvSpPr>
          <p:nvPr/>
        </p:nvSpPr>
        <p:spPr>
          <a:xfrm xmlns:a="http://schemas.openxmlformats.org/drawingml/2006/main">
            <a:off x="685800" y="6000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Это последовательное обновление одного ключа, а не потеря данных «случайно».</a:t>
            </a:r>
          </a:p>
        </p:txBody>
      </p:sp>
    </p:spTree>
    <p:extLst>
      <p:ext uri="{BB962C8B-B14F-4D97-AF65-F5344CB8AC3E}">
        <p14:creationId xmlns:p14="http://schemas.microsoft.com/office/powerpoint/2010/main" val="43524590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430">
            <a:extLst xmlns:a="http://schemas.openxmlformats.org/drawingml/2006/main">
              <a:ext uri="{FF2B5EF4-FFF2-40B4-BE49-F238E27FC236}">
                <a16:creationId xmlns:a16="http://schemas.microsoft.com/office/drawing/2014/main" id="{6394B3E4-1212-4CB7-A492-C2CB8EC9F637}"/>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04 / МНОЖЕСТВА</a:t>
            </a:r>
          </a:p>
        </p:txBody>
      </p:sp>
      <p:sp>
        <p:nvSpPr>
          <p:cNvPr id="2" name="title-27">
            <a:extLst xmlns:a="http://schemas.openxmlformats.org/drawingml/2006/main">
              <a:ext uri="{FF2B5EF4-FFF2-40B4-BE49-F238E27FC236}">
                <a16:creationId xmlns:a16="http://schemas.microsoft.com/office/drawing/2014/main" id="{2860E32E-63C1-4F24-A760-45393DDCE584}"/>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set выражает уникальность</a:t>
            </a:r>
          </a:p>
        </p:txBody>
      </p:sp>
      <p:sp>
        <p:nvSpPr>
          <p:cNvPr id="3" name="text-431">
            <a:extLst xmlns:a="http://schemas.openxmlformats.org/drawingml/2006/main">
              <a:ext uri="{FF2B5EF4-FFF2-40B4-BE49-F238E27FC236}">
                <a16:creationId xmlns:a16="http://schemas.microsoft.com/office/drawing/2014/main" id="{41829249-1D9A-47CA-A6DD-540A9669A3CB}"/>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Проверка принадлежности и операции над множествами — его основные задачи.</a:t>
            </a:r>
          </a:p>
        </p:txBody>
      </p:sp>
      <p:sp>
        <p:nvSpPr>
          <p:cNvPr id="4" name="surface-432">
            <a:extLst xmlns:a="http://schemas.openxmlformats.org/drawingml/2006/main">
              <a:ext uri="{FF2B5EF4-FFF2-40B4-BE49-F238E27FC236}">
                <a16:creationId xmlns:a16="http://schemas.microsoft.com/office/drawing/2014/main" id="{039BB828-55F3-4A5C-B6E0-806DAF3A05D4}"/>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433">
            <a:extLst xmlns:a="http://schemas.openxmlformats.org/drawingml/2006/main">
              <a:ext uri="{FF2B5EF4-FFF2-40B4-BE49-F238E27FC236}">
                <a16:creationId xmlns:a16="http://schemas.microsoft.com/office/drawing/2014/main" id="{8104C5A0-A41E-47A5-94E9-B1FD81BD82B5}"/>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434">
            <a:extLst xmlns:a="http://schemas.openxmlformats.org/drawingml/2006/main">
              <a:ext uri="{FF2B5EF4-FFF2-40B4-BE49-F238E27FC236}">
                <a16:creationId xmlns:a16="http://schemas.microsoft.com/office/drawing/2014/main" id="{EF163A49-3095-4D79-8D3D-6F2633ACAA62}"/>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27</a:t>
            </a:r>
          </a:p>
        </p:txBody>
      </p:sp>
      <p:sp>
        <p:nvSpPr>
          <p:cNvPr id="7" name="surface-435">
            <a:extLst xmlns:a="http://schemas.openxmlformats.org/drawingml/2006/main">
              <a:ext uri="{FF2B5EF4-FFF2-40B4-BE49-F238E27FC236}">
                <a16:creationId xmlns:a16="http://schemas.microsoft.com/office/drawing/2014/main" id="{0E79B18D-52F5-4AF2-A8FD-B97E78CF3AFC}"/>
              </a:ext>
            </a:extLst>
          </p:cNvPr>
          <p:cNvSpPr>
            <a:spLocks xmlns:a="http://schemas.openxmlformats.org/drawingml/2006/main" noGrp="1"/>
          </p:cNvSpPr>
          <p:nvPr/>
        </p:nvSpPr>
        <p:spPr>
          <a:xfrm xmlns:a="http://schemas.openxmlformats.org/drawingml/2006/main">
            <a:off x="685800" y="2190750"/>
            <a:ext cx="6724650" cy="3152489"/>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27-436">
            <a:extLst xmlns:a="http://schemas.openxmlformats.org/drawingml/2006/main">
              <a:ext uri="{FF2B5EF4-FFF2-40B4-BE49-F238E27FC236}">
                <a16:creationId xmlns:a16="http://schemas.microsoft.com/office/drawing/2014/main" id="{9636EF47-8DBB-4231-AE7B-069144AF6EA8}"/>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 {1, 2, 3}</a:t>
            </a:r>
          </a:p>
        </p:txBody>
      </p:sp>
      <p:sp>
        <p:nvSpPr>
          <p:cNvPr id="9" name="code-27-437">
            <a:extLst xmlns:a="http://schemas.openxmlformats.org/drawingml/2006/main">
              <a:ext uri="{FF2B5EF4-FFF2-40B4-BE49-F238E27FC236}">
                <a16:creationId xmlns:a16="http://schemas.microsoft.com/office/drawing/2014/main" id="{C69E9509-3683-4E6E-ADFC-DA43A4BF0F4D}"/>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b = {3, 4}</a:t>
            </a:r>
          </a:p>
        </p:txBody>
      </p:sp>
      <p:sp>
        <p:nvSpPr>
          <p:cNvPr id="10" name="code-27-438">
            <a:extLst xmlns:a="http://schemas.openxmlformats.org/drawingml/2006/main">
              <a:ext uri="{FF2B5EF4-FFF2-40B4-BE49-F238E27FC236}">
                <a16:creationId xmlns:a16="http://schemas.microsoft.com/office/drawing/2014/main" id="{82FF4016-F898-41AB-AD5E-5227709F7CA6}"/>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1" name="code-27-439">
            <a:extLst xmlns:a="http://schemas.openxmlformats.org/drawingml/2006/main">
              <a:ext uri="{FF2B5EF4-FFF2-40B4-BE49-F238E27FC236}">
                <a16:creationId xmlns:a16="http://schemas.microsoft.com/office/drawing/2014/main" id="{125FAEAB-5F83-4BBC-8EB1-B0475A139B90}"/>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&amp; b   </a:t>
            </a:r>
            <a:r>
              <a:rPr sz="1988" b="0">
                <a:solidFill>
                  <a:srgbClr val="535A61"/>
                </a:solidFill>
                <a:latin typeface="Courier New"/>
                <a:ea typeface="Courier New"/>
                <a:cs typeface="Courier New"/>
              </a:rPr>
              <a:t># {3}       пересечение</a:t>
            </a:r>
          </a:p>
        </p:txBody>
      </p:sp>
      <p:sp>
        <p:nvSpPr>
          <p:cNvPr id="12" name="code-27-440">
            <a:extLst xmlns:a="http://schemas.openxmlformats.org/drawingml/2006/main">
              <a:ext uri="{FF2B5EF4-FFF2-40B4-BE49-F238E27FC236}">
                <a16:creationId xmlns:a16="http://schemas.microsoft.com/office/drawing/2014/main" id="{267A8BE2-B17A-4913-86D3-883818651A3B}"/>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 b   </a:t>
            </a:r>
            <a:r>
              <a:rPr sz="1988" b="0">
                <a:solidFill>
                  <a:srgbClr val="535A61"/>
                </a:solidFill>
                <a:latin typeface="Courier New"/>
                <a:ea typeface="Courier New"/>
                <a:cs typeface="Courier New"/>
              </a:rPr>
              <a:t># {1, 2, 3, 4} объединение</a:t>
            </a:r>
          </a:p>
        </p:txBody>
      </p:sp>
      <p:sp>
        <p:nvSpPr>
          <p:cNvPr id="13" name="code-27-441">
            <a:extLst xmlns:a="http://schemas.openxmlformats.org/drawingml/2006/main">
              <a:ext uri="{FF2B5EF4-FFF2-40B4-BE49-F238E27FC236}">
                <a16:creationId xmlns:a16="http://schemas.microsoft.com/office/drawing/2014/main" id="{79A26828-8789-4DA5-BE35-B418D54E1AFB}"/>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 b   </a:t>
            </a:r>
            <a:r>
              <a:rPr sz="1988" b="0">
                <a:solidFill>
                  <a:srgbClr val="535A61"/>
                </a:solidFill>
                <a:latin typeface="Courier New"/>
                <a:ea typeface="Courier New"/>
                <a:cs typeface="Courier New"/>
              </a:rPr>
              <a:t># {1, 2}    разность</a:t>
            </a:r>
          </a:p>
        </p:txBody>
      </p:sp>
      <p:sp>
        <p:nvSpPr>
          <p:cNvPr id="14" name="code-27-442">
            <a:extLst xmlns:a="http://schemas.openxmlformats.org/drawingml/2006/main">
              <a:ext uri="{FF2B5EF4-FFF2-40B4-BE49-F238E27FC236}">
                <a16:creationId xmlns:a16="http://schemas.microsoft.com/office/drawing/2014/main" id="{2B6B8D4B-B5A2-4973-811B-D42192C1078A}"/>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a ^ b   </a:t>
            </a:r>
            <a:r>
              <a:rPr sz="1988" b="0">
                <a:solidFill>
                  <a:srgbClr val="535A61"/>
                </a:solidFill>
                <a:latin typeface="Courier New"/>
                <a:ea typeface="Courier New"/>
                <a:cs typeface="Courier New"/>
              </a:rPr>
              <a:t># {1, 2, 4} симм. разность</a:t>
            </a:r>
          </a:p>
        </p:txBody>
      </p:sp>
      <p:sp>
        <p:nvSpPr>
          <p:cNvPr id="15" name="code-27-443">
            <a:extLst xmlns:a="http://schemas.openxmlformats.org/drawingml/2006/main">
              <a:ext uri="{FF2B5EF4-FFF2-40B4-BE49-F238E27FC236}">
                <a16:creationId xmlns:a16="http://schemas.microsoft.com/office/drawing/2014/main" id="{C1960149-25AE-4FC9-A07B-5317AB20D008}"/>
              </a:ext>
            </a:extLst>
          </p:cNvPr>
          <p:cNvSpPr>
            <a:spLocks xmlns:a="http://schemas.openxmlformats.org/drawingml/2006/main" noGrp="1"/>
          </p:cNvSpPr>
          <p:nvPr/>
        </p:nvSpPr>
        <p:spPr>
          <a:xfrm xmlns:a="http://schemas.openxmlformats.org/drawingml/2006/main">
            <a:off x="876300" y="453685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6" name="code-27-444">
            <a:extLst xmlns:a="http://schemas.openxmlformats.org/drawingml/2006/main">
              <a:ext uri="{FF2B5EF4-FFF2-40B4-BE49-F238E27FC236}">
                <a16:creationId xmlns:a16="http://schemas.microsoft.com/office/drawing/2014/main" id="{795E75EA-EFF1-4C94-A4BC-F8C3EA0B88FE}"/>
              </a:ext>
            </a:extLst>
          </p:cNvPr>
          <p:cNvSpPr>
            <a:spLocks xmlns:a="http://schemas.openxmlformats.org/drawingml/2006/main" noGrp="1"/>
          </p:cNvSpPr>
          <p:nvPr/>
        </p:nvSpPr>
        <p:spPr>
          <a:xfrm xmlns:a="http://schemas.openxmlformats.org/drawingml/2006/main">
            <a:off x="876300" y="484479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empty = set()  </a:t>
            </a:r>
            <a:r>
              <a:rPr sz="1988" b="0">
                <a:solidFill>
                  <a:srgbClr val="535A61"/>
                </a:solidFill>
                <a:latin typeface="Courier New"/>
                <a:ea typeface="Courier New"/>
                <a:cs typeface="Courier New"/>
              </a:rPr>
              <a:t># {} создаёт dict</a:t>
            </a:r>
          </a:p>
        </p:txBody>
      </p:sp>
      <p:sp>
        <p:nvSpPr>
          <p:cNvPr id="17" name="text-445">
            <a:extLst xmlns:a="http://schemas.openxmlformats.org/drawingml/2006/main">
              <a:ext uri="{FF2B5EF4-FFF2-40B4-BE49-F238E27FC236}">
                <a16:creationId xmlns:a16="http://schemas.microsoft.com/office/drawing/2014/main" id="{7C727309-2F80-4060-BAD2-F4CC00494793}"/>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Нет индексов</a:t>
            </a:r>
          </a:p>
        </p:txBody>
      </p:sp>
      <p:sp>
        <p:nvSpPr>
          <p:cNvPr id="18" name="text-446">
            <a:extLst xmlns:a="http://schemas.openxmlformats.org/drawingml/2006/main">
              <a:ext uri="{FF2B5EF4-FFF2-40B4-BE49-F238E27FC236}">
                <a16:creationId xmlns:a16="http://schemas.microsoft.com/office/drawing/2014/main" id="{17E69A17-1968-4C46-A1A0-C7E2960457F0}"/>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Порядок не гарантирован.</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Индекса s[0] нет.</a:t>
            </a:r>
          </a:p>
        </p:txBody>
      </p:sp>
      <p:sp>
        <p:nvSpPr>
          <p:cNvPr id="19" name="text-447">
            <a:extLst xmlns:a="http://schemas.openxmlformats.org/drawingml/2006/main">
              <a:ext uri="{FF2B5EF4-FFF2-40B4-BE49-F238E27FC236}">
                <a16:creationId xmlns:a16="http://schemas.microsoft.com/office/drawing/2014/main" id="{F1E1F412-D654-42B5-A03D-83230E238DEE}"/>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frozenset</a:t>
            </a:r>
          </a:p>
        </p:txBody>
      </p:sp>
      <p:sp>
        <p:nvSpPr>
          <p:cNvPr id="20" name="text-448">
            <a:extLst xmlns:a="http://schemas.openxmlformats.org/drawingml/2006/main">
              <a:ext uri="{FF2B5EF4-FFF2-40B4-BE49-F238E27FC236}">
                <a16:creationId xmlns:a16="http://schemas.microsoft.com/office/drawing/2014/main" id="{CDD5FB61-98F5-403D-9C02-3EF78606536A}"/>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Неизменяемый вариант,</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который может быть ключом.</a:t>
            </a:r>
          </a:p>
        </p:txBody>
      </p:sp>
      <p:sp>
        <p:nvSpPr>
          <p:cNvPr id="21" name="takeaway-27">
            <a:extLst xmlns:a="http://schemas.openxmlformats.org/drawingml/2006/main">
              <a:ext uri="{FF2B5EF4-FFF2-40B4-BE49-F238E27FC236}">
                <a16:creationId xmlns:a16="http://schemas.microsoft.com/office/drawing/2014/main" id="{9BD6AACC-D4F9-4F8B-BDEE-CB4303B964C6}"/>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В комментариях элементы показаны в удобном порядке; порядок печати set не обещан.</a:t>
            </a:r>
          </a:p>
        </p:txBody>
      </p:sp>
    </p:spTree>
    <p:extLst>
      <p:ext uri="{BB962C8B-B14F-4D97-AF65-F5344CB8AC3E}">
        <p14:creationId xmlns:p14="http://schemas.microsoft.com/office/powerpoint/2010/main" val="187233458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49">
            <a:extLst xmlns:a="http://schemas.openxmlformats.org/drawingml/2006/main">
              <a:ext uri="{FF2B5EF4-FFF2-40B4-BE49-F238E27FC236}">
                <a16:creationId xmlns:a16="http://schemas.microsoft.com/office/drawing/2014/main" id="{F1DB1384-EC0F-4A36-B959-37BDDFC844CC}"/>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04 / СТОИМОСТЬ ОПЕРАЦИЙ</a:t>
            </a:r>
          </a:p>
        </p:txBody>
      </p:sp>
      <p:sp>
        <p:nvSpPr>
          <p:cNvPr id="2" name="title-28">
            <a:extLst xmlns:a="http://schemas.openxmlformats.org/drawingml/2006/main">
              <a:ext uri="{FF2B5EF4-FFF2-40B4-BE49-F238E27FC236}">
                <a16:creationId xmlns:a16="http://schemas.microsoft.com/office/drawing/2014/main" id="{FCF5CD69-D56F-4778-A8EA-9AEF4598F9D1}"/>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Тип данных меняет цену алгоритма</a:t>
            </a:r>
          </a:p>
        </p:txBody>
      </p:sp>
      <p:sp>
        <p:nvSpPr>
          <p:cNvPr id="3" name="text-450">
            <a:extLst xmlns:a="http://schemas.openxmlformats.org/drawingml/2006/main">
              <a:ext uri="{FF2B5EF4-FFF2-40B4-BE49-F238E27FC236}">
                <a16:creationId xmlns:a16="http://schemas.microsoft.com/office/drawing/2014/main" id="{2551577C-C8CE-4D13-A0DA-A1E0439984B5}"/>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Оценки для обычных встроенных типов CPython; n — размер контейнера.</a:t>
            </a:r>
          </a:p>
        </p:txBody>
      </p:sp>
      <p:sp>
        <p:nvSpPr>
          <p:cNvPr id="4" name="surface-451">
            <a:extLst xmlns:a="http://schemas.openxmlformats.org/drawingml/2006/main">
              <a:ext uri="{FF2B5EF4-FFF2-40B4-BE49-F238E27FC236}">
                <a16:creationId xmlns:a16="http://schemas.microsoft.com/office/drawing/2014/main" id="{73CD666D-F3C7-4CA1-A354-E5A61857CCDF}"/>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452">
            <a:extLst xmlns:a="http://schemas.openxmlformats.org/drawingml/2006/main">
              <a:ext uri="{FF2B5EF4-FFF2-40B4-BE49-F238E27FC236}">
                <a16:creationId xmlns:a16="http://schemas.microsoft.com/office/drawing/2014/main" id="{09926FF9-EC8C-4AD7-92B4-C937AE6B09A0}"/>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453">
            <a:extLst xmlns:a="http://schemas.openxmlformats.org/drawingml/2006/main">
              <a:ext uri="{FF2B5EF4-FFF2-40B4-BE49-F238E27FC236}">
                <a16:creationId xmlns:a16="http://schemas.microsoft.com/office/drawing/2014/main" id="{D5F6FB47-B366-4C50-A58B-2497DD8EFAAC}"/>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28</a:t>
            </a:r>
          </a:p>
        </p:txBody>
      </p:sp>
      <p:graphicFrame>
        <p:nvGraphicFramePr>
          <p:cNvPr id="15" name=""/>
          <p:cNvGraphicFramePr/>
          <p:nvPr/>
        </p:nvGraphicFramePr>
        <p:xfrm>
          <a:off xmlns:a="http://schemas.openxmlformats.org/drawingml/2006/main" x="685800" y="2181225"/>
          <a:ext xmlns:a="http://schemas.openxmlformats.org/drawingml/2006/main" cx="10820400" cy="3314700"/>
        </p:xfrm>
        <a:graphic xmlns:a="http://schemas.openxmlformats.org/drawingml/2006/main">
          <a:graphicData uri="http://schemas.openxmlformats.org/drawingml/2006/table">
            <a:tbl>
              <a:tblPr firstRow="0" bandRow="0"/>
              <a:tblGrid>
                <a:gridCol w="3905250"/>
                <a:gridCol w="2095500"/>
                <a:gridCol w="4819650"/>
              </a:tblGrid>
              <a:tr h="438150">
                <a:tc>
                  <a:txBody>
                    <a:bodyPr wrap="square" lIns="114300" tIns="57150" rIns="114300" bIns="57150">
                      <a:noAutofit/>
                    </a:bodyPr>
                    <a:lstStyle/>
                    <a:p>
                      <a:r>
                        <a:rPr sz="1800" b="1">
                          <a:solidFill>
                            <a:srgbClr val="131518"/>
                          </a:solidFill>
                          <a:latin typeface="Arial"/>
                          <a:ea typeface="Arial"/>
                          <a:cs typeface="Arial"/>
                        </a:rPr>
                        <a:t>Операция</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Оценка</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Практический смысл</a:t>
                      </a:r>
                    </a:p>
                  </a:txBody>
                  <a:tcPr marL="91440" marR="91440" marT="45720" marB="45720" anchor="ctr">
                    <a:solidFill>
                      <a:srgbClr val="F0F1F2"/>
                    </a:solidFill>
                  </a:tcPr>
                </a:tc>
              </a:tr>
              <a:tr h="575310">
                <a:tc>
                  <a:txBody>
                    <a:bodyPr wrap="square" lIns="114300" tIns="57150" rIns="114300" bIns="57150">
                      <a:noAutofit/>
                    </a:bodyPr>
                    <a:lstStyle/>
                    <a:p>
                      <a:r>
                        <a:rPr sz="1740" b="0">
                          <a:solidFill>
                            <a:srgbClr val="131518"/>
                          </a:solidFill>
                          <a:latin typeface="Arial"/>
                          <a:ea typeface="Arial"/>
                          <a:cs typeface="Arial"/>
                        </a:rPr>
                        <a:t>list[i], tuple[i]</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O(1)</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Быстрый доступ по позиции</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x in list</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O(n)</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Возможен просмотр всех элементов</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list.append(x)</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O(1)*</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*Амортизированная оценка</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list.insert(0, x)</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O(n)</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Нужен сдвиг элементов</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d[key], x in set</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O(1)**</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**В среднем; худший случай O(n)</a:t>
                      </a:r>
                    </a:p>
                  </a:txBody>
                  <a:tcPr marL="91440" marR="91440" marT="45720" marB="45720" anchor="ctr">
                    <a:solidFill>
                      <a:srgbClr val="FFFFFF"/>
                    </a:solidFill>
                  </a:tcPr>
                </a:tc>
              </a:tr>
            </a:tbl>
          </a:graphicData>
        </a:graphic>
      </p:graphicFrame>
      <p:sp>
        <p:nvSpPr>
          <p:cNvPr id="8" name="takeaway-28">
            <a:extLst xmlns:a="http://schemas.openxmlformats.org/drawingml/2006/main">
              <a:ext uri="{FF2B5EF4-FFF2-40B4-BE49-F238E27FC236}">
                <a16:creationId xmlns:a16="http://schemas.microsoft.com/office/drawing/2014/main" id="{C83A2AEB-0399-4A81-9E03-781DD9F8C51E}"/>
              </a:ext>
            </a:extLst>
          </p:cNvPr>
          <p:cNvSpPr>
            <a:spLocks xmlns:a="http://schemas.openxmlformats.org/drawingml/2006/main" noGrp="1"/>
          </p:cNvSpPr>
          <p:nvPr/>
        </p:nvSpPr>
        <p:spPr>
          <a:xfrm xmlns:a="http://schemas.openxmlformats.org/drawingml/2006/main">
            <a:off x="685800" y="5953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Хеш и сравнение считаются O(1); очередь с двух концов удобнее строить на deque.</a:t>
            </a:r>
          </a:p>
        </p:txBody>
      </p:sp>
    </p:spTree>
    <p:extLst>
      <p:ext uri="{BB962C8B-B14F-4D97-AF65-F5344CB8AC3E}">
        <p14:creationId xmlns:p14="http://schemas.microsoft.com/office/powerpoint/2010/main" val="72954719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454">
            <a:extLst xmlns:a="http://schemas.openxmlformats.org/drawingml/2006/main">
              <a:ext uri="{FF2B5EF4-FFF2-40B4-BE49-F238E27FC236}">
                <a16:creationId xmlns:a16="http://schemas.microsoft.com/office/drawing/2014/main" id="{3D427C2A-A7D1-41A8-8B23-C7F927069690}"/>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04 / ВЫБОР ТИПА</a:t>
            </a:r>
          </a:p>
        </p:txBody>
      </p:sp>
      <p:sp>
        <p:nvSpPr>
          <p:cNvPr id="2" name="title-29">
            <a:extLst xmlns:a="http://schemas.openxmlformats.org/drawingml/2006/main">
              <a:ext uri="{FF2B5EF4-FFF2-40B4-BE49-F238E27FC236}">
                <a16:creationId xmlns:a16="http://schemas.microsoft.com/office/drawing/2014/main" id="{7141A21F-6969-49D9-9FEA-6BFCEFD270A3}"/>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Начинайте с нужных операций</a:t>
            </a:r>
          </a:p>
        </p:txBody>
      </p:sp>
      <p:sp>
        <p:nvSpPr>
          <p:cNvPr id="3" name="text-455">
            <a:extLst xmlns:a="http://schemas.openxmlformats.org/drawingml/2006/main">
              <a:ext uri="{FF2B5EF4-FFF2-40B4-BE49-F238E27FC236}">
                <a16:creationId xmlns:a16="http://schemas.microsoft.com/office/drawing/2014/main" id="{F8C98CF9-FF38-4C70-B183-60FF5B95BEB7}"/>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Выбирайте модель данных, затем удобный синтаксис.</a:t>
            </a:r>
          </a:p>
        </p:txBody>
      </p:sp>
      <p:sp>
        <p:nvSpPr>
          <p:cNvPr id="4" name="surface-456">
            <a:extLst xmlns:a="http://schemas.openxmlformats.org/drawingml/2006/main">
              <a:ext uri="{FF2B5EF4-FFF2-40B4-BE49-F238E27FC236}">
                <a16:creationId xmlns:a16="http://schemas.microsoft.com/office/drawing/2014/main" id="{A80FF0B4-3AC2-490C-97C0-207CD550BD79}"/>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457">
            <a:extLst xmlns:a="http://schemas.openxmlformats.org/drawingml/2006/main">
              <a:ext uri="{FF2B5EF4-FFF2-40B4-BE49-F238E27FC236}">
                <a16:creationId xmlns:a16="http://schemas.microsoft.com/office/drawing/2014/main" id="{235439E7-6735-4080-B793-9BB87A04EAA2}"/>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458">
            <a:extLst xmlns:a="http://schemas.openxmlformats.org/drawingml/2006/main">
              <a:ext uri="{FF2B5EF4-FFF2-40B4-BE49-F238E27FC236}">
                <a16:creationId xmlns:a16="http://schemas.microsoft.com/office/drawing/2014/main" id="{85E627DE-EC70-4CDD-A5DB-4B8FF6972863}"/>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29</a:t>
            </a:r>
          </a:p>
        </p:txBody>
      </p:sp>
      <p:graphicFrame>
        <p:nvGraphicFramePr>
          <p:cNvPr id="14" name=""/>
          <p:cNvGraphicFramePr/>
          <p:nvPr/>
        </p:nvGraphicFramePr>
        <p:xfrm>
          <a:off xmlns:a="http://schemas.openxmlformats.org/drawingml/2006/main" x="685800" y="2181225"/>
          <a:ext xmlns:a="http://schemas.openxmlformats.org/drawingml/2006/main" cx="10820400" cy="3314700"/>
        </p:xfrm>
        <a:graphic xmlns:a="http://schemas.openxmlformats.org/drawingml/2006/main">
          <a:graphicData uri="http://schemas.openxmlformats.org/drawingml/2006/table">
            <a:tbl>
              <a:tblPr firstRow="0" bandRow="0"/>
              <a:tblGrid>
                <a:gridCol w="5238750"/>
                <a:gridCol w="1905000"/>
                <a:gridCol w="3676650"/>
              </a:tblGrid>
              <a:tr h="438150">
                <a:tc>
                  <a:txBody>
                    <a:bodyPr wrap="square" lIns="114300" tIns="57150" rIns="114300" bIns="57150">
                      <a:noAutofit/>
                    </a:bodyPr>
                    <a:lstStyle/>
                    <a:p>
                      <a:r>
                        <a:rPr sz="1800" b="1">
                          <a:solidFill>
                            <a:srgbClr val="131518"/>
                          </a:solidFill>
                          <a:latin typeface="Arial"/>
                          <a:ea typeface="Arial"/>
                          <a:cs typeface="Arial"/>
                        </a:rPr>
                        <a:t>Что требуется</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Базовый выбор</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Пример</a:t>
                      </a:r>
                    </a:p>
                  </a:txBody>
                  <a:tcPr marL="91440" marR="91440" marT="45720" marB="45720" anchor="ctr">
                    <a:solidFill>
                      <a:srgbClr val="F0F1F2"/>
                    </a:solidFill>
                  </a:tcPr>
                </a:tc>
              </a:tr>
              <a:tr h="575310">
                <a:tc>
                  <a:txBody>
                    <a:bodyPr wrap="square" lIns="114300" tIns="57150" rIns="114300" bIns="57150">
                      <a:noAutofit/>
                    </a:bodyPr>
                    <a:lstStyle/>
                    <a:p>
                      <a:r>
                        <a:rPr sz="1740" b="0">
                          <a:solidFill>
                            <a:srgbClr val="131518"/>
                          </a:solidFill>
                          <a:latin typeface="Arial"/>
                          <a:ea typeface="Arial"/>
                          <a:cs typeface="Arial"/>
                        </a:rPr>
                        <a:t>Порядок и редактирование по позиции</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list</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Список результатов</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Фиксированная составная запись</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tuple</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Координаты (x, y)</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Поиск значения по идентификатору</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dict</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Студент по номеру</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Уникальность и принадлежность</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set</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Набор посещённых страниц</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Запись с именами полей</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dataclass</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Измерение: id и значение</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089459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459">
            <a:extLst xmlns:a="http://schemas.openxmlformats.org/drawingml/2006/main">
              <a:ext uri="{FF2B5EF4-FFF2-40B4-BE49-F238E27FC236}">
                <a16:creationId xmlns:a16="http://schemas.microsoft.com/office/drawing/2014/main" id="{95C06F07-7C32-4EEC-A002-CFB76689DBCF}"/>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05 / ИТЕРАЦИЯ И ПРОТОКОЛЫ</a:t>
            </a:r>
          </a:p>
        </p:txBody>
      </p:sp>
      <p:sp>
        <p:nvSpPr>
          <p:cNvPr id="2" name="title-30">
            <a:extLst xmlns:a="http://schemas.openxmlformats.org/drawingml/2006/main">
              <a:ext uri="{FF2B5EF4-FFF2-40B4-BE49-F238E27FC236}">
                <a16:creationId xmlns:a16="http://schemas.microsoft.com/office/drawing/2014/main" id="{1A4A45E8-5D2E-4DEB-A715-AD843ADDD5A4}"/>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Итерируемое — не обязательно итератор</a:t>
            </a:r>
          </a:p>
        </p:txBody>
      </p:sp>
      <p:sp>
        <p:nvSpPr>
          <p:cNvPr id="3" name="text-460">
            <a:extLst xmlns:a="http://schemas.openxmlformats.org/drawingml/2006/main">
              <a:ext uri="{FF2B5EF4-FFF2-40B4-BE49-F238E27FC236}">
                <a16:creationId xmlns:a16="http://schemas.microsoft.com/office/drawing/2014/main" id="{B7F51C0A-47E7-4DFA-BB03-BD9D504CEA4C}"/>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Итерируемый объект даёт итератор; итератор хранит ход обхода.</a:t>
            </a:r>
          </a:p>
        </p:txBody>
      </p:sp>
      <p:sp>
        <p:nvSpPr>
          <p:cNvPr id="4" name="surface-461">
            <a:extLst xmlns:a="http://schemas.openxmlformats.org/drawingml/2006/main">
              <a:ext uri="{FF2B5EF4-FFF2-40B4-BE49-F238E27FC236}">
                <a16:creationId xmlns:a16="http://schemas.microsoft.com/office/drawing/2014/main" id="{9D942FD9-0A9D-4FF2-957C-578E38BC5420}"/>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462">
            <a:extLst xmlns:a="http://schemas.openxmlformats.org/drawingml/2006/main">
              <a:ext uri="{FF2B5EF4-FFF2-40B4-BE49-F238E27FC236}">
                <a16:creationId xmlns:a16="http://schemas.microsoft.com/office/drawing/2014/main" id="{233544F8-F152-4A6E-8FC4-ABEDDD5B5AB3}"/>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463">
            <a:extLst xmlns:a="http://schemas.openxmlformats.org/drawingml/2006/main">
              <a:ext uri="{FF2B5EF4-FFF2-40B4-BE49-F238E27FC236}">
                <a16:creationId xmlns:a16="http://schemas.microsoft.com/office/drawing/2014/main" id="{1F45B71D-DBDC-4DA9-84E2-8DC9739B902E}"/>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30</a:t>
            </a:r>
          </a:p>
        </p:txBody>
      </p:sp>
      <p:sp>
        <p:nvSpPr>
          <p:cNvPr id="7" name="surface-464">
            <a:extLst xmlns:a="http://schemas.openxmlformats.org/drawingml/2006/main">
              <a:ext uri="{FF2B5EF4-FFF2-40B4-BE49-F238E27FC236}">
                <a16:creationId xmlns:a16="http://schemas.microsoft.com/office/drawing/2014/main" id="{B1619BEE-3E60-43CC-9E9A-4B50F9540F1D}"/>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30-465">
            <a:extLst xmlns:a="http://schemas.openxmlformats.org/drawingml/2006/main">
              <a:ext uri="{FF2B5EF4-FFF2-40B4-BE49-F238E27FC236}">
                <a16:creationId xmlns:a16="http://schemas.microsoft.com/office/drawing/2014/main" id="{4B49F286-611C-471E-9EAB-C2C3ABD415D7}"/>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r = range(3)</a:t>
            </a:r>
          </a:p>
        </p:txBody>
      </p:sp>
      <p:sp>
        <p:nvSpPr>
          <p:cNvPr id="9" name="code-30-466">
            <a:extLst xmlns:a="http://schemas.openxmlformats.org/drawingml/2006/main">
              <a:ext uri="{FF2B5EF4-FFF2-40B4-BE49-F238E27FC236}">
                <a16:creationId xmlns:a16="http://schemas.microsoft.com/office/drawing/2014/main" id="{8A892EA3-9496-43A5-A955-F617ED6ABE1F}"/>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it = iter(r)</a:t>
            </a:r>
          </a:p>
        </p:txBody>
      </p:sp>
      <p:sp>
        <p:nvSpPr>
          <p:cNvPr id="10" name="code-30-467">
            <a:extLst xmlns:a="http://schemas.openxmlformats.org/drawingml/2006/main">
              <a:ext uri="{FF2B5EF4-FFF2-40B4-BE49-F238E27FC236}">
                <a16:creationId xmlns:a16="http://schemas.microsoft.com/office/drawing/2014/main" id="{6C4C0531-C4B8-4781-83A7-A8986856520B}"/>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1" name="code-30-468">
            <a:extLst xmlns:a="http://schemas.openxmlformats.org/drawingml/2006/main">
              <a:ext uri="{FF2B5EF4-FFF2-40B4-BE49-F238E27FC236}">
                <a16:creationId xmlns:a16="http://schemas.microsoft.com/office/drawing/2014/main" id="{24813BA8-3A22-4177-8894-1CA8EA8823F5}"/>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next(it)  </a:t>
            </a:r>
            <a:r>
              <a:rPr sz="1988" b="0">
                <a:solidFill>
                  <a:srgbClr val="535A61"/>
                </a:solidFill>
                <a:latin typeface="Courier New"/>
                <a:ea typeface="Courier New"/>
                <a:cs typeface="Courier New"/>
              </a:rPr>
              <a:t># 0</a:t>
            </a:r>
          </a:p>
        </p:txBody>
      </p:sp>
      <p:sp>
        <p:nvSpPr>
          <p:cNvPr id="12" name="code-30-469">
            <a:extLst xmlns:a="http://schemas.openxmlformats.org/drawingml/2006/main">
              <a:ext uri="{FF2B5EF4-FFF2-40B4-BE49-F238E27FC236}">
                <a16:creationId xmlns:a16="http://schemas.microsoft.com/office/drawing/2014/main" id="{2885C208-DF58-4889-91A4-ED3A3369F649}"/>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list(it)  </a:t>
            </a:r>
            <a:r>
              <a:rPr sz="1988" b="0">
                <a:solidFill>
                  <a:srgbClr val="535A61"/>
                </a:solidFill>
                <a:latin typeface="Courier New"/>
                <a:ea typeface="Courier New"/>
                <a:cs typeface="Courier New"/>
              </a:rPr>
              <a:t># [1, 2]</a:t>
            </a:r>
          </a:p>
        </p:txBody>
      </p:sp>
      <p:sp>
        <p:nvSpPr>
          <p:cNvPr id="13" name="code-30-470">
            <a:extLst xmlns:a="http://schemas.openxmlformats.org/drawingml/2006/main">
              <a:ext uri="{FF2B5EF4-FFF2-40B4-BE49-F238E27FC236}">
                <a16:creationId xmlns:a16="http://schemas.microsoft.com/office/drawing/2014/main" id="{C8F968B0-99D5-4E1A-8C4C-47EF17BCD0EE}"/>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list(it)  </a:t>
            </a:r>
            <a:r>
              <a:rPr sz="1988" b="0">
                <a:solidFill>
                  <a:srgbClr val="535A61"/>
                </a:solidFill>
                <a:latin typeface="Courier New"/>
                <a:ea typeface="Courier New"/>
                <a:cs typeface="Courier New"/>
              </a:rPr>
              <a:t># []</a:t>
            </a:r>
          </a:p>
        </p:txBody>
      </p:sp>
      <p:sp>
        <p:nvSpPr>
          <p:cNvPr id="14" name="code-30-471">
            <a:extLst xmlns:a="http://schemas.openxmlformats.org/drawingml/2006/main">
              <a:ext uri="{FF2B5EF4-FFF2-40B4-BE49-F238E27FC236}">
                <a16:creationId xmlns:a16="http://schemas.microsoft.com/office/drawing/2014/main" id="{3475E1C5-6168-46E6-8517-7770BF5E6349}"/>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list(r)   </a:t>
            </a:r>
            <a:r>
              <a:rPr sz="1988" b="0">
                <a:solidFill>
                  <a:srgbClr val="535A61"/>
                </a:solidFill>
                <a:latin typeface="Courier New"/>
                <a:ea typeface="Courier New"/>
                <a:cs typeface="Courier New"/>
              </a:rPr>
              <a:t># [0, 1, 2]</a:t>
            </a:r>
          </a:p>
        </p:txBody>
      </p:sp>
      <p:sp>
        <p:nvSpPr>
          <p:cNvPr id="15" name="text-472">
            <a:extLst xmlns:a="http://schemas.openxmlformats.org/drawingml/2006/main">
              <a:ext uri="{FF2B5EF4-FFF2-40B4-BE49-F238E27FC236}">
                <a16:creationId xmlns:a16="http://schemas.microsoft.com/office/drawing/2014/main" id="{9668323B-B762-4FBC-B64A-7903277AB64A}"/>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iter(x)</a:t>
            </a:r>
          </a:p>
        </p:txBody>
      </p:sp>
      <p:sp>
        <p:nvSpPr>
          <p:cNvPr id="16" name="text-473">
            <a:extLst xmlns:a="http://schemas.openxmlformats.org/drawingml/2006/main">
              <a:ext uri="{FF2B5EF4-FFF2-40B4-BE49-F238E27FC236}">
                <a16:creationId xmlns:a16="http://schemas.microsoft.com/office/drawing/2014/main" id="{F053ABA5-C239-4A00-BCA2-D33C66A06C26}"/>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Получить объект обхода.</a:t>
            </a:r>
          </a:p>
        </p:txBody>
      </p:sp>
      <p:sp>
        <p:nvSpPr>
          <p:cNvPr id="17" name="text-474">
            <a:extLst xmlns:a="http://schemas.openxmlformats.org/drawingml/2006/main">
              <a:ext uri="{FF2B5EF4-FFF2-40B4-BE49-F238E27FC236}">
                <a16:creationId xmlns:a16="http://schemas.microsoft.com/office/drawing/2014/main" id="{B514A7D1-3F84-4E2E-A64C-654E01580A70}"/>
              </a:ext>
            </a:extLst>
          </p:cNvPr>
          <p:cNvSpPr>
            <a:spLocks xmlns:a="http://schemas.openxmlformats.org/drawingml/2006/main" noGrp="1"/>
          </p:cNvSpPr>
          <p:nvPr/>
        </p:nvSpPr>
        <p:spPr>
          <a:xfrm xmlns:a="http://schemas.openxmlformats.org/drawingml/2006/main">
            <a:off x="7905750" y="34290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next(it)</a:t>
            </a:r>
          </a:p>
        </p:txBody>
      </p:sp>
      <p:sp>
        <p:nvSpPr>
          <p:cNvPr id="18" name="text-475">
            <a:extLst xmlns:a="http://schemas.openxmlformats.org/drawingml/2006/main">
              <a:ext uri="{FF2B5EF4-FFF2-40B4-BE49-F238E27FC236}">
                <a16:creationId xmlns:a16="http://schemas.microsoft.com/office/drawing/2014/main" id="{CF50EB47-5F47-4C45-A879-CE65F9969635}"/>
              </a:ext>
            </a:extLst>
          </p:cNvPr>
          <p:cNvSpPr>
            <a:spLocks xmlns:a="http://schemas.openxmlformats.org/drawingml/2006/main" noGrp="1"/>
          </p:cNvSpPr>
          <p:nvPr/>
        </p:nvSpPr>
        <p:spPr>
          <a:xfrm xmlns:a="http://schemas.openxmlformats.org/drawingml/2006/main">
            <a:off x="7905750" y="38766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Взять следующий элемент;</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конец — StopIteration.</a:t>
            </a:r>
          </a:p>
        </p:txBody>
      </p:sp>
      <p:sp>
        <p:nvSpPr>
          <p:cNvPr id="19" name="text-476">
            <a:extLst xmlns:a="http://schemas.openxmlformats.org/drawingml/2006/main">
              <a:ext uri="{FF2B5EF4-FFF2-40B4-BE49-F238E27FC236}">
                <a16:creationId xmlns:a16="http://schemas.microsoft.com/office/drawing/2014/main" id="{CE0EEC13-BB72-42C6-B4DD-23628BA4D662}"/>
              </a:ext>
            </a:extLst>
          </p:cNvPr>
          <p:cNvSpPr>
            <a:spLocks xmlns:a="http://schemas.openxmlformats.org/drawingml/2006/main" noGrp="1"/>
          </p:cNvSpPr>
          <p:nvPr/>
        </p:nvSpPr>
        <p:spPr>
          <a:xfrm xmlns:a="http://schemas.openxmlformats.org/drawingml/2006/main">
            <a:off x="7905750" y="463867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range</a:t>
            </a:r>
          </a:p>
        </p:txBody>
      </p:sp>
      <p:sp>
        <p:nvSpPr>
          <p:cNvPr id="20" name="text-477">
            <a:extLst xmlns:a="http://schemas.openxmlformats.org/drawingml/2006/main">
              <a:ext uri="{FF2B5EF4-FFF2-40B4-BE49-F238E27FC236}">
                <a16:creationId xmlns:a16="http://schemas.microsoft.com/office/drawing/2014/main" id="{446481AD-6648-4A84-A48F-401F1F17D784}"/>
              </a:ext>
            </a:extLst>
          </p:cNvPr>
          <p:cNvSpPr>
            <a:spLocks xmlns:a="http://schemas.openxmlformats.org/drawingml/2006/main" noGrp="1"/>
          </p:cNvSpPr>
          <p:nvPr/>
        </p:nvSpPr>
        <p:spPr>
          <a:xfrm xmlns:a="http://schemas.openxmlformats.org/drawingml/2006/main">
            <a:off x="7905750" y="508635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Не хранит список всех чисел</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и сам не является итератором.</a:t>
            </a:r>
          </a:p>
        </p:txBody>
      </p:sp>
      <p:sp>
        <p:nvSpPr>
          <p:cNvPr id="21" name="takeaway-30">
            <a:extLst xmlns:a="http://schemas.openxmlformats.org/drawingml/2006/main">
              <a:ext uri="{FF2B5EF4-FFF2-40B4-BE49-F238E27FC236}">
                <a16:creationId xmlns:a16="http://schemas.microsoft.com/office/drawing/2014/main" id="{E0E952A8-188C-43A3-8CE4-1404B2502309}"/>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Повторный обход range начинается заново; исчерпанный итератор — нет.</a:t>
            </a:r>
          </a:p>
        </p:txBody>
      </p:sp>
    </p:spTree>
    <p:extLst>
      <p:ext uri="{BB962C8B-B14F-4D97-AF65-F5344CB8AC3E}">
        <p14:creationId xmlns:p14="http://schemas.microsoft.com/office/powerpoint/2010/main" val="115275119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478">
            <a:extLst xmlns:a="http://schemas.openxmlformats.org/drawingml/2006/main">
              <a:ext uri="{FF2B5EF4-FFF2-40B4-BE49-F238E27FC236}">
                <a16:creationId xmlns:a16="http://schemas.microsoft.com/office/drawing/2014/main" id="{3D4632DE-C1B9-41C7-BA8D-B7247C5B387D}"/>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05 / ВКЛЮЧЕНИЯ И ГЕНЕРАТОРЫ</a:t>
            </a:r>
          </a:p>
        </p:txBody>
      </p:sp>
      <p:sp>
        <p:nvSpPr>
          <p:cNvPr id="2" name="title-31">
            <a:extLst xmlns:a="http://schemas.openxmlformats.org/drawingml/2006/main">
              <a:ext uri="{FF2B5EF4-FFF2-40B4-BE49-F238E27FC236}">
                <a16:creationId xmlns:a16="http://schemas.microsoft.com/office/drawing/2014/main" id="{17426284-3CCB-45A2-B338-CE25A6371EB2}"/>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Вычислить сразу или выдавать по запросу?</a:t>
            </a:r>
          </a:p>
        </p:txBody>
      </p:sp>
      <p:sp>
        <p:nvSpPr>
          <p:cNvPr id="3" name="text-479">
            <a:extLst xmlns:a="http://schemas.openxmlformats.org/drawingml/2006/main">
              <a:ext uri="{FF2B5EF4-FFF2-40B4-BE49-F238E27FC236}">
                <a16:creationId xmlns:a16="http://schemas.microsoft.com/office/drawing/2014/main" id="{99BCE38D-AA78-4D7E-8438-8128ADE84E86}"/>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Похожий синтаксис может означать разный момент вычисления.</a:t>
            </a:r>
          </a:p>
        </p:txBody>
      </p:sp>
      <p:sp>
        <p:nvSpPr>
          <p:cNvPr id="4" name="surface-480">
            <a:extLst xmlns:a="http://schemas.openxmlformats.org/drawingml/2006/main">
              <a:ext uri="{FF2B5EF4-FFF2-40B4-BE49-F238E27FC236}">
                <a16:creationId xmlns:a16="http://schemas.microsoft.com/office/drawing/2014/main" id="{E810722F-6134-4DF5-981E-80548E602045}"/>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481">
            <a:extLst xmlns:a="http://schemas.openxmlformats.org/drawingml/2006/main">
              <a:ext uri="{FF2B5EF4-FFF2-40B4-BE49-F238E27FC236}">
                <a16:creationId xmlns:a16="http://schemas.microsoft.com/office/drawing/2014/main" id="{8EE0EA95-20C6-4648-AED8-69A01308086D}"/>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482">
            <a:extLst xmlns:a="http://schemas.openxmlformats.org/drawingml/2006/main">
              <a:ext uri="{FF2B5EF4-FFF2-40B4-BE49-F238E27FC236}">
                <a16:creationId xmlns:a16="http://schemas.microsoft.com/office/drawing/2014/main" id="{A3579FBA-2F1D-4154-A0CE-F54536B923CB}"/>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31</a:t>
            </a:r>
          </a:p>
        </p:txBody>
      </p:sp>
      <p:sp>
        <p:nvSpPr>
          <p:cNvPr id="7" name="text-483">
            <a:extLst xmlns:a="http://schemas.openxmlformats.org/drawingml/2006/main">
              <a:ext uri="{FF2B5EF4-FFF2-40B4-BE49-F238E27FC236}">
                <a16:creationId xmlns:a16="http://schemas.microsoft.com/office/drawing/2014/main" id="{266C270C-6A29-4F0D-83B0-F7B4E37F7C1D}"/>
              </a:ext>
            </a:extLst>
          </p:cNvPr>
          <p:cNvSpPr>
            <a:spLocks xmlns:a="http://schemas.openxmlformats.org/drawingml/2006/main" noGrp="1"/>
          </p:cNvSpPr>
          <p:nvPr/>
        </p:nvSpPr>
        <p:spPr>
          <a:xfrm xmlns:a="http://schemas.openxmlformats.org/drawingml/2006/main">
            <a:off x="68580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СПИСКОВОЕ ВКЛЮЧЕНИЕ</a:t>
            </a:r>
          </a:p>
        </p:txBody>
      </p:sp>
      <p:sp>
        <p:nvSpPr>
          <p:cNvPr id="8" name="surface-484">
            <a:extLst xmlns:a="http://schemas.openxmlformats.org/drawingml/2006/main">
              <a:ext uri="{FF2B5EF4-FFF2-40B4-BE49-F238E27FC236}">
                <a16:creationId xmlns:a16="http://schemas.microsoft.com/office/drawing/2014/main" id="{33B6B0D0-14FE-452E-BD2E-AA6BDC103F5F}"/>
              </a:ext>
            </a:extLst>
          </p:cNvPr>
          <p:cNvSpPr>
            <a:spLocks xmlns:a="http://schemas.openxmlformats.org/drawingml/2006/main" noGrp="1"/>
          </p:cNvSpPr>
          <p:nvPr/>
        </p:nvSpPr>
        <p:spPr>
          <a:xfrm xmlns:a="http://schemas.openxmlformats.org/drawingml/2006/main">
            <a:off x="68580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code-31-485">
            <a:extLst xmlns:a="http://schemas.openxmlformats.org/drawingml/2006/main">
              <a:ext uri="{FF2B5EF4-FFF2-40B4-BE49-F238E27FC236}">
                <a16:creationId xmlns:a16="http://schemas.microsoft.com/office/drawing/2014/main" id="{11C7E6A1-61D8-4C68-B8B4-8A8CACEE6D26}"/>
              </a:ext>
            </a:extLst>
          </p:cNvPr>
          <p:cNvSpPr>
            <a:spLocks xmlns:a="http://schemas.openxmlformats.org/drawingml/2006/main" noGrp="1"/>
          </p:cNvSpPr>
          <p:nvPr/>
        </p:nvSpPr>
        <p:spPr>
          <a:xfrm xmlns:a="http://schemas.openxmlformats.org/drawingml/2006/main">
            <a:off x="84772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squares = [x*x </a:t>
            </a:r>
            <a:r>
              <a:rPr sz="1935" b="1">
                <a:solidFill>
                  <a:srgbClr val="286DA6"/>
                </a:solidFill>
                <a:latin typeface="Courier New"/>
                <a:ea typeface="Courier New"/>
                <a:cs typeface="Courier New"/>
              </a:rPr>
              <a:t>for</a:t>
            </a:r>
            <a:r>
              <a:rPr sz="1935" b="0">
                <a:solidFill>
                  <a:srgbClr val="131518"/>
                </a:solidFill>
                <a:latin typeface="Courier New"/>
                <a:ea typeface="Courier New"/>
                <a:cs typeface="Courier New"/>
              </a:rPr>
              <a:t> x </a:t>
            </a:r>
            <a:r>
              <a:rPr sz="1935" b="1">
                <a:solidFill>
                  <a:srgbClr val="286DA6"/>
                </a:solidFill>
                <a:latin typeface="Courier New"/>
                <a:ea typeface="Courier New"/>
                <a:cs typeface="Courier New"/>
              </a:rPr>
              <a:t>in</a:t>
            </a:r>
            <a:r>
              <a:rPr sz="1935" b="0">
                <a:solidFill>
                  <a:srgbClr val="131518"/>
                </a:solidFill>
                <a:latin typeface="Courier New"/>
                <a:ea typeface="Courier New"/>
                <a:cs typeface="Courier New"/>
              </a:rPr>
              <a:t> range(4)]</a:t>
            </a:r>
          </a:p>
        </p:txBody>
      </p:sp>
      <p:sp>
        <p:nvSpPr>
          <p:cNvPr id="10" name="code-31-486">
            <a:extLst xmlns:a="http://schemas.openxmlformats.org/drawingml/2006/main">
              <a:ext uri="{FF2B5EF4-FFF2-40B4-BE49-F238E27FC236}">
                <a16:creationId xmlns:a16="http://schemas.microsoft.com/office/drawing/2014/main" id="{61E9EF63-6995-48EB-AB90-07723D4442A6}"/>
              </a:ext>
            </a:extLst>
          </p:cNvPr>
          <p:cNvSpPr>
            <a:spLocks xmlns:a="http://schemas.openxmlformats.org/drawingml/2006/main" noGrp="1"/>
          </p:cNvSpPr>
          <p:nvPr/>
        </p:nvSpPr>
        <p:spPr>
          <a:xfrm xmlns:a="http://schemas.openxmlformats.org/drawingml/2006/main">
            <a:off x="84772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11" name="code-31-487">
            <a:extLst xmlns:a="http://schemas.openxmlformats.org/drawingml/2006/main">
              <a:ext uri="{FF2B5EF4-FFF2-40B4-BE49-F238E27FC236}">
                <a16:creationId xmlns:a16="http://schemas.microsoft.com/office/drawing/2014/main" id="{A47F9D0F-40AD-440D-B1DB-C0E12DB06F1E}"/>
              </a:ext>
            </a:extLst>
          </p:cNvPr>
          <p:cNvSpPr>
            <a:spLocks xmlns:a="http://schemas.openxmlformats.org/drawingml/2006/main" noGrp="1"/>
          </p:cNvSpPr>
          <p:nvPr/>
        </p:nvSpPr>
        <p:spPr>
          <a:xfrm xmlns:a="http://schemas.openxmlformats.org/drawingml/2006/main">
            <a:off x="84772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print(squares)</a:t>
            </a:r>
          </a:p>
        </p:txBody>
      </p:sp>
      <p:sp>
        <p:nvSpPr>
          <p:cNvPr id="12" name="code-31-488">
            <a:extLst xmlns:a="http://schemas.openxmlformats.org/drawingml/2006/main">
              <a:ext uri="{FF2B5EF4-FFF2-40B4-BE49-F238E27FC236}">
                <a16:creationId xmlns:a16="http://schemas.microsoft.com/office/drawing/2014/main" id="{58B7A5DC-EC3A-4D56-9E7D-4C1280F015F5}"/>
              </a:ext>
            </a:extLst>
          </p:cNvPr>
          <p:cNvSpPr>
            <a:spLocks xmlns:a="http://schemas.openxmlformats.org/drawingml/2006/main" noGrp="1"/>
          </p:cNvSpPr>
          <p:nvPr/>
        </p:nvSpPr>
        <p:spPr>
          <a:xfrm xmlns:a="http://schemas.openxmlformats.org/drawingml/2006/main">
            <a:off x="84772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535A61"/>
                </a:solidFill>
                <a:latin typeface="Courier New"/>
                <a:ea typeface="Courier New"/>
                <a:cs typeface="Courier New"/>
              </a:rPr>
              <a:t># [0, 1, 4, 9]</a:t>
            </a:r>
          </a:p>
        </p:txBody>
      </p:sp>
      <p:sp>
        <p:nvSpPr>
          <p:cNvPr id="13" name="code-31-489">
            <a:extLst xmlns:a="http://schemas.openxmlformats.org/drawingml/2006/main">
              <a:ext uri="{FF2B5EF4-FFF2-40B4-BE49-F238E27FC236}">
                <a16:creationId xmlns:a16="http://schemas.microsoft.com/office/drawing/2014/main" id="{EE996727-AE72-47A1-843E-31CC2A3EFBE4}"/>
              </a:ext>
            </a:extLst>
          </p:cNvPr>
          <p:cNvSpPr>
            <a:spLocks xmlns:a="http://schemas.openxmlformats.org/drawingml/2006/main" noGrp="1"/>
          </p:cNvSpPr>
          <p:nvPr/>
        </p:nvSpPr>
        <p:spPr>
          <a:xfrm xmlns:a="http://schemas.openxmlformats.org/drawingml/2006/main">
            <a:off x="84772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sum(squares)  </a:t>
            </a:r>
            <a:r>
              <a:rPr sz="1935" b="0">
                <a:solidFill>
                  <a:srgbClr val="535A61"/>
                </a:solidFill>
                <a:latin typeface="Courier New"/>
                <a:ea typeface="Courier New"/>
                <a:cs typeface="Courier New"/>
              </a:rPr>
              <a:t># 14</a:t>
            </a:r>
          </a:p>
        </p:txBody>
      </p:sp>
      <p:sp>
        <p:nvSpPr>
          <p:cNvPr id="14" name="code-31-490">
            <a:extLst xmlns:a="http://schemas.openxmlformats.org/drawingml/2006/main">
              <a:ext uri="{FF2B5EF4-FFF2-40B4-BE49-F238E27FC236}">
                <a16:creationId xmlns:a16="http://schemas.microsoft.com/office/drawing/2014/main" id="{7B0979FB-FBB7-4698-A7C9-47EB602851EE}"/>
              </a:ext>
            </a:extLst>
          </p:cNvPr>
          <p:cNvSpPr>
            <a:spLocks xmlns:a="http://schemas.openxmlformats.org/drawingml/2006/main" noGrp="1"/>
          </p:cNvSpPr>
          <p:nvPr/>
        </p:nvSpPr>
        <p:spPr>
          <a:xfrm xmlns:a="http://schemas.openxmlformats.org/drawingml/2006/main">
            <a:off x="847725" y="4321207"/>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sum(squares)  </a:t>
            </a:r>
            <a:r>
              <a:rPr sz="1935" b="0">
                <a:solidFill>
                  <a:srgbClr val="535A61"/>
                </a:solidFill>
                <a:latin typeface="Courier New"/>
                <a:ea typeface="Courier New"/>
                <a:cs typeface="Courier New"/>
              </a:rPr>
              <a:t># 14</a:t>
            </a:r>
          </a:p>
        </p:txBody>
      </p:sp>
      <p:sp>
        <p:nvSpPr>
          <p:cNvPr id="15" name="text-491">
            <a:extLst xmlns:a="http://schemas.openxmlformats.org/drawingml/2006/main">
              <a:ext uri="{FF2B5EF4-FFF2-40B4-BE49-F238E27FC236}">
                <a16:creationId xmlns:a16="http://schemas.microsoft.com/office/drawing/2014/main" id="{5E1ED953-6D6D-4325-8491-5684BC5FB5B7}"/>
              </a:ext>
            </a:extLst>
          </p:cNvPr>
          <p:cNvSpPr>
            <a:spLocks xmlns:a="http://schemas.openxmlformats.org/drawingml/2006/main" noGrp="1"/>
          </p:cNvSpPr>
          <p:nvPr/>
        </p:nvSpPr>
        <p:spPr>
          <a:xfrm xmlns:a="http://schemas.openxmlformats.org/drawingml/2006/main">
            <a:off x="68580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Результаты материализованы.</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Их можно использовать снова.</a:t>
            </a:r>
          </a:p>
        </p:txBody>
      </p:sp>
      <p:sp>
        <p:nvSpPr>
          <p:cNvPr id="16" name="text-492">
            <a:extLst xmlns:a="http://schemas.openxmlformats.org/drawingml/2006/main">
              <a:ext uri="{FF2B5EF4-FFF2-40B4-BE49-F238E27FC236}">
                <a16:creationId xmlns:a16="http://schemas.microsoft.com/office/drawing/2014/main" id="{14E1D79E-2445-48C4-9D6D-5C5A3ECE9D2B}"/>
              </a:ext>
            </a:extLst>
          </p:cNvPr>
          <p:cNvSpPr>
            <a:spLocks xmlns:a="http://schemas.openxmlformats.org/drawingml/2006/main" noGrp="1"/>
          </p:cNvSpPr>
          <p:nvPr/>
        </p:nvSpPr>
        <p:spPr>
          <a:xfrm xmlns:a="http://schemas.openxmlformats.org/drawingml/2006/main">
            <a:off x="622935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ГЕНЕРАТОРНОЕ ВЫРАЖЕНИЕ</a:t>
            </a:r>
          </a:p>
        </p:txBody>
      </p:sp>
      <p:sp>
        <p:nvSpPr>
          <p:cNvPr id="17" name="surface-493">
            <a:extLst xmlns:a="http://schemas.openxmlformats.org/drawingml/2006/main">
              <a:ext uri="{FF2B5EF4-FFF2-40B4-BE49-F238E27FC236}">
                <a16:creationId xmlns:a16="http://schemas.microsoft.com/office/drawing/2014/main" id="{3AE1C5F8-6EB5-4D4B-AB30-3CBCD3F427E0}"/>
              </a:ext>
            </a:extLst>
          </p:cNvPr>
          <p:cNvSpPr>
            <a:spLocks xmlns:a="http://schemas.openxmlformats.org/drawingml/2006/main" noGrp="1"/>
          </p:cNvSpPr>
          <p:nvPr/>
        </p:nvSpPr>
        <p:spPr>
          <a:xfrm xmlns:a="http://schemas.openxmlformats.org/drawingml/2006/main">
            <a:off x="622935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8" name="code-31-494">
            <a:extLst xmlns:a="http://schemas.openxmlformats.org/drawingml/2006/main">
              <a:ext uri="{FF2B5EF4-FFF2-40B4-BE49-F238E27FC236}">
                <a16:creationId xmlns:a16="http://schemas.microsoft.com/office/drawing/2014/main" id="{6D91F05C-C797-4415-9710-1CEF428C6BDC}"/>
              </a:ext>
            </a:extLst>
          </p:cNvPr>
          <p:cNvSpPr>
            <a:spLocks xmlns:a="http://schemas.openxmlformats.org/drawingml/2006/main" noGrp="1"/>
          </p:cNvSpPr>
          <p:nvPr/>
        </p:nvSpPr>
        <p:spPr>
          <a:xfrm xmlns:a="http://schemas.openxmlformats.org/drawingml/2006/main">
            <a:off x="639127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squares = (x*x </a:t>
            </a:r>
            <a:r>
              <a:rPr sz="1935" b="1">
                <a:solidFill>
                  <a:srgbClr val="286DA6"/>
                </a:solidFill>
                <a:latin typeface="Courier New"/>
                <a:ea typeface="Courier New"/>
                <a:cs typeface="Courier New"/>
              </a:rPr>
              <a:t>for</a:t>
            </a:r>
            <a:r>
              <a:rPr sz="1935" b="0">
                <a:solidFill>
                  <a:srgbClr val="131518"/>
                </a:solidFill>
                <a:latin typeface="Courier New"/>
                <a:ea typeface="Courier New"/>
                <a:cs typeface="Courier New"/>
              </a:rPr>
              <a:t> x </a:t>
            </a:r>
            <a:r>
              <a:rPr sz="1935" b="1">
                <a:solidFill>
                  <a:srgbClr val="286DA6"/>
                </a:solidFill>
                <a:latin typeface="Courier New"/>
                <a:ea typeface="Courier New"/>
                <a:cs typeface="Courier New"/>
              </a:rPr>
              <a:t>in</a:t>
            </a:r>
            <a:r>
              <a:rPr sz="1935" b="0">
                <a:solidFill>
                  <a:srgbClr val="131518"/>
                </a:solidFill>
                <a:latin typeface="Courier New"/>
                <a:ea typeface="Courier New"/>
                <a:cs typeface="Courier New"/>
              </a:rPr>
              <a:t> range(4))</a:t>
            </a:r>
          </a:p>
        </p:txBody>
      </p:sp>
      <p:sp>
        <p:nvSpPr>
          <p:cNvPr id="19" name="code-31-495">
            <a:extLst xmlns:a="http://schemas.openxmlformats.org/drawingml/2006/main">
              <a:ext uri="{FF2B5EF4-FFF2-40B4-BE49-F238E27FC236}">
                <a16:creationId xmlns:a16="http://schemas.microsoft.com/office/drawing/2014/main" id="{563DB676-86B6-4151-A91E-5B6FE2F3BCB4}"/>
              </a:ext>
            </a:extLst>
          </p:cNvPr>
          <p:cNvSpPr>
            <a:spLocks xmlns:a="http://schemas.openxmlformats.org/drawingml/2006/main" noGrp="1"/>
          </p:cNvSpPr>
          <p:nvPr/>
        </p:nvSpPr>
        <p:spPr>
          <a:xfrm xmlns:a="http://schemas.openxmlformats.org/drawingml/2006/main">
            <a:off x="639127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20" name="code-31-496">
            <a:extLst xmlns:a="http://schemas.openxmlformats.org/drawingml/2006/main">
              <a:ext uri="{FF2B5EF4-FFF2-40B4-BE49-F238E27FC236}">
                <a16:creationId xmlns:a16="http://schemas.microsoft.com/office/drawing/2014/main" id="{43C0AEE6-3E34-4629-877F-088C592DFD3C}"/>
              </a:ext>
            </a:extLst>
          </p:cNvPr>
          <p:cNvSpPr>
            <a:spLocks xmlns:a="http://schemas.openxmlformats.org/drawingml/2006/main" noGrp="1"/>
          </p:cNvSpPr>
          <p:nvPr/>
        </p:nvSpPr>
        <p:spPr>
          <a:xfrm xmlns:a="http://schemas.openxmlformats.org/drawingml/2006/main">
            <a:off x="639127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sum(squares)  </a:t>
            </a:r>
            <a:r>
              <a:rPr sz="1935" b="0">
                <a:solidFill>
                  <a:srgbClr val="535A61"/>
                </a:solidFill>
                <a:latin typeface="Courier New"/>
                <a:ea typeface="Courier New"/>
                <a:cs typeface="Courier New"/>
              </a:rPr>
              <a:t># 14</a:t>
            </a:r>
          </a:p>
        </p:txBody>
      </p:sp>
      <p:sp>
        <p:nvSpPr>
          <p:cNvPr id="21" name="code-31-497">
            <a:extLst xmlns:a="http://schemas.openxmlformats.org/drawingml/2006/main">
              <a:ext uri="{FF2B5EF4-FFF2-40B4-BE49-F238E27FC236}">
                <a16:creationId xmlns:a16="http://schemas.microsoft.com/office/drawing/2014/main" id="{754106B5-D55F-42C9-8256-FE82FC322565}"/>
              </a:ext>
            </a:extLst>
          </p:cNvPr>
          <p:cNvSpPr>
            <a:spLocks xmlns:a="http://schemas.openxmlformats.org/drawingml/2006/main" noGrp="1"/>
          </p:cNvSpPr>
          <p:nvPr/>
        </p:nvSpPr>
        <p:spPr>
          <a:xfrm xmlns:a="http://schemas.openxmlformats.org/drawingml/2006/main">
            <a:off x="639127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sum(squares)  </a:t>
            </a:r>
            <a:r>
              <a:rPr sz="1935" b="0">
                <a:solidFill>
                  <a:srgbClr val="535A61"/>
                </a:solidFill>
                <a:latin typeface="Courier New"/>
                <a:ea typeface="Courier New"/>
                <a:cs typeface="Courier New"/>
              </a:rPr>
              <a:t># 0</a:t>
            </a:r>
          </a:p>
        </p:txBody>
      </p:sp>
      <p:sp>
        <p:nvSpPr>
          <p:cNvPr id="22" name="code-31-498">
            <a:extLst xmlns:a="http://schemas.openxmlformats.org/drawingml/2006/main">
              <a:ext uri="{FF2B5EF4-FFF2-40B4-BE49-F238E27FC236}">
                <a16:creationId xmlns:a16="http://schemas.microsoft.com/office/drawing/2014/main" id="{28C74C84-8629-4198-8E29-162502608A29}"/>
              </a:ext>
            </a:extLst>
          </p:cNvPr>
          <p:cNvSpPr>
            <a:spLocks xmlns:a="http://schemas.openxmlformats.org/drawingml/2006/main" noGrp="1"/>
          </p:cNvSpPr>
          <p:nvPr/>
        </p:nvSpPr>
        <p:spPr>
          <a:xfrm xmlns:a="http://schemas.openxmlformats.org/drawingml/2006/main">
            <a:off x="639127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23" name="code-31-499">
            <a:extLst xmlns:a="http://schemas.openxmlformats.org/drawingml/2006/main">
              <a:ext uri="{FF2B5EF4-FFF2-40B4-BE49-F238E27FC236}">
                <a16:creationId xmlns:a16="http://schemas.microsoft.com/office/drawing/2014/main" id="{6685FAD0-7103-4027-AD1B-BBFD294F0538}"/>
              </a:ext>
            </a:extLst>
          </p:cNvPr>
          <p:cNvSpPr>
            <a:spLocks xmlns:a="http://schemas.openxmlformats.org/drawingml/2006/main" noGrp="1"/>
          </p:cNvSpPr>
          <p:nvPr/>
        </p:nvSpPr>
        <p:spPr>
          <a:xfrm xmlns:a="http://schemas.openxmlformats.org/drawingml/2006/main">
            <a:off x="6391275" y="4321207"/>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535A61"/>
                </a:solidFill>
                <a:latin typeface="Courier New"/>
                <a:ea typeface="Courier New"/>
                <a:cs typeface="Courier New"/>
              </a:rPr>
              <a:t># Генератор уже исчерпан.</a:t>
            </a:r>
          </a:p>
        </p:txBody>
      </p:sp>
      <p:sp>
        <p:nvSpPr>
          <p:cNvPr id="24" name="text-500">
            <a:extLst xmlns:a="http://schemas.openxmlformats.org/drawingml/2006/main">
              <a:ext uri="{FF2B5EF4-FFF2-40B4-BE49-F238E27FC236}">
                <a16:creationId xmlns:a16="http://schemas.microsoft.com/office/drawing/2014/main" id="{CA3631AB-AD09-4178-B591-E4D5812FCB5A}"/>
              </a:ext>
            </a:extLst>
          </p:cNvPr>
          <p:cNvSpPr>
            <a:spLocks xmlns:a="http://schemas.openxmlformats.org/drawingml/2006/main" noGrp="1"/>
          </p:cNvSpPr>
          <p:nvPr/>
        </p:nvSpPr>
        <p:spPr>
          <a:xfrm xmlns:a="http://schemas.openxmlformats.org/drawingml/2006/main">
            <a:off x="622935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Результаты выдаются по запросу.</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Состояние обхода сохраняется.</a:t>
            </a:r>
          </a:p>
        </p:txBody>
      </p:sp>
      <p:sp>
        <p:nvSpPr>
          <p:cNvPr id="25" name="takeaway-31">
            <a:extLst xmlns:a="http://schemas.openxmlformats.org/drawingml/2006/main">
              <a:ext uri="{FF2B5EF4-FFF2-40B4-BE49-F238E27FC236}">
                <a16:creationId xmlns:a16="http://schemas.microsoft.com/office/drawing/2014/main" id="{D5495913-4D35-4AA1-B692-19ED52146CA8}"/>
              </a:ext>
            </a:extLst>
          </p:cNvPr>
          <p:cNvSpPr>
            <a:spLocks xmlns:a="http://schemas.openxmlformats.org/drawingml/2006/main" noGrp="1"/>
          </p:cNvSpPr>
          <p:nvPr/>
        </p:nvSpPr>
        <p:spPr>
          <a:xfrm xmlns:a="http://schemas.openxmlformats.org/drawingml/2006/main">
            <a:off x="685800" y="59817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Ленивое вычисление может экономить память, но требует учитывать потребление.</a:t>
            </a:r>
          </a:p>
        </p:txBody>
      </p:sp>
    </p:spTree>
    <p:extLst>
      <p:ext uri="{BB962C8B-B14F-4D97-AF65-F5344CB8AC3E}">
        <p14:creationId xmlns:p14="http://schemas.microsoft.com/office/powerpoint/2010/main" val="17310595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501">
            <a:extLst xmlns:a="http://schemas.openxmlformats.org/drawingml/2006/main">
              <a:ext uri="{FF2B5EF4-FFF2-40B4-BE49-F238E27FC236}">
                <a16:creationId xmlns:a16="http://schemas.microsoft.com/office/drawing/2014/main" id="{37B32890-9D26-4280-8508-D035043AD054}"/>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05 / ЛОВУШКА ПОБОЧНЫХ ЭФФЕКТОВ</a:t>
            </a:r>
          </a:p>
        </p:txBody>
      </p:sp>
      <p:sp>
        <p:nvSpPr>
          <p:cNvPr id="2" name="title-32">
            <a:extLst xmlns:a="http://schemas.openxmlformats.org/drawingml/2006/main">
              <a:ext uri="{FF2B5EF4-FFF2-40B4-BE49-F238E27FC236}">
                <a16:creationId xmlns:a16="http://schemas.microsoft.com/office/drawing/2014/main" id="{774BFB40-5E2D-4E07-B3E8-64758BE2D9F6}"/>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Значение по умолчанию создаётся один раз</a:t>
            </a:r>
          </a:p>
        </p:txBody>
      </p:sp>
      <p:sp>
        <p:nvSpPr>
          <p:cNvPr id="3" name="text-502">
            <a:extLst xmlns:a="http://schemas.openxmlformats.org/drawingml/2006/main">
              <a:ext uri="{FF2B5EF4-FFF2-40B4-BE49-F238E27FC236}">
                <a16:creationId xmlns:a16="http://schemas.microsoft.com/office/drawing/2014/main" id="{E04C9753-F2E6-4A1D-95DB-926D8B06C74F}"/>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В момент выполнения def, а не при каждом вызове функции.</a:t>
            </a:r>
          </a:p>
        </p:txBody>
      </p:sp>
      <p:sp>
        <p:nvSpPr>
          <p:cNvPr id="4" name="surface-503">
            <a:extLst xmlns:a="http://schemas.openxmlformats.org/drawingml/2006/main">
              <a:ext uri="{FF2B5EF4-FFF2-40B4-BE49-F238E27FC236}">
                <a16:creationId xmlns:a16="http://schemas.microsoft.com/office/drawing/2014/main" id="{40D6B6AD-5BBE-4E36-BA98-898780F06F23}"/>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504">
            <a:extLst xmlns:a="http://schemas.openxmlformats.org/drawingml/2006/main">
              <a:ext uri="{FF2B5EF4-FFF2-40B4-BE49-F238E27FC236}">
                <a16:creationId xmlns:a16="http://schemas.microsoft.com/office/drawing/2014/main" id="{9E15C212-61D4-4FF0-86B6-7E53A67E9888}"/>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505">
            <a:extLst xmlns:a="http://schemas.openxmlformats.org/drawingml/2006/main">
              <a:ext uri="{FF2B5EF4-FFF2-40B4-BE49-F238E27FC236}">
                <a16:creationId xmlns:a16="http://schemas.microsoft.com/office/drawing/2014/main" id="{072DD508-E360-42A0-9A53-77D6DC265190}"/>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32</a:t>
            </a:r>
          </a:p>
        </p:txBody>
      </p:sp>
      <p:sp>
        <p:nvSpPr>
          <p:cNvPr id="7" name="text-506">
            <a:extLst xmlns:a="http://schemas.openxmlformats.org/drawingml/2006/main">
              <a:ext uri="{FF2B5EF4-FFF2-40B4-BE49-F238E27FC236}">
                <a16:creationId xmlns:a16="http://schemas.microsoft.com/office/drawing/2014/main" id="{973607E5-6157-49FA-8578-A86BC9A0AC00}"/>
              </a:ext>
            </a:extLst>
          </p:cNvPr>
          <p:cNvSpPr>
            <a:spLocks xmlns:a="http://schemas.openxmlformats.org/drawingml/2006/main" noGrp="1"/>
          </p:cNvSpPr>
          <p:nvPr/>
        </p:nvSpPr>
        <p:spPr>
          <a:xfrm xmlns:a="http://schemas.openxmlformats.org/drawingml/2006/main">
            <a:off x="68580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СОСТОЯНИЕ НАКАПЛИВАЕТСЯ</a:t>
            </a:r>
          </a:p>
        </p:txBody>
      </p:sp>
      <p:sp>
        <p:nvSpPr>
          <p:cNvPr id="8" name="surface-507">
            <a:extLst xmlns:a="http://schemas.openxmlformats.org/drawingml/2006/main">
              <a:ext uri="{FF2B5EF4-FFF2-40B4-BE49-F238E27FC236}">
                <a16:creationId xmlns:a16="http://schemas.microsoft.com/office/drawing/2014/main" id="{04555E80-CB69-4AF4-978C-2AEFA9568139}"/>
              </a:ext>
            </a:extLst>
          </p:cNvPr>
          <p:cNvSpPr>
            <a:spLocks xmlns:a="http://schemas.openxmlformats.org/drawingml/2006/main" noGrp="1"/>
          </p:cNvSpPr>
          <p:nvPr/>
        </p:nvSpPr>
        <p:spPr>
          <a:xfrm xmlns:a="http://schemas.openxmlformats.org/drawingml/2006/main">
            <a:off x="68580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code-32-508">
            <a:extLst xmlns:a="http://schemas.openxmlformats.org/drawingml/2006/main">
              <a:ext uri="{FF2B5EF4-FFF2-40B4-BE49-F238E27FC236}">
                <a16:creationId xmlns:a16="http://schemas.microsoft.com/office/drawing/2014/main" id="{6E67DD55-A209-40C9-B594-ED969E1B388C}"/>
              </a:ext>
            </a:extLst>
          </p:cNvPr>
          <p:cNvSpPr>
            <a:spLocks xmlns:a="http://schemas.openxmlformats.org/drawingml/2006/main" noGrp="1"/>
          </p:cNvSpPr>
          <p:nvPr/>
        </p:nvSpPr>
        <p:spPr>
          <a:xfrm xmlns:a="http://schemas.openxmlformats.org/drawingml/2006/main">
            <a:off x="84772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1">
                <a:solidFill>
                  <a:srgbClr val="286DA6"/>
                </a:solidFill>
                <a:latin typeface="Courier New"/>
                <a:ea typeface="Courier New"/>
                <a:cs typeface="Courier New"/>
              </a:rPr>
              <a:t>def</a:t>
            </a:r>
            <a:r>
              <a:rPr sz="1935" b="0">
                <a:solidFill>
                  <a:srgbClr val="131518"/>
                </a:solidFill>
                <a:latin typeface="Courier New"/>
                <a:ea typeface="Courier New"/>
                <a:cs typeface="Courier New"/>
              </a:rPr>
              <a:t> add(x, bag=[]):</a:t>
            </a:r>
          </a:p>
        </p:txBody>
      </p:sp>
      <p:sp>
        <p:nvSpPr>
          <p:cNvPr id="10" name="code-32-509">
            <a:extLst xmlns:a="http://schemas.openxmlformats.org/drawingml/2006/main">
              <a:ext uri="{FF2B5EF4-FFF2-40B4-BE49-F238E27FC236}">
                <a16:creationId xmlns:a16="http://schemas.microsoft.com/office/drawing/2014/main" id="{92010062-25BA-4488-9CDF-BB8478CE1336}"/>
              </a:ext>
            </a:extLst>
          </p:cNvPr>
          <p:cNvSpPr>
            <a:spLocks xmlns:a="http://schemas.openxmlformats.org/drawingml/2006/main" noGrp="1"/>
          </p:cNvSpPr>
          <p:nvPr/>
        </p:nvSpPr>
        <p:spPr>
          <a:xfrm xmlns:a="http://schemas.openxmlformats.org/drawingml/2006/main">
            <a:off x="84772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bag.append(x)</a:t>
            </a:r>
          </a:p>
        </p:txBody>
      </p:sp>
      <p:sp>
        <p:nvSpPr>
          <p:cNvPr id="11" name="code-32-510">
            <a:extLst xmlns:a="http://schemas.openxmlformats.org/drawingml/2006/main">
              <a:ext uri="{FF2B5EF4-FFF2-40B4-BE49-F238E27FC236}">
                <a16:creationId xmlns:a16="http://schemas.microsoft.com/office/drawing/2014/main" id="{578EB0FB-0C03-42DB-83E2-10C1CEE6BA55}"/>
              </a:ext>
            </a:extLst>
          </p:cNvPr>
          <p:cNvSpPr>
            <a:spLocks xmlns:a="http://schemas.openxmlformats.org/drawingml/2006/main" noGrp="1"/>
          </p:cNvSpPr>
          <p:nvPr/>
        </p:nvSpPr>
        <p:spPr>
          <a:xfrm xmlns:a="http://schemas.openxmlformats.org/drawingml/2006/main">
            <a:off x="84772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r>
              <a:rPr sz="1935" b="1">
                <a:solidFill>
                  <a:srgbClr val="286DA6"/>
                </a:solidFill>
                <a:latin typeface="Courier New"/>
                <a:ea typeface="Courier New"/>
                <a:cs typeface="Courier New"/>
              </a:rPr>
              <a:t>return</a:t>
            </a:r>
            <a:r>
              <a:rPr sz="1935" b="0">
                <a:solidFill>
                  <a:srgbClr val="131518"/>
                </a:solidFill>
                <a:latin typeface="Courier New"/>
                <a:ea typeface="Courier New"/>
                <a:cs typeface="Courier New"/>
              </a:rPr>
              <a:t> bag</a:t>
            </a:r>
          </a:p>
        </p:txBody>
      </p:sp>
      <p:sp>
        <p:nvSpPr>
          <p:cNvPr id="12" name="code-32-511">
            <a:extLst xmlns:a="http://schemas.openxmlformats.org/drawingml/2006/main">
              <a:ext uri="{FF2B5EF4-FFF2-40B4-BE49-F238E27FC236}">
                <a16:creationId xmlns:a16="http://schemas.microsoft.com/office/drawing/2014/main" id="{1E26476F-A2F9-4BA6-AC50-A8669620ACA5}"/>
              </a:ext>
            </a:extLst>
          </p:cNvPr>
          <p:cNvSpPr>
            <a:spLocks xmlns:a="http://schemas.openxmlformats.org/drawingml/2006/main" noGrp="1"/>
          </p:cNvSpPr>
          <p:nvPr/>
        </p:nvSpPr>
        <p:spPr>
          <a:xfrm xmlns:a="http://schemas.openxmlformats.org/drawingml/2006/main">
            <a:off x="84772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13" name="code-32-512">
            <a:extLst xmlns:a="http://schemas.openxmlformats.org/drawingml/2006/main">
              <a:ext uri="{FF2B5EF4-FFF2-40B4-BE49-F238E27FC236}">
                <a16:creationId xmlns:a16="http://schemas.microsoft.com/office/drawing/2014/main" id="{DAAE7872-FC66-4581-8D04-BA1310A3DD14}"/>
              </a:ext>
            </a:extLst>
          </p:cNvPr>
          <p:cNvSpPr>
            <a:spLocks xmlns:a="http://schemas.openxmlformats.org/drawingml/2006/main" noGrp="1"/>
          </p:cNvSpPr>
          <p:nvPr/>
        </p:nvSpPr>
        <p:spPr>
          <a:xfrm xmlns:a="http://schemas.openxmlformats.org/drawingml/2006/main">
            <a:off x="84772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add(1)  </a:t>
            </a:r>
            <a:r>
              <a:rPr sz="1935" b="0">
                <a:solidFill>
                  <a:srgbClr val="535A61"/>
                </a:solidFill>
                <a:latin typeface="Courier New"/>
                <a:ea typeface="Courier New"/>
                <a:cs typeface="Courier New"/>
              </a:rPr>
              <a:t># [1]</a:t>
            </a:r>
          </a:p>
        </p:txBody>
      </p:sp>
      <p:sp>
        <p:nvSpPr>
          <p:cNvPr id="14" name="code-32-513">
            <a:extLst xmlns:a="http://schemas.openxmlformats.org/drawingml/2006/main">
              <a:ext uri="{FF2B5EF4-FFF2-40B4-BE49-F238E27FC236}">
                <a16:creationId xmlns:a16="http://schemas.microsoft.com/office/drawing/2014/main" id="{253426A1-8B79-4AAD-B87F-48C47D570FAD}"/>
              </a:ext>
            </a:extLst>
          </p:cNvPr>
          <p:cNvSpPr>
            <a:spLocks xmlns:a="http://schemas.openxmlformats.org/drawingml/2006/main" noGrp="1"/>
          </p:cNvSpPr>
          <p:nvPr/>
        </p:nvSpPr>
        <p:spPr>
          <a:xfrm xmlns:a="http://schemas.openxmlformats.org/drawingml/2006/main">
            <a:off x="847725" y="4321207"/>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add(2)  </a:t>
            </a:r>
            <a:r>
              <a:rPr sz="1935" b="0">
                <a:solidFill>
                  <a:srgbClr val="535A61"/>
                </a:solidFill>
                <a:latin typeface="Courier New"/>
                <a:ea typeface="Courier New"/>
                <a:cs typeface="Courier New"/>
              </a:rPr>
              <a:t># [1, 2]</a:t>
            </a:r>
          </a:p>
        </p:txBody>
      </p:sp>
      <p:sp>
        <p:nvSpPr>
          <p:cNvPr id="15" name="text-514">
            <a:extLst xmlns:a="http://schemas.openxmlformats.org/drawingml/2006/main">
              <a:ext uri="{FF2B5EF4-FFF2-40B4-BE49-F238E27FC236}">
                <a16:creationId xmlns:a16="http://schemas.microsoft.com/office/drawing/2014/main" id="{27C7C796-7B39-4836-9C9B-5ABE291749EA}"/>
              </a:ext>
            </a:extLst>
          </p:cNvPr>
          <p:cNvSpPr>
            <a:spLocks xmlns:a="http://schemas.openxmlformats.org/drawingml/2006/main" noGrp="1"/>
          </p:cNvSpPr>
          <p:nvPr/>
        </p:nvSpPr>
        <p:spPr>
          <a:xfrm xmlns:a="http://schemas.openxmlformats.org/drawingml/2006/main">
            <a:off x="68580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Один и тот же список хранится</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в значениях по умолчанию.</a:t>
            </a:r>
          </a:p>
        </p:txBody>
      </p:sp>
      <p:sp>
        <p:nvSpPr>
          <p:cNvPr id="16" name="text-515">
            <a:extLst xmlns:a="http://schemas.openxmlformats.org/drawingml/2006/main">
              <a:ext uri="{FF2B5EF4-FFF2-40B4-BE49-F238E27FC236}">
                <a16:creationId xmlns:a16="http://schemas.microsoft.com/office/drawing/2014/main" id="{C0CB606F-1705-4EC8-B7AC-F11AFDB8C42B}"/>
              </a:ext>
            </a:extLst>
          </p:cNvPr>
          <p:cNvSpPr>
            <a:spLocks xmlns:a="http://schemas.openxmlformats.org/drawingml/2006/main" noGrp="1"/>
          </p:cNvSpPr>
          <p:nvPr/>
        </p:nvSpPr>
        <p:spPr>
          <a:xfrm xmlns:a="http://schemas.openxmlformats.org/drawingml/2006/main">
            <a:off x="622935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НОВЫЙ СПИСОК ПРИ ВЫЗОВЕ</a:t>
            </a:r>
          </a:p>
        </p:txBody>
      </p:sp>
      <p:sp>
        <p:nvSpPr>
          <p:cNvPr id="17" name="surface-516">
            <a:extLst xmlns:a="http://schemas.openxmlformats.org/drawingml/2006/main">
              <a:ext uri="{FF2B5EF4-FFF2-40B4-BE49-F238E27FC236}">
                <a16:creationId xmlns:a16="http://schemas.microsoft.com/office/drawing/2014/main" id="{41938CAC-FFA2-4B06-91C5-3A27F6EEAB0B}"/>
              </a:ext>
            </a:extLst>
          </p:cNvPr>
          <p:cNvSpPr>
            <a:spLocks xmlns:a="http://schemas.openxmlformats.org/drawingml/2006/main" noGrp="1"/>
          </p:cNvSpPr>
          <p:nvPr/>
        </p:nvSpPr>
        <p:spPr>
          <a:xfrm xmlns:a="http://schemas.openxmlformats.org/drawingml/2006/main">
            <a:off x="622935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8" name="code-32-517">
            <a:extLst xmlns:a="http://schemas.openxmlformats.org/drawingml/2006/main">
              <a:ext uri="{FF2B5EF4-FFF2-40B4-BE49-F238E27FC236}">
                <a16:creationId xmlns:a16="http://schemas.microsoft.com/office/drawing/2014/main" id="{B92B509A-2A94-4C61-97A5-2745B2EC1144}"/>
              </a:ext>
            </a:extLst>
          </p:cNvPr>
          <p:cNvSpPr>
            <a:spLocks xmlns:a="http://schemas.openxmlformats.org/drawingml/2006/main" noGrp="1"/>
          </p:cNvSpPr>
          <p:nvPr/>
        </p:nvSpPr>
        <p:spPr>
          <a:xfrm xmlns:a="http://schemas.openxmlformats.org/drawingml/2006/main">
            <a:off x="639127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1">
                <a:solidFill>
                  <a:srgbClr val="286DA6"/>
                </a:solidFill>
                <a:latin typeface="Courier New"/>
                <a:ea typeface="Courier New"/>
                <a:cs typeface="Courier New"/>
              </a:rPr>
              <a:t>def</a:t>
            </a:r>
            <a:r>
              <a:rPr sz="1935" b="0">
                <a:solidFill>
                  <a:srgbClr val="131518"/>
                </a:solidFill>
                <a:latin typeface="Courier New"/>
                <a:ea typeface="Courier New"/>
                <a:cs typeface="Courier New"/>
              </a:rPr>
              <a:t> add(x, bag=</a:t>
            </a:r>
            <a:r>
              <a:rPr sz="1935" b="1">
                <a:solidFill>
                  <a:srgbClr val="286DA6"/>
                </a:solidFill>
                <a:latin typeface="Courier New"/>
                <a:ea typeface="Courier New"/>
                <a:cs typeface="Courier New"/>
              </a:rPr>
              <a:t>None</a:t>
            </a:r>
            <a:r>
              <a:rPr sz="1935" b="0">
                <a:solidFill>
                  <a:srgbClr val="131518"/>
                </a:solidFill>
                <a:latin typeface="Courier New"/>
                <a:ea typeface="Courier New"/>
                <a:cs typeface="Courier New"/>
              </a:rPr>
              <a:t>):</a:t>
            </a:r>
          </a:p>
        </p:txBody>
      </p:sp>
      <p:sp>
        <p:nvSpPr>
          <p:cNvPr id="19" name="code-32-518">
            <a:extLst xmlns:a="http://schemas.openxmlformats.org/drawingml/2006/main">
              <a:ext uri="{FF2B5EF4-FFF2-40B4-BE49-F238E27FC236}">
                <a16:creationId xmlns:a16="http://schemas.microsoft.com/office/drawing/2014/main" id="{CF0A582A-D45E-4D2A-ABC5-20DB2CA933C6}"/>
              </a:ext>
            </a:extLst>
          </p:cNvPr>
          <p:cNvSpPr>
            <a:spLocks xmlns:a="http://schemas.openxmlformats.org/drawingml/2006/main" noGrp="1"/>
          </p:cNvSpPr>
          <p:nvPr/>
        </p:nvSpPr>
        <p:spPr>
          <a:xfrm xmlns:a="http://schemas.openxmlformats.org/drawingml/2006/main">
            <a:off x="639127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r>
              <a:rPr sz="1935" b="1">
                <a:solidFill>
                  <a:srgbClr val="286DA6"/>
                </a:solidFill>
                <a:latin typeface="Courier New"/>
                <a:ea typeface="Courier New"/>
                <a:cs typeface="Courier New"/>
              </a:rPr>
              <a:t>if</a:t>
            </a:r>
            <a:r>
              <a:rPr sz="1935" b="0">
                <a:solidFill>
                  <a:srgbClr val="131518"/>
                </a:solidFill>
                <a:latin typeface="Courier New"/>
                <a:ea typeface="Courier New"/>
                <a:cs typeface="Courier New"/>
              </a:rPr>
              <a:t> bag </a:t>
            </a:r>
            <a:r>
              <a:rPr sz="1935" b="1">
                <a:solidFill>
                  <a:srgbClr val="286DA6"/>
                </a:solidFill>
                <a:latin typeface="Courier New"/>
                <a:ea typeface="Courier New"/>
                <a:cs typeface="Courier New"/>
              </a:rPr>
              <a:t>is</a:t>
            </a:r>
            <a:r>
              <a:rPr sz="1935" b="0">
                <a:solidFill>
                  <a:srgbClr val="131518"/>
                </a:solidFill>
                <a:latin typeface="Courier New"/>
                <a:ea typeface="Courier New"/>
                <a:cs typeface="Courier New"/>
              </a:rPr>
              <a:t> </a:t>
            </a:r>
            <a:r>
              <a:rPr sz="1935" b="1">
                <a:solidFill>
                  <a:srgbClr val="286DA6"/>
                </a:solidFill>
                <a:latin typeface="Courier New"/>
                <a:ea typeface="Courier New"/>
                <a:cs typeface="Courier New"/>
              </a:rPr>
              <a:t>None</a:t>
            </a:r>
            <a:r>
              <a:rPr sz="1935" b="0">
                <a:solidFill>
                  <a:srgbClr val="131518"/>
                </a:solidFill>
                <a:latin typeface="Courier New"/>
                <a:ea typeface="Courier New"/>
                <a:cs typeface="Courier New"/>
              </a:rPr>
              <a:t>:</a:t>
            </a:r>
          </a:p>
        </p:txBody>
      </p:sp>
      <p:sp>
        <p:nvSpPr>
          <p:cNvPr id="20" name="code-32-519">
            <a:extLst xmlns:a="http://schemas.openxmlformats.org/drawingml/2006/main">
              <a:ext uri="{FF2B5EF4-FFF2-40B4-BE49-F238E27FC236}">
                <a16:creationId xmlns:a16="http://schemas.microsoft.com/office/drawing/2014/main" id="{DFEC9460-5B04-4FCC-8B98-FDF935DBFD08}"/>
              </a:ext>
            </a:extLst>
          </p:cNvPr>
          <p:cNvSpPr>
            <a:spLocks xmlns:a="http://schemas.openxmlformats.org/drawingml/2006/main" noGrp="1"/>
          </p:cNvSpPr>
          <p:nvPr/>
        </p:nvSpPr>
        <p:spPr>
          <a:xfrm xmlns:a="http://schemas.openxmlformats.org/drawingml/2006/main">
            <a:off x="639127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bag = []</a:t>
            </a:r>
          </a:p>
        </p:txBody>
      </p:sp>
      <p:sp>
        <p:nvSpPr>
          <p:cNvPr id="21" name="code-32-520">
            <a:extLst xmlns:a="http://schemas.openxmlformats.org/drawingml/2006/main">
              <a:ext uri="{FF2B5EF4-FFF2-40B4-BE49-F238E27FC236}">
                <a16:creationId xmlns:a16="http://schemas.microsoft.com/office/drawing/2014/main" id="{F7BD9981-294C-4761-A1CF-0DF6F0A7DB94}"/>
              </a:ext>
            </a:extLst>
          </p:cNvPr>
          <p:cNvSpPr>
            <a:spLocks xmlns:a="http://schemas.openxmlformats.org/drawingml/2006/main" noGrp="1"/>
          </p:cNvSpPr>
          <p:nvPr/>
        </p:nvSpPr>
        <p:spPr>
          <a:xfrm xmlns:a="http://schemas.openxmlformats.org/drawingml/2006/main">
            <a:off x="639127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bag.append(x)</a:t>
            </a:r>
          </a:p>
        </p:txBody>
      </p:sp>
      <p:sp>
        <p:nvSpPr>
          <p:cNvPr id="22" name="code-32-521">
            <a:extLst xmlns:a="http://schemas.openxmlformats.org/drawingml/2006/main">
              <a:ext uri="{FF2B5EF4-FFF2-40B4-BE49-F238E27FC236}">
                <a16:creationId xmlns:a16="http://schemas.microsoft.com/office/drawing/2014/main" id="{19383909-66B2-4020-A3C1-94D960B2F3E8}"/>
              </a:ext>
            </a:extLst>
          </p:cNvPr>
          <p:cNvSpPr>
            <a:spLocks xmlns:a="http://schemas.openxmlformats.org/drawingml/2006/main" noGrp="1"/>
          </p:cNvSpPr>
          <p:nvPr/>
        </p:nvSpPr>
        <p:spPr>
          <a:xfrm xmlns:a="http://schemas.openxmlformats.org/drawingml/2006/main">
            <a:off x="639127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r>
              <a:rPr sz="1935" b="1">
                <a:solidFill>
                  <a:srgbClr val="286DA6"/>
                </a:solidFill>
                <a:latin typeface="Courier New"/>
                <a:ea typeface="Courier New"/>
                <a:cs typeface="Courier New"/>
              </a:rPr>
              <a:t>return</a:t>
            </a:r>
            <a:r>
              <a:rPr sz="1935" b="0">
                <a:solidFill>
                  <a:srgbClr val="131518"/>
                </a:solidFill>
                <a:latin typeface="Courier New"/>
                <a:ea typeface="Courier New"/>
                <a:cs typeface="Courier New"/>
              </a:rPr>
              <a:t> bag</a:t>
            </a:r>
          </a:p>
        </p:txBody>
      </p:sp>
      <p:sp>
        <p:nvSpPr>
          <p:cNvPr id="23" name="text-522">
            <a:extLst xmlns:a="http://schemas.openxmlformats.org/drawingml/2006/main">
              <a:ext uri="{FF2B5EF4-FFF2-40B4-BE49-F238E27FC236}">
                <a16:creationId xmlns:a16="http://schemas.microsoft.com/office/drawing/2014/main" id="{CB321FD3-E331-42D1-87A3-857E4A1078D0}"/>
              </a:ext>
            </a:extLst>
          </p:cNvPr>
          <p:cNvSpPr>
            <a:spLocks xmlns:a="http://schemas.openxmlformats.org/drawingml/2006/main" noGrp="1"/>
          </p:cNvSpPr>
          <p:nvPr/>
        </p:nvSpPr>
        <p:spPr>
          <a:xfrm xmlns:a="http://schemas.openxmlformats.org/drawingml/2006/main">
            <a:off x="622935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Вызовы без bag независимы.</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Явно переданный bag изменяется.</a:t>
            </a:r>
          </a:p>
        </p:txBody>
      </p:sp>
    </p:spTree>
    <p:extLst>
      <p:ext uri="{BB962C8B-B14F-4D97-AF65-F5344CB8AC3E}">
        <p14:creationId xmlns:p14="http://schemas.microsoft.com/office/powerpoint/2010/main" val="20964339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523">
            <a:extLst xmlns:a="http://schemas.openxmlformats.org/drawingml/2006/main">
              <a:ext uri="{FF2B5EF4-FFF2-40B4-BE49-F238E27FC236}">
                <a16:creationId xmlns:a16="http://schemas.microsoft.com/office/drawing/2014/main" id="{B3B46C10-85FD-4823-9858-B1902222AA89}"/>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ПРОВЕРИМ МОДЕЛЬ</a:t>
            </a:r>
          </a:p>
        </p:txBody>
      </p:sp>
      <p:sp>
        <p:nvSpPr>
          <p:cNvPr id="2" name="title-33">
            <a:extLst xmlns:a="http://schemas.openxmlformats.org/drawingml/2006/main">
              <a:ext uri="{FF2B5EF4-FFF2-40B4-BE49-F238E27FC236}">
                <a16:creationId xmlns:a16="http://schemas.microsoft.com/office/drawing/2014/main" id="{662C1190-43FA-4EDC-816B-A7156379C48B}"/>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Три коротких прогноза</a:t>
            </a:r>
          </a:p>
        </p:txBody>
      </p:sp>
      <p:sp>
        <p:nvSpPr>
          <p:cNvPr id="3" name="text-524">
            <a:extLst xmlns:a="http://schemas.openxmlformats.org/drawingml/2006/main">
              <a:ext uri="{FF2B5EF4-FFF2-40B4-BE49-F238E27FC236}">
                <a16:creationId xmlns:a16="http://schemas.microsoft.com/office/drawing/2014/main" id="{C90533E4-BA82-44FB-8EFE-74AB7B83BC30}"/>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Для каждого примера назовите результат и правило, которое его объясняет.</a:t>
            </a:r>
          </a:p>
        </p:txBody>
      </p:sp>
      <p:sp>
        <p:nvSpPr>
          <p:cNvPr id="4" name="surface-525">
            <a:extLst xmlns:a="http://schemas.openxmlformats.org/drawingml/2006/main">
              <a:ext uri="{FF2B5EF4-FFF2-40B4-BE49-F238E27FC236}">
                <a16:creationId xmlns:a16="http://schemas.microsoft.com/office/drawing/2014/main" id="{ED8975E1-688A-40C5-8767-E5D158216744}"/>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526">
            <a:extLst xmlns:a="http://schemas.openxmlformats.org/drawingml/2006/main">
              <a:ext uri="{FF2B5EF4-FFF2-40B4-BE49-F238E27FC236}">
                <a16:creationId xmlns:a16="http://schemas.microsoft.com/office/drawing/2014/main" id="{4A6F2870-990D-4DAC-A6F7-38375306C031}"/>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527">
            <a:extLst xmlns:a="http://schemas.openxmlformats.org/drawingml/2006/main">
              <a:ext uri="{FF2B5EF4-FFF2-40B4-BE49-F238E27FC236}">
                <a16:creationId xmlns:a16="http://schemas.microsoft.com/office/drawing/2014/main" id="{1E71C6DC-CAFA-4177-894A-EAAA2734D404}"/>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33</a:t>
            </a:r>
          </a:p>
        </p:txBody>
      </p:sp>
      <p:sp>
        <p:nvSpPr>
          <p:cNvPr id="7" name="text-528">
            <a:extLst xmlns:a="http://schemas.openxmlformats.org/drawingml/2006/main">
              <a:ext uri="{FF2B5EF4-FFF2-40B4-BE49-F238E27FC236}">
                <a16:creationId xmlns:a16="http://schemas.microsoft.com/office/drawing/2014/main" id="{E3513FD6-F762-45E6-8DB6-3E8054818824}"/>
              </a:ext>
            </a:extLst>
          </p:cNvPr>
          <p:cNvSpPr>
            <a:spLocks xmlns:a="http://schemas.openxmlformats.org/drawingml/2006/main" noGrp="1"/>
          </p:cNvSpPr>
          <p:nvPr/>
        </p:nvSpPr>
        <p:spPr>
          <a:xfrm xmlns:a="http://schemas.openxmlformats.org/drawingml/2006/main">
            <a:off x="685800" y="2238375"/>
            <a:ext cx="857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286DA6"/>
                </a:solidFill>
                <a:latin typeface="Arial"/>
                <a:ea typeface="Arial"/>
                <a:cs typeface="Arial"/>
              </a:defRPr>
            </a:pPr>
            <a:r>
              <a:rPr sz="3675" b="1">
                <a:solidFill>
                  <a:srgbClr val="286DA6"/>
                </a:solidFill>
                <a:latin typeface="Arial"/>
                <a:ea typeface="Arial"/>
                <a:cs typeface="Arial"/>
              </a:rPr>
              <a:t>A</a:t>
            </a:r>
          </a:p>
        </p:txBody>
      </p:sp>
      <p:sp>
        <p:nvSpPr>
          <p:cNvPr id="8" name="surface-529">
            <a:extLst xmlns:a="http://schemas.openxmlformats.org/drawingml/2006/main">
              <a:ext uri="{FF2B5EF4-FFF2-40B4-BE49-F238E27FC236}">
                <a16:creationId xmlns:a16="http://schemas.microsoft.com/office/drawing/2014/main" id="{D68030D3-DEF2-4FBD-8018-C2EA532DB4D0}"/>
              </a:ext>
            </a:extLst>
          </p:cNvPr>
          <p:cNvSpPr>
            <a:spLocks xmlns:a="http://schemas.openxmlformats.org/drawingml/2006/main" noGrp="1"/>
          </p:cNvSpPr>
          <p:nvPr/>
        </p:nvSpPr>
        <p:spPr>
          <a:xfrm xmlns:a="http://schemas.openxmlformats.org/drawingml/2006/main">
            <a:off x="1847850" y="2162175"/>
            <a:ext cx="9658350" cy="1213866"/>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code-33-530">
            <a:extLst xmlns:a="http://schemas.openxmlformats.org/drawingml/2006/main">
              <a:ext uri="{FF2B5EF4-FFF2-40B4-BE49-F238E27FC236}">
                <a16:creationId xmlns:a16="http://schemas.microsoft.com/office/drawing/2014/main" id="{D72A2AC5-140B-4175-994B-6F89A4C19DB7}"/>
              </a:ext>
            </a:extLst>
          </p:cNvPr>
          <p:cNvSpPr>
            <a:spLocks xmlns:a="http://schemas.openxmlformats.org/drawingml/2006/main" noGrp="1"/>
          </p:cNvSpPr>
          <p:nvPr/>
        </p:nvSpPr>
        <p:spPr>
          <a:xfrm xmlns:a="http://schemas.openxmlformats.org/drawingml/2006/main">
            <a:off x="1990725" y="2305050"/>
            <a:ext cx="9372600" cy="328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a = [1, 2]; b = a</a:t>
            </a:r>
          </a:p>
        </p:txBody>
      </p:sp>
      <p:sp>
        <p:nvSpPr>
          <p:cNvPr id="10" name="code-33-531">
            <a:extLst xmlns:a="http://schemas.openxmlformats.org/drawingml/2006/main">
              <a:ext uri="{FF2B5EF4-FFF2-40B4-BE49-F238E27FC236}">
                <a16:creationId xmlns:a16="http://schemas.microsoft.com/office/drawing/2014/main" id="{239E1ADF-3BE9-4D3E-A8A6-35565766E070}"/>
              </a:ext>
            </a:extLst>
          </p:cNvPr>
          <p:cNvSpPr>
            <a:spLocks xmlns:a="http://schemas.openxmlformats.org/drawingml/2006/main" noGrp="1"/>
          </p:cNvSpPr>
          <p:nvPr/>
        </p:nvSpPr>
        <p:spPr>
          <a:xfrm xmlns:a="http://schemas.openxmlformats.org/drawingml/2006/main">
            <a:off x="1990725" y="2614422"/>
            <a:ext cx="9372600" cy="328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a = a + [3]</a:t>
            </a:r>
          </a:p>
        </p:txBody>
      </p:sp>
      <p:sp>
        <p:nvSpPr>
          <p:cNvPr id="11" name="code-33-532">
            <a:extLst xmlns:a="http://schemas.openxmlformats.org/drawingml/2006/main">
              <a:ext uri="{FF2B5EF4-FFF2-40B4-BE49-F238E27FC236}">
                <a16:creationId xmlns:a16="http://schemas.microsoft.com/office/drawing/2014/main" id="{B893ABCA-DB02-4D73-8B0D-6875ECDBBD81}"/>
              </a:ext>
            </a:extLst>
          </p:cNvPr>
          <p:cNvSpPr>
            <a:spLocks xmlns:a="http://schemas.openxmlformats.org/drawingml/2006/main" noGrp="1"/>
          </p:cNvSpPr>
          <p:nvPr/>
        </p:nvSpPr>
        <p:spPr>
          <a:xfrm xmlns:a="http://schemas.openxmlformats.org/drawingml/2006/main">
            <a:off x="1990725" y="2923794"/>
            <a:ext cx="9372600" cy="328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print(b)</a:t>
            </a:r>
          </a:p>
        </p:txBody>
      </p:sp>
      <p:sp>
        <p:nvSpPr>
          <p:cNvPr id="12" name="text-533">
            <a:extLst xmlns:a="http://schemas.openxmlformats.org/drawingml/2006/main">
              <a:ext uri="{FF2B5EF4-FFF2-40B4-BE49-F238E27FC236}">
                <a16:creationId xmlns:a16="http://schemas.microsoft.com/office/drawing/2014/main" id="{3908C801-7D13-4B0B-9E50-55E28BA97F05}"/>
              </a:ext>
            </a:extLst>
          </p:cNvPr>
          <p:cNvSpPr>
            <a:spLocks xmlns:a="http://schemas.openxmlformats.org/drawingml/2006/main" noGrp="1"/>
          </p:cNvSpPr>
          <p:nvPr/>
        </p:nvSpPr>
        <p:spPr>
          <a:xfrm xmlns:a="http://schemas.openxmlformats.org/drawingml/2006/main">
            <a:off x="685800" y="3543300"/>
            <a:ext cx="857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286DA6"/>
                </a:solidFill>
                <a:latin typeface="Arial"/>
                <a:ea typeface="Arial"/>
                <a:cs typeface="Arial"/>
              </a:defRPr>
            </a:pPr>
            <a:r>
              <a:rPr sz="3675" b="1">
                <a:solidFill>
                  <a:srgbClr val="286DA6"/>
                </a:solidFill>
                <a:latin typeface="Arial"/>
                <a:ea typeface="Arial"/>
                <a:cs typeface="Arial"/>
              </a:rPr>
              <a:t>B</a:t>
            </a:r>
          </a:p>
        </p:txBody>
      </p:sp>
      <p:sp>
        <p:nvSpPr>
          <p:cNvPr id="13" name="surface-534">
            <a:extLst xmlns:a="http://schemas.openxmlformats.org/drawingml/2006/main">
              <a:ext uri="{FF2B5EF4-FFF2-40B4-BE49-F238E27FC236}">
                <a16:creationId xmlns:a16="http://schemas.microsoft.com/office/drawing/2014/main" id="{2CB45A67-B46F-4FB3-BE87-0A777EE814DC}"/>
              </a:ext>
            </a:extLst>
          </p:cNvPr>
          <p:cNvSpPr>
            <a:spLocks xmlns:a="http://schemas.openxmlformats.org/drawingml/2006/main" noGrp="1"/>
          </p:cNvSpPr>
          <p:nvPr/>
        </p:nvSpPr>
        <p:spPr>
          <a:xfrm xmlns:a="http://schemas.openxmlformats.org/drawingml/2006/main">
            <a:off x="1847850" y="3467100"/>
            <a:ext cx="9658350" cy="904494"/>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4" name="code-33-535">
            <a:extLst xmlns:a="http://schemas.openxmlformats.org/drawingml/2006/main">
              <a:ext uri="{FF2B5EF4-FFF2-40B4-BE49-F238E27FC236}">
                <a16:creationId xmlns:a16="http://schemas.microsoft.com/office/drawing/2014/main" id="{693415E4-8920-49D3-8654-F03C8E2259DE}"/>
              </a:ext>
            </a:extLst>
          </p:cNvPr>
          <p:cNvSpPr>
            <a:spLocks xmlns:a="http://schemas.openxmlformats.org/drawingml/2006/main" noGrp="1"/>
          </p:cNvSpPr>
          <p:nvPr/>
        </p:nvSpPr>
        <p:spPr>
          <a:xfrm xmlns:a="http://schemas.openxmlformats.org/drawingml/2006/main">
            <a:off x="1990725" y="3609975"/>
            <a:ext cx="9372600" cy="328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t = ([1], 2)</a:t>
            </a:r>
          </a:p>
        </p:txBody>
      </p:sp>
      <p:sp>
        <p:nvSpPr>
          <p:cNvPr id="15" name="code-33-536">
            <a:extLst xmlns:a="http://schemas.openxmlformats.org/drawingml/2006/main">
              <a:ext uri="{FF2B5EF4-FFF2-40B4-BE49-F238E27FC236}">
                <a16:creationId xmlns:a16="http://schemas.microsoft.com/office/drawing/2014/main" id="{D6D2383B-D0BC-472B-B3BA-2736A205D1A8}"/>
              </a:ext>
            </a:extLst>
          </p:cNvPr>
          <p:cNvSpPr>
            <a:spLocks xmlns:a="http://schemas.openxmlformats.org/drawingml/2006/main" noGrp="1"/>
          </p:cNvSpPr>
          <p:nvPr/>
        </p:nvSpPr>
        <p:spPr>
          <a:xfrm xmlns:a="http://schemas.openxmlformats.org/drawingml/2006/main">
            <a:off x="1990725" y="3919347"/>
            <a:ext cx="9372600" cy="328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hash(t)</a:t>
            </a:r>
          </a:p>
        </p:txBody>
      </p:sp>
      <p:sp>
        <p:nvSpPr>
          <p:cNvPr id="16" name="text-537">
            <a:extLst xmlns:a="http://schemas.openxmlformats.org/drawingml/2006/main">
              <a:ext uri="{FF2B5EF4-FFF2-40B4-BE49-F238E27FC236}">
                <a16:creationId xmlns:a16="http://schemas.microsoft.com/office/drawing/2014/main" id="{F3DCF308-BF44-44E0-840D-B02BF7C62A24}"/>
              </a:ext>
            </a:extLst>
          </p:cNvPr>
          <p:cNvSpPr>
            <a:spLocks xmlns:a="http://schemas.openxmlformats.org/drawingml/2006/main" noGrp="1"/>
          </p:cNvSpPr>
          <p:nvPr/>
        </p:nvSpPr>
        <p:spPr>
          <a:xfrm xmlns:a="http://schemas.openxmlformats.org/drawingml/2006/main">
            <a:off x="685800" y="4848225"/>
            <a:ext cx="857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286DA6"/>
                </a:solidFill>
                <a:latin typeface="Arial"/>
                <a:ea typeface="Arial"/>
                <a:cs typeface="Arial"/>
              </a:defRPr>
            </a:pPr>
            <a:r>
              <a:rPr sz="3675" b="1">
                <a:solidFill>
                  <a:srgbClr val="286DA6"/>
                </a:solidFill>
                <a:latin typeface="Arial"/>
                <a:ea typeface="Arial"/>
                <a:cs typeface="Arial"/>
              </a:rPr>
              <a:t>C</a:t>
            </a:r>
          </a:p>
        </p:txBody>
      </p:sp>
      <p:sp>
        <p:nvSpPr>
          <p:cNvPr id="17" name="surface-538">
            <a:extLst xmlns:a="http://schemas.openxmlformats.org/drawingml/2006/main">
              <a:ext uri="{FF2B5EF4-FFF2-40B4-BE49-F238E27FC236}">
                <a16:creationId xmlns:a16="http://schemas.microsoft.com/office/drawing/2014/main" id="{440DD707-E58E-4090-8F2D-6AC6A8933B44}"/>
              </a:ext>
            </a:extLst>
          </p:cNvPr>
          <p:cNvSpPr>
            <a:spLocks xmlns:a="http://schemas.openxmlformats.org/drawingml/2006/main" noGrp="1"/>
          </p:cNvSpPr>
          <p:nvPr/>
        </p:nvSpPr>
        <p:spPr>
          <a:xfrm xmlns:a="http://schemas.openxmlformats.org/drawingml/2006/main">
            <a:off x="1847850" y="4772025"/>
            <a:ext cx="9658350" cy="904494"/>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8" name="code-33-539">
            <a:extLst xmlns:a="http://schemas.openxmlformats.org/drawingml/2006/main">
              <a:ext uri="{FF2B5EF4-FFF2-40B4-BE49-F238E27FC236}">
                <a16:creationId xmlns:a16="http://schemas.microsoft.com/office/drawing/2014/main" id="{9DC90A7D-64E6-46E2-94E1-C8DF75D45C43}"/>
              </a:ext>
            </a:extLst>
          </p:cNvPr>
          <p:cNvSpPr>
            <a:spLocks xmlns:a="http://schemas.openxmlformats.org/drawingml/2006/main" noGrp="1"/>
          </p:cNvSpPr>
          <p:nvPr/>
        </p:nvSpPr>
        <p:spPr>
          <a:xfrm xmlns:a="http://schemas.openxmlformats.org/drawingml/2006/main">
            <a:off x="1990725" y="4914900"/>
            <a:ext cx="9372600" cy="328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g = (x </a:t>
            </a:r>
            <a:r>
              <a:rPr sz="2100" b="1">
                <a:solidFill>
                  <a:srgbClr val="286DA6"/>
                </a:solidFill>
                <a:latin typeface="Courier New"/>
                <a:ea typeface="Courier New"/>
                <a:cs typeface="Courier New"/>
              </a:rPr>
              <a:t>for</a:t>
            </a:r>
            <a:r>
              <a:rPr sz="2100" b="0">
                <a:solidFill>
                  <a:srgbClr val="131518"/>
                </a:solidFill>
                <a:latin typeface="Courier New"/>
                <a:ea typeface="Courier New"/>
                <a:cs typeface="Courier New"/>
              </a:rPr>
              <a:t> x </a:t>
            </a:r>
            <a:r>
              <a:rPr sz="2100" b="1">
                <a:solidFill>
                  <a:srgbClr val="286DA6"/>
                </a:solidFill>
                <a:latin typeface="Courier New"/>
                <a:ea typeface="Courier New"/>
                <a:cs typeface="Courier New"/>
              </a:rPr>
              <a:t>in</a:t>
            </a:r>
            <a:r>
              <a:rPr sz="2100" b="0">
                <a:solidFill>
                  <a:srgbClr val="131518"/>
                </a:solidFill>
                <a:latin typeface="Courier New"/>
                <a:ea typeface="Courier New"/>
                <a:cs typeface="Courier New"/>
              </a:rPr>
              <a:t> range(3))</a:t>
            </a:r>
          </a:p>
        </p:txBody>
      </p:sp>
      <p:sp>
        <p:nvSpPr>
          <p:cNvPr id="19" name="code-33-540">
            <a:extLst xmlns:a="http://schemas.openxmlformats.org/drawingml/2006/main">
              <a:ext uri="{FF2B5EF4-FFF2-40B4-BE49-F238E27FC236}">
                <a16:creationId xmlns:a16="http://schemas.microsoft.com/office/drawing/2014/main" id="{4C538D5F-B629-496C-A436-403669863208}"/>
              </a:ext>
            </a:extLst>
          </p:cNvPr>
          <p:cNvSpPr>
            <a:spLocks xmlns:a="http://schemas.openxmlformats.org/drawingml/2006/main" noGrp="1"/>
          </p:cNvSpPr>
          <p:nvPr/>
        </p:nvSpPr>
        <p:spPr>
          <a:xfrm xmlns:a="http://schemas.openxmlformats.org/drawingml/2006/main">
            <a:off x="1990725" y="5224272"/>
            <a:ext cx="9372600" cy="328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31518"/>
                </a:solidFill>
                <a:latin typeface="Courier New"/>
                <a:ea typeface="Courier New"/>
                <a:cs typeface="Courier New"/>
              </a:defRPr>
            </a:pPr>
            <a:r>
              <a:rPr sz="2100" b="0">
                <a:solidFill>
                  <a:srgbClr val="131518"/>
                </a:solidFill>
                <a:latin typeface="Courier New"/>
                <a:ea typeface="Courier New"/>
                <a:cs typeface="Courier New"/>
              </a:rPr>
              <a:t>print(list(g), list(g))</a:t>
            </a:r>
          </a:p>
        </p:txBody>
      </p:sp>
    </p:spTree>
    <p:extLst>
      <p:ext uri="{BB962C8B-B14F-4D97-AF65-F5344CB8AC3E}">
        <p14:creationId xmlns:p14="http://schemas.microsoft.com/office/powerpoint/2010/main" val="173867309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541">
            <a:extLst xmlns:a="http://schemas.openxmlformats.org/drawingml/2006/main">
              <a:ext uri="{FF2B5EF4-FFF2-40B4-BE49-F238E27FC236}">
                <a16:creationId xmlns:a16="http://schemas.microsoft.com/office/drawing/2014/main" id="{7BE38667-EEA8-47DB-A434-1B5BAE8C0C39}"/>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РАЗБОР</a:t>
            </a:r>
          </a:p>
        </p:txBody>
      </p:sp>
      <p:sp>
        <p:nvSpPr>
          <p:cNvPr id="2" name="title-34">
            <a:extLst xmlns:a="http://schemas.openxmlformats.org/drawingml/2006/main">
              <a:ext uri="{FF2B5EF4-FFF2-40B4-BE49-F238E27FC236}">
                <a16:creationId xmlns:a16="http://schemas.microsoft.com/office/drawing/2014/main" id="{E513DB50-A690-4E3B-A137-57214AF2F6B9}"/>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Во всех трёх случаях работают общие правила</a:t>
            </a:r>
          </a:p>
        </p:txBody>
      </p:sp>
      <p:sp>
        <p:nvSpPr>
          <p:cNvPr id="3" name="surface-542">
            <a:extLst xmlns:a="http://schemas.openxmlformats.org/drawingml/2006/main">
              <a:ext uri="{FF2B5EF4-FFF2-40B4-BE49-F238E27FC236}">
                <a16:creationId xmlns:a16="http://schemas.microsoft.com/office/drawing/2014/main" id="{4647B8CC-7086-4A1D-AC8A-FABC9376818A}"/>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4" name="text-543">
            <a:extLst xmlns:a="http://schemas.openxmlformats.org/drawingml/2006/main">
              <a:ext uri="{FF2B5EF4-FFF2-40B4-BE49-F238E27FC236}">
                <a16:creationId xmlns:a16="http://schemas.microsoft.com/office/drawing/2014/main" id="{A5ACEA01-C5D6-43BE-893B-8533C0B71AA1}"/>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5" name="text-544">
            <a:extLst xmlns:a="http://schemas.openxmlformats.org/drawingml/2006/main">
              <a:ext uri="{FF2B5EF4-FFF2-40B4-BE49-F238E27FC236}">
                <a16:creationId xmlns:a16="http://schemas.microsoft.com/office/drawing/2014/main" id="{29F9C95B-24A5-45F8-B3DB-9AAF0807BE6F}"/>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34</a:t>
            </a:r>
          </a:p>
        </p:txBody>
      </p:sp>
      <p:sp>
        <p:nvSpPr>
          <p:cNvPr id="6" name="text-545">
            <a:extLst xmlns:a="http://schemas.openxmlformats.org/drawingml/2006/main">
              <a:ext uri="{FF2B5EF4-FFF2-40B4-BE49-F238E27FC236}">
                <a16:creationId xmlns:a16="http://schemas.microsoft.com/office/drawing/2014/main" id="{69FD2B4D-6CB0-4F7A-A44E-19BA5B7A6F8F}"/>
              </a:ext>
            </a:extLst>
          </p:cNvPr>
          <p:cNvSpPr>
            <a:spLocks xmlns:a="http://schemas.openxmlformats.org/drawingml/2006/main" noGrp="1"/>
          </p:cNvSpPr>
          <p:nvPr/>
        </p:nvSpPr>
        <p:spPr>
          <a:xfrm xmlns:a="http://schemas.openxmlformats.org/drawingml/2006/main">
            <a:off x="685800" y="2238375"/>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86DA6"/>
                </a:solidFill>
                <a:latin typeface="Arial"/>
                <a:ea typeface="Arial"/>
                <a:cs typeface="Arial"/>
              </a:defRPr>
            </a:pPr>
            <a:r>
              <a:rPr sz="3375" b="1">
                <a:solidFill>
                  <a:srgbClr val="286DA6"/>
                </a:solidFill>
                <a:latin typeface="Arial"/>
                <a:ea typeface="Arial"/>
                <a:cs typeface="Arial"/>
              </a:rPr>
              <a:t>A</a:t>
            </a:r>
          </a:p>
        </p:txBody>
      </p:sp>
      <p:sp>
        <p:nvSpPr>
          <p:cNvPr id="7" name="text-546">
            <a:extLst xmlns:a="http://schemas.openxmlformats.org/drawingml/2006/main">
              <a:ext uri="{FF2B5EF4-FFF2-40B4-BE49-F238E27FC236}">
                <a16:creationId xmlns:a16="http://schemas.microsoft.com/office/drawing/2014/main" id="{03EE132D-7D75-47BA-BB8B-6E1553C24B8C}"/>
              </a:ext>
            </a:extLst>
          </p:cNvPr>
          <p:cNvSpPr>
            <a:spLocks xmlns:a="http://schemas.openxmlformats.org/drawingml/2006/main" noGrp="1"/>
          </p:cNvSpPr>
          <p:nvPr/>
        </p:nvSpPr>
        <p:spPr>
          <a:xfrm xmlns:a="http://schemas.openxmlformats.org/drawingml/2006/main">
            <a:off x="1781175" y="2238375"/>
            <a:ext cx="3438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31518"/>
                </a:solidFill>
                <a:latin typeface="Courier New"/>
                <a:ea typeface="Courier New"/>
                <a:cs typeface="Courier New"/>
              </a:defRPr>
            </a:pPr>
            <a:r>
              <a:rPr sz="2400" b="1">
                <a:solidFill>
                  <a:srgbClr val="131518"/>
                </a:solidFill>
                <a:latin typeface="Courier New"/>
                <a:ea typeface="Courier New"/>
                <a:cs typeface="Courier New"/>
              </a:rPr>
              <a:t>[1, 2]</a:t>
            </a:r>
          </a:p>
        </p:txBody>
      </p:sp>
      <p:sp>
        <p:nvSpPr>
          <p:cNvPr id="8" name="text-547">
            <a:extLst xmlns:a="http://schemas.openxmlformats.org/drawingml/2006/main">
              <a:ext uri="{FF2B5EF4-FFF2-40B4-BE49-F238E27FC236}">
                <a16:creationId xmlns:a16="http://schemas.microsoft.com/office/drawing/2014/main" id="{8A0E6F75-4C9C-40CC-9160-5266E046453B}"/>
              </a:ext>
            </a:extLst>
          </p:cNvPr>
          <p:cNvSpPr>
            <a:spLocks xmlns:a="http://schemas.openxmlformats.org/drawingml/2006/main" noGrp="1"/>
          </p:cNvSpPr>
          <p:nvPr/>
        </p:nvSpPr>
        <p:spPr>
          <a:xfrm xmlns:a="http://schemas.openxmlformats.org/drawingml/2006/main">
            <a:off x="5657850" y="2238375"/>
            <a:ext cx="5848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5A61"/>
                </a:solidFill>
                <a:latin typeface="Arial"/>
                <a:ea typeface="Arial"/>
                <a:cs typeface="Arial"/>
              </a:defRPr>
            </a:pPr>
            <a:r>
              <a:rPr sz="2175" b="0">
                <a:solidFill>
                  <a:srgbClr val="535A61"/>
                </a:solidFill>
                <a:latin typeface="Arial"/>
                <a:ea typeface="Arial"/>
                <a:cs typeface="Arial"/>
              </a:rPr>
              <a:t>Оператор + создал другой список.</a:t>
            </a:r>
          </a:p>
          <a:p xmlns:a="http://schemas.openxmlformats.org/drawingml/2006/main">
            <a:pPr algn="l">
              <a:defRPr sz="2175" b="0">
                <a:solidFill>
                  <a:srgbClr val="535A61"/>
                </a:solidFill>
                <a:latin typeface="Arial"/>
                <a:ea typeface="Arial"/>
                <a:cs typeface="Arial"/>
              </a:defRPr>
            </a:pPr>
            <a:r>
              <a:rPr sz="2175" b="0">
                <a:solidFill>
                  <a:srgbClr val="535A61"/>
                </a:solidFill>
                <a:latin typeface="Arial"/>
                <a:ea typeface="Arial"/>
                <a:cs typeface="Arial"/>
              </a:rPr>
              <a:t>Имя b осталось связано с исходным.</a:t>
            </a:r>
          </a:p>
        </p:txBody>
      </p:sp>
      <p:sp>
        <p:nvSpPr>
          <p:cNvPr id="9" name="surface-548">
            <a:extLst xmlns:a="http://schemas.openxmlformats.org/drawingml/2006/main">
              <a:ext uri="{FF2B5EF4-FFF2-40B4-BE49-F238E27FC236}">
                <a16:creationId xmlns:a16="http://schemas.microsoft.com/office/drawing/2014/main" id="{D8404C50-D632-45D8-95CA-211C3E532B2E}"/>
              </a:ext>
            </a:extLst>
          </p:cNvPr>
          <p:cNvSpPr>
            <a:spLocks xmlns:a="http://schemas.openxmlformats.org/drawingml/2006/main" noGrp="1"/>
          </p:cNvSpPr>
          <p:nvPr/>
        </p:nvSpPr>
        <p:spPr>
          <a:xfrm xmlns:a="http://schemas.openxmlformats.org/drawingml/2006/main">
            <a:off x="1781175" y="3314700"/>
            <a:ext cx="9725025"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0" name="text-549">
            <a:extLst xmlns:a="http://schemas.openxmlformats.org/drawingml/2006/main">
              <a:ext uri="{FF2B5EF4-FFF2-40B4-BE49-F238E27FC236}">
                <a16:creationId xmlns:a16="http://schemas.microsoft.com/office/drawing/2014/main" id="{571228E4-4E2A-4359-BA5F-A3C0108E0102}"/>
              </a:ext>
            </a:extLst>
          </p:cNvPr>
          <p:cNvSpPr>
            <a:spLocks xmlns:a="http://schemas.openxmlformats.org/drawingml/2006/main" noGrp="1"/>
          </p:cNvSpPr>
          <p:nvPr/>
        </p:nvSpPr>
        <p:spPr>
          <a:xfrm xmlns:a="http://schemas.openxmlformats.org/drawingml/2006/main">
            <a:off x="685800" y="3552825"/>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86DA6"/>
                </a:solidFill>
                <a:latin typeface="Arial"/>
                <a:ea typeface="Arial"/>
                <a:cs typeface="Arial"/>
              </a:defRPr>
            </a:pPr>
            <a:r>
              <a:rPr sz="3375" b="1">
                <a:solidFill>
                  <a:srgbClr val="286DA6"/>
                </a:solidFill>
                <a:latin typeface="Arial"/>
                <a:ea typeface="Arial"/>
                <a:cs typeface="Arial"/>
              </a:rPr>
              <a:t>B</a:t>
            </a:r>
          </a:p>
        </p:txBody>
      </p:sp>
      <p:sp>
        <p:nvSpPr>
          <p:cNvPr id="11" name="text-550">
            <a:extLst xmlns:a="http://schemas.openxmlformats.org/drawingml/2006/main">
              <a:ext uri="{FF2B5EF4-FFF2-40B4-BE49-F238E27FC236}">
                <a16:creationId xmlns:a16="http://schemas.microsoft.com/office/drawing/2014/main" id="{B5DECE3D-2429-4295-BD98-45F204BF4716}"/>
              </a:ext>
            </a:extLst>
          </p:cNvPr>
          <p:cNvSpPr>
            <a:spLocks xmlns:a="http://schemas.openxmlformats.org/drawingml/2006/main" noGrp="1"/>
          </p:cNvSpPr>
          <p:nvPr/>
        </p:nvSpPr>
        <p:spPr>
          <a:xfrm xmlns:a="http://schemas.openxmlformats.org/drawingml/2006/main">
            <a:off x="1781175" y="3552825"/>
            <a:ext cx="3438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31518"/>
                </a:solidFill>
                <a:latin typeface="Courier New"/>
                <a:ea typeface="Courier New"/>
                <a:cs typeface="Courier New"/>
              </a:defRPr>
            </a:pPr>
            <a:r>
              <a:rPr sz="2400" b="1">
                <a:solidFill>
                  <a:srgbClr val="131518"/>
                </a:solidFill>
                <a:latin typeface="Courier New"/>
                <a:ea typeface="Courier New"/>
                <a:cs typeface="Courier New"/>
              </a:rPr>
              <a:t>TypeError</a:t>
            </a:r>
          </a:p>
        </p:txBody>
      </p:sp>
      <p:sp>
        <p:nvSpPr>
          <p:cNvPr id="12" name="text-551">
            <a:extLst xmlns:a="http://schemas.openxmlformats.org/drawingml/2006/main">
              <a:ext uri="{FF2B5EF4-FFF2-40B4-BE49-F238E27FC236}">
                <a16:creationId xmlns:a16="http://schemas.microsoft.com/office/drawing/2014/main" id="{B9F9E74C-9EC6-4490-AC60-7CB13778F94E}"/>
              </a:ext>
            </a:extLst>
          </p:cNvPr>
          <p:cNvSpPr>
            <a:spLocks xmlns:a="http://schemas.openxmlformats.org/drawingml/2006/main" noGrp="1"/>
          </p:cNvSpPr>
          <p:nvPr/>
        </p:nvSpPr>
        <p:spPr>
          <a:xfrm xmlns:a="http://schemas.openxmlformats.org/drawingml/2006/main">
            <a:off x="5657850" y="3552825"/>
            <a:ext cx="5848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5A61"/>
                </a:solidFill>
                <a:latin typeface="Arial"/>
                <a:ea typeface="Arial"/>
                <a:cs typeface="Arial"/>
              </a:defRPr>
            </a:pPr>
            <a:r>
              <a:rPr sz="2175" b="0">
                <a:solidFill>
                  <a:srgbClr val="535A61"/>
                </a:solidFill>
                <a:latin typeface="Arial"/>
                <a:ea typeface="Arial"/>
                <a:cs typeface="Arial"/>
              </a:rPr>
              <a:t>Кортеж хешируется только тогда,</a:t>
            </a:r>
          </a:p>
          <a:p xmlns:a="http://schemas.openxmlformats.org/drawingml/2006/main">
            <a:pPr algn="l">
              <a:defRPr sz="2175" b="0">
                <a:solidFill>
                  <a:srgbClr val="535A61"/>
                </a:solidFill>
                <a:latin typeface="Arial"/>
                <a:ea typeface="Arial"/>
                <a:cs typeface="Arial"/>
              </a:defRPr>
            </a:pPr>
            <a:r>
              <a:rPr sz="2175" b="0">
                <a:solidFill>
                  <a:srgbClr val="535A61"/>
                </a:solidFill>
                <a:latin typeface="Arial"/>
                <a:ea typeface="Arial"/>
                <a:cs typeface="Arial"/>
              </a:rPr>
              <a:t>когда хешируются все его элементы.</a:t>
            </a:r>
          </a:p>
        </p:txBody>
      </p:sp>
      <p:sp>
        <p:nvSpPr>
          <p:cNvPr id="13" name="surface-552">
            <a:extLst xmlns:a="http://schemas.openxmlformats.org/drawingml/2006/main">
              <a:ext uri="{FF2B5EF4-FFF2-40B4-BE49-F238E27FC236}">
                <a16:creationId xmlns:a16="http://schemas.microsoft.com/office/drawing/2014/main" id="{0C4AB6AB-2DBB-4AEC-B5E4-50599D076F43}"/>
              </a:ext>
            </a:extLst>
          </p:cNvPr>
          <p:cNvSpPr>
            <a:spLocks xmlns:a="http://schemas.openxmlformats.org/drawingml/2006/main" noGrp="1"/>
          </p:cNvSpPr>
          <p:nvPr/>
        </p:nvSpPr>
        <p:spPr>
          <a:xfrm xmlns:a="http://schemas.openxmlformats.org/drawingml/2006/main">
            <a:off x="1781175" y="4629150"/>
            <a:ext cx="9725025"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4" name="text-553">
            <a:extLst xmlns:a="http://schemas.openxmlformats.org/drawingml/2006/main">
              <a:ext uri="{FF2B5EF4-FFF2-40B4-BE49-F238E27FC236}">
                <a16:creationId xmlns:a16="http://schemas.microsoft.com/office/drawing/2014/main" id="{27A09645-661C-4CEA-8206-53598AD0C167}"/>
              </a:ext>
            </a:extLst>
          </p:cNvPr>
          <p:cNvSpPr>
            <a:spLocks xmlns:a="http://schemas.openxmlformats.org/drawingml/2006/main" noGrp="1"/>
          </p:cNvSpPr>
          <p:nvPr/>
        </p:nvSpPr>
        <p:spPr>
          <a:xfrm xmlns:a="http://schemas.openxmlformats.org/drawingml/2006/main">
            <a:off x="685800" y="4867275"/>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86DA6"/>
                </a:solidFill>
                <a:latin typeface="Arial"/>
                <a:ea typeface="Arial"/>
                <a:cs typeface="Arial"/>
              </a:defRPr>
            </a:pPr>
            <a:r>
              <a:rPr sz="3375" b="1">
                <a:solidFill>
                  <a:srgbClr val="286DA6"/>
                </a:solidFill>
                <a:latin typeface="Arial"/>
                <a:ea typeface="Arial"/>
                <a:cs typeface="Arial"/>
              </a:rPr>
              <a:t>C</a:t>
            </a:r>
          </a:p>
        </p:txBody>
      </p:sp>
      <p:sp>
        <p:nvSpPr>
          <p:cNvPr id="15" name="text-554">
            <a:extLst xmlns:a="http://schemas.openxmlformats.org/drawingml/2006/main">
              <a:ext uri="{FF2B5EF4-FFF2-40B4-BE49-F238E27FC236}">
                <a16:creationId xmlns:a16="http://schemas.microsoft.com/office/drawing/2014/main" id="{5644A00A-A648-4A84-996F-28521C41DC25}"/>
              </a:ext>
            </a:extLst>
          </p:cNvPr>
          <p:cNvSpPr>
            <a:spLocks xmlns:a="http://schemas.openxmlformats.org/drawingml/2006/main" noGrp="1"/>
          </p:cNvSpPr>
          <p:nvPr/>
        </p:nvSpPr>
        <p:spPr>
          <a:xfrm xmlns:a="http://schemas.openxmlformats.org/drawingml/2006/main">
            <a:off x="1781175" y="4867275"/>
            <a:ext cx="3438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31518"/>
                </a:solidFill>
                <a:latin typeface="Courier New"/>
                <a:ea typeface="Courier New"/>
                <a:cs typeface="Courier New"/>
              </a:defRPr>
            </a:pPr>
            <a:r>
              <a:rPr sz="2400" b="1">
                <a:solidFill>
                  <a:srgbClr val="131518"/>
                </a:solidFill>
                <a:latin typeface="Courier New"/>
                <a:ea typeface="Courier New"/>
                <a:cs typeface="Courier New"/>
              </a:rPr>
              <a:t>[0, 1, 2]  []</a:t>
            </a:r>
          </a:p>
        </p:txBody>
      </p:sp>
      <p:sp>
        <p:nvSpPr>
          <p:cNvPr id="16" name="text-555">
            <a:extLst xmlns:a="http://schemas.openxmlformats.org/drawingml/2006/main">
              <a:ext uri="{FF2B5EF4-FFF2-40B4-BE49-F238E27FC236}">
                <a16:creationId xmlns:a16="http://schemas.microsoft.com/office/drawing/2014/main" id="{A0A2901E-EB4B-4089-A8AF-EBEEC2F658C7}"/>
              </a:ext>
            </a:extLst>
          </p:cNvPr>
          <p:cNvSpPr>
            <a:spLocks xmlns:a="http://schemas.openxmlformats.org/drawingml/2006/main" noGrp="1"/>
          </p:cNvSpPr>
          <p:nvPr/>
        </p:nvSpPr>
        <p:spPr>
          <a:xfrm xmlns:a="http://schemas.openxmlformats.org/drawingml/2006/main">
            <a:off x="5657850" y="4867275"/>
            <a:ext cx="5848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5A61"/>
                </a:solidFill>
                <a:latin typeface="Arial"/>
                <a:ea typeface="Arial"/>
                <a:cs typeface="Arial"/>
              </a:defRPr>
            </a:pPr>
            <a:r>
              <a:rPr sz="2175" b="0">
                <a:solidFill>
                  <a:srgbClr val="535A61"/>
                </a:solidFill>
                <a:latin typeface="Arial"/>
                <a:ea typeface="Arial"/>
                <a:cs typeface="Arial"/>
              </a:rPr>
              <a:t>Первый list(g) исчерпал генератор.</a:t>
            </a:r>
          </a:p>
          <a:p xmlns:a="http://schemas.openxmlformats.org/drawingml/2006/main">
            <a:pPr algn="l">
              <a:defRPr sz="2175" b="0">
                <a:solidFill>
                  <a:srgbClr val="535A61"/>
                </a:solidFill>
                <a:latin typeface="Arial"/>
                <a:ea typeface="Arial"/>
                <a:cs typeface="Arial"/>
              </a:defRPr>
            </a:pPr>
            <a:r>
              <a:rPr sz="2175" b="0">
                <a:solidFill>
                  <a:srgbClr val="535A61"/>
                </a:solidFill>
                <a:latin typeface="Arial"/>
                <a:ea typeface="Arial"/>
                <a:cs typeface="Arial"/>
              </a:rPr>
              <a:t>Второму проходу ничего не осталось.</a:t>
            </a:r>
          </a:p>
        </p:txBody>
      </p:sp>
    </p:spTree>
    <p:extLst>
      <p:ext uri="{BB962C8B-B14F-4D97-AF65-F5344CB8AC3E}">
        <p14:creationId xmlns:p14="http://schemas.microsoft.com/office/powerpoint/2010/main" val="150889609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556">
            <a:extLst xmlns:a="http://schemas.openxmlformats.org/drawingml/2006/main">
              <a:ext uri="{FF2B5EF4-FFF2-40B4-BE49-F238E27FC236}">
                <a16:creationId xmlns:a16="http://schemas.microsoft.com/office/drawing/2014/main" id="{FF44EFF5-FE6C-428E-8574-9C2B5EBF2C35}"/>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05 / СОБСТВЕННЫЕ ТИПЫ</a:t>
            </a:r>
          </a:p>
        </p:txBody>
      </p:sp>
      <p:sp>
        <p:nvSpPr>
          <p:cNvPr id="2" name="title-35">
            <a:extLst xmlns:a="http://schemas.openxmlformats.org/drawingml/2006/main">
              <a:ext uri="{FF2B5EF4-FFF2-40B4-BE49-F238E27FC236}">
                <a16:creationId xmlns:a16="http://schemas.microsoft.com/office/drawing/2014/main" id="{DA44E454-EC1B-4F00-9673-56932A64D79E}"/>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Протокол задаёт поведение объекта</a:t>
            </a:r>
          </a:p>
        </p:txBody>
      </p:sp>
      <p:sp>
        <p:nvSpPr>
          <p:cNvPr id="3" name="text-557">
            <a:extLst xmlns:a="http://schemas.openxmlformats.org/drawingml/2006/main">
              <a:ext uri="{FF2B5EF4-FFF2-40B4-BE49-F238E27FC236}">
                <a16:creationId xmlns:a16="http://schemas.microsoft.com/office/drawing/2014/main" id="{C8B493A4-9D57-4E01-A6C0-9C26E24338EB}"/>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Объект поддерживает операцию, если его тип реализует нужный интерфейс.</a:t>
            </a:r>
          </a:p>
        </p:txBody>
      </p:sp>
      <p:sp>
        <p:nvSpPr>
          <p:cNvPr id="4" name="surface-558">
            <a:extLst xmlns:a="http://schemas.openxmlformats.org/drawingml/2006/main">
              <a:ext uri="{FF2B5EF4-FFF2-40B4-BE49-F238E27FC236}">
                <a16:creationId xmlns:a16="http://schemas.microsoft.com/office/drawing/2014/main" id="{E7218F55-26B6-4F36-AAE7-75D6EE536967}"/>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559">
            <a:extLst xmlns:a="http://schemas.openxmlformats.org/drawingml/2006/main">
              <a:ext uri="{FF2B5EF4-FFF2-40B4-BE49-F238E27FC236}">
                <a16:creationId xmlns:a16="http://schemas.microsoft.com/office/drawing/2014/main" id="{82DC8951-C381-45B6-A984-CBF786921354}"/>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560">
            <a:extLst xmlns:a="http://schemas.openxmlformats.org/drawingml/2006/main">
              <a:ext uri="{FF2B5EF4-FFF2-40B4-BE49-F238E27FC236}">
                <a16:creationId xmlns:a16="http://schemas.microsoft.com/office/drawing/2014/main" id="{F9B45DC1-5474-4C06-815A-7E8E60467338}"/>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35</a:t>
            </a:r>
          </a:p>
        </p:txBody>
      </p:sp>
      <p:sp>
        <p:nvSpPr>
          <p:cNvPr id="7" name="surface-561">
            <a:extLst xmlns:a="http://schemas.openxmlformats.org/drawingml/2006/main">
              <a:ext uri="{FF2B5EF4-FFF2-40B4-BE49-F238E27FC236}">
                <a16:creationId xmlns:a16="http://schemas.microsoft.com/office/drawing/2014/main" id="{E5121F1B-FE61-415E-963F-6DC0664F7EBD}"/>
              </a:ext>
            </a:extLst>
          </p:cNvPr>
          <p:cNvSpPr>
            <a:spLocks xmlns:a="http://schemas.openxmlformats.org/drawingml/2006/main" noGrp="1"/>
          </p:cNvSpPr>
          <p:nvPr/>
        </p:nvSpPr>
        <p:spPr>
          <a:xfrm xmlns:a="http://schemas.openxmlformats.org/drawingml/2006/main">
            <a:off x="685800" y="2190750"/>
            <a:ext cx="6724650" cy="3460432"/>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35-562">
            <a:extLst xmlns:a="http://schemas.openxmlformats.org/drawingml/2006/main">
              <a:ext uri="{FF2B5EF4-FFF2-40B4-BE49-F238E27FC236}">
                <a16:creationId xmlns:a16="http://schemas.microsoft.com/office/drawing/2014/main" id="{49C8D813-03BA-472E-9864-E7BC06A93772}"/>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1">
                <a:solidFill>
                  <a:srgbClr val="286DA6"/>
                </a:solidFill>
                <a:latin typeface="Courier New"/>
                <a:ea typeface="Courier New"/>
                <a:cs typeface="Courier New"/>
              </a:rPr>
              <a:t>class</a:t>
            </a:r>
            <a:r>
              <a:rPr sz="1988" b="0">
                <a:solidFill>
                  <a:srgbClr val="131518"/>
                </a:solidFill>
                <a:latin typeface="Courier New"/>
                <a:ea typeface="Courier New"/>
                <a:cs typeface="Courier New"/>
              </a:rPr>
              <a:t> Group:</a:t>
            </a:r>
          </a:p>
        </p:txBody>
      </p:sp>
      <p:sp>
        <p:nvSpPr>
          <p:cNvPr id="9" name="code-35-563">
            <a:extLst xmlns:a="http://schemas.openxmlformats.org/drawingml/2006/main">
              <a:ext uri="{FF2B5EF4-FFF2-40B4-BE49-F238E27FC236}">
                <a16:creationId xmlns:a16="http://schemas.microsoft.com/office/drawing/2014/main" id="{8ECDF527-C411-4AE6-B2F1-47221CF6D3B5}"/>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r>
              <a:rPr sz="1988" b="1">
                <a:solidFill>
                  <a:srgbClr val="286DA6"/>
                </a:solidFill>
                <a:latin typeface="Courier New"/>
                <a:ea typeface="Courier New"/>
                <a:cs typeface="Courier New"/>
              </a:rPr>
              <a:t>def</a:t>
            </a:r>
            <a:r>
              <a:rPr sz="1988" b="0">
                <a:solidFill>
                  <a:srgbClr val="131518"/>
                </a:solidFill>
                <a:latin typeface="Courier New"/>
                <a:ea typeface="Courier New"/>
                <a:cs typeface="Courier New"/>
              </a:rPr>
              <a:t> __init__(self, names):</a:t>
            </a:r>
          </a:p>
        </p:txBody>
      </p:sp>
      <p:sp>
        <p:nvSpPr>
          <p:cNvPr id="10" name="code-35-564">
            <a:extLst xmlns:a="http://schemas.openxmlformats.org/drawingml/2006/main">
              <a:ext uri="{FF2B5EF4-FFF2-40B4-BE49-F238E27FC236}">
                <a16:creationId xmlns:a16="http://schemas.microsoft.com/office/drawing/2014/main" id="{4003E563-2644-4DBA-800D-F25EE28FA130}"/>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self.names = list(names)</a:t>
            </a:r>
          </a:p>
        </p:txBody>
      </p:sp>
      <p:sp>
        <p:nvSpPr>
          <p:cNvPr id="11" name="code-35-565">
            <a:extLst xmlns:a="http://schemas.openxmlformats.org/drawingml/2006/main">
              <a:ext uri="{FF2B5EF4-FFF2-40B4-BE49-F238E27FC236}">
                <a16:creationId xmlns:a16="http://schemas.microsoft.com/office/drawing/2014/main" id="{761BC310-A040-4C40-AAC1-59DCFD73DC4B}"/>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2" name="code-35-566">
            <a:extLst xmlns:a="http://schemas.openxmlformats.org/drawingml/2006/main">
              <a:ext uri="{FF2B5EF4-FFF2-40B4-BE49-F238E27FC236}">
                <a16:creationId xmlns:a16="http://schemas.microsoft.com/office/drawing/2014/main" id="{8EA5B792-BC1E-4A7F-960A-E2E0267CFF1B}"/>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r>
              <a:rPr sz="1988" b="1">
                <a:solidFill>
                  <a:srgbClr val="286DA6"/>
                </a:solidFill>
                <a:latin typeface="Courier New"/>
                <a:ea typeface="Courier New"/>
                <a:cs typeface="Courier New"/>
              </a:rPr>
              <a:t>def</a:t>
            </a:r>
            <a:r>
              <a:rPr sz="1988" b="0">
                <a:solidFill>
                  <a:srgbClr val="131518"/>
                </a:solidFill>
                <a:latin typeface="Courier New"/>
                <a:ea typeface="Courier New"/>
                <a:cs typeface="Courier New"/>
              </a:rPr>
              <a:t> __len__(self):</a:t>
            </a:r>
          </a:p>
        </p:txBody>
      </p:sp>
      <p:sp>
        <p:nvSpPr>
          <p:cNvPr id="13" name="code-35-567">
            <a:extLst xmlns:a="http://schemas.openxmlformats.org/drawingml/2006/main">
              <a:ext uri="{FF2B5EF4-FFF2-40B4-BE49-F238E27FC236}">
                <a16:creationId xmlns:a16="http://schemas.microsoft.com/office/drawing/2014/main" id="{358D8E56-E55C-48B9-B922-EBFD420BE612}"/>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r>
              <a:rPr sz="1988" b="1">
                <a:solidFill>
                  <a:srgbClr val="286DA6"/>
                </a:solidFill>
                <a:latin typeface="Courier New"/>
                <a:ea typeface="Courier New"/>
                <a:cs typeface="Courier New"/>
              </a:rPr>
              <a:t>return</a:t>
            </a:r>
            <a:r>
              <a:rPr sz="1988" b="0">
                <a:solidFill>
                  <a:srgbClr val="131518"/>
                </a:solidFill>
                <a:latin typeface="Courier New"/>
                <a:ea typeface="Courier New"/>
                <a:cs typeface="Courier New"/>
              </a:rPr>
              <a:t> len(self.names)</a:t>
            </a:r>
          </a:p>
        </p:txBody>
      </p:sp>
      <p:sp>
        <p:nvSpPr>
          <p:cNvPr id="14" name="code-35-568">
            <a:extLst xmlns:a="http://schemas.openxmlformats.org/drawingml/2006/main">
              <a:ext uri="{FF2B5EF4-FFF2-40B4-BE49-F238E27FC236}">
                <a16:creationId xmlns:a16="http://schemas.microsoft.com/office/drawing/2014/main" id="{8FD37282-05EE-4D73-80E6-ACFDD868316E}"/>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5" name="code-35-569">
            <a:extLst xmlns:a="http://schemas.openxmlformats.org/drawingml/2006/main">
              <a:ext uri="{FF2B5EF4-FFF2-40B4-BE49-F238E27FC236}">
                <a16:creationId xmlns:a16="http://schemas.microsoft.com/office/drawing/2014/main" id="{F1612E40-AA0D-44F9-AD54-52BB2F13A7C4}"/>
              </a:ext>
            </a:extLst>
          </p:cNvPr>
          <p:cNvSpPr>
            <a:spLocks xmlns:a="http://schemas.openxmlformats.org/drawingml/2006/main" noGrp="1"/>
          </p:cNvSpPr>
          <p:nvPr/>
        </p:nvSpPr>
        <p:spPr>
          <a:xfrm xmlns:a="http://schemas.openxmlformats.org/drawingml/2006/main">
            <a:off x="876300" y="453685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g = Group(["Анна", "Илья"])</a:t>
            </a:r>
          </a:p>
        </p:txBody>
      </p:sp>
      <p:sp>
        <p:nvSpPr>
          <p:cNvPr id="16" name="code-35-570">
            <a:extLst xmlns:a="http://schemas.openxmlformats.org/drawingml/2006/main">
              <a:ext uri="{FF2B5EF4-FFF2-40B4-BE49-F238E27FC236}">
                <a16:creationId xmlns:a16="http://schemas.microsoft.com/office/drawing/2014/main" id="{9D50FF88-31F8-4247-8AD4-41ADE3BABFE6}"/>
              </a:ext>
            </a:extLst>
          </p:cNvPr>
          <p:cNvSpPr>
            <a:spLocks xmlns:a="http://schemas.openxmlformats.org/drawingml/2006/main" noGrp="1"/>
          </p:cNvSpPr>
          <p:nvPr/>
        </p:nvSpPr>
        <p:spPr>
          <a:xfrm xmlns:a="http://schemas.openxmlformats.org/drawingml/2006/main">
            <a:off x="876300" y="484479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len(g)   </a:t>
            </a:r>
            <a:r>
              <a:rPr sz="1988" b="0">
                <a:solidFill>
                  <a:srgbClr val="535A61"/>
                </a:solidFill>
                <a:latin typeface="Courier New"/>
                <a:ea typeface="Courier New"/>
                <a:cs typeface="Courier New"/>
              </a:rPr>
              <a:t># 2</a:t>
            </a:r>
          </a:p>
        </p:txBody>
      </p:sp>
      <p:sp>
        <p:nvSpPr>
          <p:cNvPr id="17" name="code-35-571">
            <a:extLst xmlns:a="http://schemas.openxmlformats.org/drawingml/2006/main">
              <a:ext uri="{FF2B5EF4-FFF2-40B4-BE49-F238E27FC236}">
                <a16:creationId xmlns:a16="http://schemas.microsoft.com/office/drawing/2014/main" id="{430BEFDE-F539-4BDB-93F8-4521FE4BCFC1}"/>
              </a:ext>
            </a:extLst>
          </p:cNvPr>
          <p:cNvSpPr>
            <a:spLocks xmlns:a="http://schemas.openxmlformats.org/drawingml/2006/main" noGrp="1"/>
          </p:cNvSpPr>
          <p:nvPr/>
        </p:nvSpPr>
        <p:spPr>
          <a:xfrm xmlns:a="http://schemas.openxmlformats.org/drawingml/2006/main">
            <a:off x="876300" y="5152739"/>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bool(g)  </a:t>
            </a:r>
            <a:r>
              <a:rPr sz="1988" b="0">
                <a:solidFill>
                  <a:srgbClr val="535A61"/>
                </a:solidFill>
                <a:latin typeface="Courier New"/>
                <a:ea typeface="Courier New"/>
                <a:cs typeface="Courier New"/>
              </a:rPr>
              <a:t># True</a:t>
            </a:r>
          </a:p>
        </p:txBody>
      </p:sp>
      <p:sp>
        <p:nvSpPr>
          <p:cNvPr id="18" name="text-572">
            <a:extLst xmlns:a="http://schemas.openxmlformats.org/drawingml/2006/main">
              <a:ext uri="{FF2B5EF4-FFF2-40B4-BE49-F238E27FC236}">
                <a16:creationId xmlns:a16="http://schemas.microsoft.com/office/drawing/2014/main" id="{3333F20D-7979-4BD4-8307-3FA0A1FCCB91}"/>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Специальные методы</a:t>
            </a:r>
          </a:p>
        </p:txBody>
      </p:sp>
      <p:sp>
        <p:nvSpPr>
          <p:cNvPr id="19" name="text-573">
            <a:extLst xmlns:a="http://schemas.openxmlformats.org/drawingml/2006/main">
              <a:ext uri="{FF2B5EF4-FFF2-40B4-BE49-F238E27FC236}">
                <a16:creationId xmlns:a16="http://schemas.microsoft.com/office/drawing/2014/main" id="{CCE293F4-2507-4B52-BFB8-EC0EB467C42A}"/>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len → __len__</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iter → __iter__</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 → __eq__</a:t>
            </a:r>
          </a:p>
        </p:txBody>
      </p:sp>
      <p:sp>
        <p:nvSpPr>
          <p:cNvPr id="20" name="text-574">
            <a:extLst xmlns:a="http://schemas.openxmlformats.org/drawingml/2006/main">
              <a:ext uri="{FF2B5EF4-FFF2-40B4-BE49-F238E27FC236}">
                <a16:creationId xmlns:a16="http://schemas.microsoft.com/office/drawing/2014/main" id="{744C1929-B5B7-4703-8752-F6354C40422F}"/>
              </a:ext>
            </a:extLst>
          </p:cNvPr>
          <p:cNvSpPr>
            <a:spLocks xmlns:a="http://schemas.openxmlformats.org/drawingml/2006/main" noGrp="1"/>
          </p:cNvSpPr>
          <p:nvPr/>
        </p:nvSpPr>
        <p:spPr>
          <a:xfrm xmlns:a="http://schemas.openxmlformats.org/drawingml/2006/main">
            <a:off x="7905750" y="38862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Duck typing</a:t>
            </a:r>
          </a:p>
        </p:txBody>
      </p:sp>
      <p:sp>
        <p:nvSpPr>
          <p:cNvPr id="21" name="text-575">
            <a:extLst xmlns:a="http://schemas.openxmlformats.org/drawingml/2006/main">
              <a:ext uri="{FF2B5EF4-FFF2-40B4-BE49-F238E27FC236}">
                <a16:creationId xmlns:a16="http://schemas.microsoft.com/office/drawing/2014/main" id="{F3FE3737-3A9C-42B5-B440-83344C6957F3}"/>
              </a:ext>
            </a:extLst>
          </p:cNvPr>
          <p:cNvSpPr>
            <a:spLocks xmlns:a="http://schemas.openxmlformats.org/drawingml/2006/main" noGrp="1"/>
          </p:cNvSpPr>
          <p:nvPr/>
        </p:nvSpPr>
        <p:spPr>
          <a:xfrm xmlns:a="http://schemas.openxmlformats.org/drawingml/2006/main">
            <a:off x="7905750" y="43338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Важна поддерживаемая операция,</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а не только имя класса.</a:t>
            </a:r>
          </a:p>
        </p:txBody>
      </p:sp>
    </p:spTree>
    <p:extLst>
      <p:ext uri="{BB962C8B-B14F-4D97-AF65-F5344CB8AC3E}">
        <p14:creationId xmlns:p14="http://schemas.microsoft.com/office/powerpoint/2010/main" val="2372304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576">
            <a:extLst xmlns:a="http://schemas.openxmlformats.org/drawingml/2006/main">
              <a:ext uri="{FF2B5EF4-FFF2-40B4-BE49-F238E27FC236}">
                <a16:creationId xmlns:a16="http://schemas.microsoft.com/office/drawing/2014/main" id="{92D31C78-15F0-4A72-B417-3B1DDABFBC86}"/>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05 / ЗАПИСИ С ПОЛЯМИ</a:t>
            </a:r>
          </a:p>
        </p:txBody>
      </p:sp>
      <p:sp>
        <p:nvSpPr>
          <p:cNvPr id="2" name="title-36">
            <a:extLst xmlns:a="http://schemas.openxmlformats.org/drawingml/2006/main">
              <a:ext uri="{FF2B5EF4-FFF2-40B4-BE49-F238E27FC236}">
                <a16:creationId xmlns:a16="http://schemas.microsoft.com/office/drawing/2014/main" id="{40AC54F5-0BC6-4FEB-8E45-EF2A067D5A3E}"/>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dataclass делает структуру явной</a:t>
            </a:r>
          </a:p>
        </p:txBody>
      </p:sp>
      <p:sp>
        <p:nvSpPr>
          <p:cNvPr id="3" name="text-577">
            <a:extLst xmlns:a="http://schemas.openxmlformats.org/drawingml/2006/main">
              <a:ext uri="{FF2B5EF4-FFF2-40B4-BE49-F238E27FC236}">
                <a16:creationId xmlns:a16="http://schemas.microsoft.com/office/drawing/2014/main" id="{7BDF69A0-AC9F-400B-8666-362969414969}"/>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Для связанных полей полезнее собственный тип, чем набор безымянных позиций.</a:t>
            </a:r>
          </a:p>
        </p:txBody>
      </p:sp>
      <p:sp>
        <p:nvSpPr>
          <p:cNvPr id="4" name="surface-578">
            <a:extLst xmlns:a="http://schemas.openxmlformats.org/drawingml/2006/main">
              <a:ext uri="{FF2B5EF4-FFF2-40B4-BE49-F238E27FC236}">
                <a16:creationId xmlns:a16="http://schemas.microsoft.com/office/drawing/2014/main" id="{814BD183-B96D-4184-BA9D-F447B3BEA227}"/>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579">
            <a:extLst xmlns:a="http://schemas.openxmlformats.org/drawingml/2006/main">
              <a:ext uri="{FF2B5EF4-FFF2-40B4-BE49-F238E27FC236}">
                <a16:creationId xmlns:a16="http://schemas.microsoft.com/office/drawing/2014/main" id="{FFCA5091-27B5-480B-9833-2795FC75A842}"/>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580">
            <a:extLst xmlns:a="http://schemas.openxmlformats.org/drawingml/2006/main">
              <a:ext uri="{FF2B5EF4-FFF2-40B4-BE49-F238E27FC236}">
                <a16:creationId xmlns:a16="http://schemas.microsoft.com/office/drawing/2014/main" id="{8A94B232-3C7E-419F-A85B-A45515901183}"/>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36</a:t>
            </a:r>
          </a:p>
        </p:txBody>
      </p:sp>
      <p:sp>
        <p:nvSpPr>
          <p:cNvPr id="7" name="surface-581">
            <a:extLst xmlns:a="http://schemas.openxmlformats.org/drawingml/2006/main">
              <a:ext uri="{FF2B5EF4-FFF2-40B4-BE49-F238E27FC236}">
                <a16:creationId xmlns:a16="http://schemas.microsoft.com/office/drawing/2014/main" id="{E5A3DDAF-A042-4CBF-B68A-D874B7EB3F69}"/>
              </a:ext>
            </a:extLst>
          </p:cNvPr>
          <p:cNvSpPr>
            <a:spLocks xmlns:a="http://schemas.openxmlformats.org/drawingml/2006/main" noGrp="1"/>
          </p:cNvSpPr>
          <p:nvPr/>
        </p:nvSpPr>
        <p:spPr>
          <a:xfrm xmlns:a="http://schemas.openxmlformats.org/drawingml/2006/main">
            <a:off x="685800" y="2190750"/>
            <a:ext cx="6724650" cy="3576638"/>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36-582">
            <a:extLst xmlns:a="http://schemas.openxmlformats.org/drawingml/2006/main">
              <a:ext uri="{FF2B5EF4-FFF2-40B4-BE49-F238E27FC236}">
                <a16:creationId xmlns:a16="http://schemas.microsoft.com/office/drawing/2014/main" id="{46B6A3C3-8268-4295-830E-FD0E030FE3BC}"/>
              </a:ext>
            </a:extLst>
          </p:cNvPr>
          <p:cNvSpPr>
            <a:spLocks xmlns:a="http://schemas.openxmlformats.org/drawingml/2006/main" noGrp="1"/>
          </p:cNvSpPr>
          <p:nvPr/>
        </p:nvSpPr>
        <p:spPr>
          <a:xfrm xmlns:a="http://schemas.openxmlformats.org/drawingml/2006/main">
            <a:off x="876300" y="2381250"/>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1">
                <a:solidFill>
                  <a:srgbClr val="286DA6"/>
                </a:solidFill>
                <a:latin typeface="Courier New"/>
                <a:ea typeface="Courier New"/>
                <a:cs typeface="Courier New"/>
              </a:rPr>
              <a:t>from</a:t>
            </a:r>
            <a:r>
              <a:rPr sz="1875" b="0">
                <a:solidFill>
                  <a:srgbClr val="131518"/>
                </a:solidFill>
                <a:latin typeface="Courier New"/>
                <a:ea typeface="Courier New"/>
                <a:cs typeface="Courier New"/>
              </a:rPr>
              <a:t> dataclasses </a:t>
            </a:r>
            <a:r>
              <a:rPr sz="1875" b="1">
                <a:solidFill>
                  <a:srgbClr val="286DA6"/>
                </a:solidFill>
                <a:latin typeface="Courier New"/>
                <a:ea typeface="Courier New"/>
                <a:cs typeface="Courier New"/>
              </a:rPr>
              <a:t>import</a:t>
            </a:r>
            <a:r>
              <a:rPr sz="1875" b="0">
                <a:solidFill>
                  <a:srgbClr val="131518"/>
                </a:solidFill>
                <a:latin typeface="Courier New"/>
                <a:ea typeface="Courier New"/>
                <a:cs typeface="Courier New"/>
              </a:rPr>
              <a:t> dataclass, field</a:t>
            </a:r>
          </a:p>
        </p:txBody>
      </p:sp>
      <p:sp>
        <p:nvSpPr>
          <p:cNvPr id="9" name="code-36-583">
            <a:extLst xmlns:a="http://schemas.openxmlformats.org/drawingml/2006/main">
              <a:ext uri="{FF2B5EF4-FFF2-40B4-BE49-F238E27FC236}">
                <a16:creationId xmlns:a16="http://schemas.microsoft.com/office/drawing/2014/main" id="{2FD14AC7-0030-476D-9614-C925313D86CB}"/>
              </a:ext>
            </a:extLst>
          </p:cNvPr>
          <p:cNvSpPr>
            <a:spLocks xmlns:a="http://schemas.openxmlformats.org/drawingml/2006/main" noGrp="1"/>
          </p:cNvSpPr>
          <p:nvPr/>
        </p:nvSpPr>
        <p:spPr>
          <a:xfrm xmlns:a="http://schemas.openxmlformats.org/drawingml/2006/main">
            <a:off x="876300" y="2671763"/>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0">
                <a:solidFill>
                  <a:srgbClr val="131518"/>
                </a:solidFill>
                <a:latin typeface="Courier New"/>
                <a:ea typeface="Courier New"/>
                <a:cs typeface="Courier New"/>
              </a:rPr>
              <a:t> </a:t>
            </a:r>
          </a:p>
        </p:txBody>
      </p:sp>
      <p:sp>
        <p:nvSpPr>
          <p:cNvPr id="10" name="code-36-584">
            <a:extLst xmlns:a="http://schemas.openxmlformats.org/drawingml/2006/main">
              <a:ext uri="{FF2B5EF4-FFF2-40B4-BE49-F238E27FC236}">
                <a16:creationId xmlns:a16="http://schemas.microsoft.com/office/drawing/2014/main" id="{1B9185DA-3EFF-4BB8-973E-750F4545EC1B}"/>
              </a:ext>
            </a:extLst>
          </p:cNvPr>
          <p:cNvSpPr>
            <a:spLocks xmlns:a="http://schemas.openxmlformats.org/drawingml/2006/main" noGrp="1"/>
          </p:cNvSpPr>
          <p:nvPr/>
        </p:nvSpPr>
        <p:spPr>
          <a:xfrm xmlns:a="http://schemas.openxmlformats.org/drawingml/2006/main">
            <a:off x="876300" y="2962275"/>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0">
                <a:solidFill>
                  <a:srgbClr val="131518"/>
                </a:solidFill>
                <a:latin typeface="Courier New"/>
                <a:ea typeface="Courier New"/>
                <a:cs typeface="Courier New"/>
              </a:rPr>
              <a:t>@dataclass</a:t>
            </a:r>
          </a:p>
        </p:txBody>
      </p:sp>
      <p:sp>
        <p:nvSpPr>
          <p:cNvPr id="11" name="code-36-585">
            <a:extLst xmlns:a="http://schemas.openxmlformats.org/drawingml/2006/main">
              <a:ext uri="{FF2B5EF4-FFF2-40B4-BE49-F238E27FC236}">
                <a16:creationId xmlns:a16="http://schemas.microsoft.com/office/drawing/2014/main" id="{9C7184D4-97D6-4C46-9D91-E75695A2ED62}"/>
              </a:ext>
            </a:extLst>
          </p:cNvPr>
          <p:cNvSpPr>
            <a:spLocks xmlns:a="http://schemas.openxmlformats.org/drawingml/2006/main" noGrp="1"/>
          </p:cNvSpPr>
          <p:nvPr/>
        </p:nvSpPr>
        <p:spPr>
          <a:xfrm xmlns:a="http://schemas.openxmlformats.org/drawingml/2006/main">
            <a:off x="876300" y="3252788"/>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1">
                <a:solidFill>
                  <a:srgbClr val="286DA6"/>
                </a:solidFill>
                <a:latin typeface="Courier New"/>
                <a:ea typeface="Courier New"/>
                <a:cs typeface="Courier New"/>
              </a:rPr>
              <a:t>class</a:t>
            </a:r>
            <a:r>
              <a:rPr sz="1875" b="0">
                <a:solidFill>
                  <a:srgbClr val="131518"/>
                </a:solidFill>
                <a:latin typeface="Courier New"/>
                <a:ea typeface="Courier New"/>
                <a:cs typeface="Courier New"/>
              </a:rPr>
              <a:t> Student:</a:t>
            </a:r>
          </a:p>
        </p:txBody>
      </p:sp>
      <p:sp>
        <p:nvSpPr>
          <p:cNvPr id="12" name="code-36-586">
            <a:extLst xmlns:a="http://schemas.openxmlformats.org/drawingml/2006/main">
              <a:ext uri="{FF2B5EF4-FFF2-40B4-BE49-F238E27FC236}">
                <a16:creationId xmlns:a16="http://schemas.microsoft.com/office/drawing/2014/main" id="{BB698F15-62E2-418A-803C-56ACC3915919}"/>
              </a:ext>
            </a:extLst>
          </p:cNvPr>
          <p:cNvSpPr>
            <a:spLocks xmlns:a="http://schemas.openxmlformats.org/drawingml/2006/main" noGrp="1"/>
          </p:cNvSpPr>
          <p:nvPr/>
        </p:nvSpPr>
        <p:spPr>
          <a:xfrm xmlns:a="http://schemas.openxmlformats.org/drawingml/2006/main">
            <a:off x="876300" y="3543300"/>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0">
                <a:solidFill>
                  <a:srgbClr val="131518"/>
                </a:solidFill>
                <a:latin typeface="Courier New"/>
                <a:ea typeface="Courier New"/>
                <a:cs typeface="Courier New"/>
              </a:rPr>
              <a:t>    name: str</a:t>
            </a:r>
          </a:p>
        </p:txBody>
      </p:sp>
      <p:sp>
        <p:nvSpPr>
          <p:cNvPr id="13" name="code-36-587">
            <a:extLst xmlns:a="http://schemas.openxmlformats.org/drawingml/2006/main">
              <a:ext uri="{FF2B5EF4-FFF2-40B4-BE49-F238E27FC236}">
                <a16:creationId xmlns:a16="http://schemas.microsoft.com/office/drawing/2014/main" id="{D47BDC1A-80DB-4839-99AE-AB490D5E0D00}"/>
              </a:ext>
            </a:extLst>
          </p:cNvPr>
          <p:cNvSpPr>
            <a:spLocks xmlns:a="http://schemas.openxmlformats.org/drawingml/2006/main" noGrp="1"/>
          </p:cNvSpPr>
          <p:nvPr/>
        </p:nvSpPr>
        <p:spPr>
          <a:xfrm xmlns:a="http://schemas.openxmlformats.org/drawingml/2006/main">
            <a:off x="876300" y="3833813"/>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0">
                <a:solidFill>
                  <a:srgbClr val="131518"/>
                </a:solidFill>
                <a:latin typeface="Courier New"/>
                <a:ea typeface="Courier New"/>
                <a:cs typeface="Courier New"/>
              </a:rPr>
              <a:t>    marks: list[int] = field(</a:t>
            </a:r>
          </a:p>
        </p:txBody>
      </p:sp>
      <p:sp>
        <p:nvSpPr>
          <p:cNvPr id="14" name="code-36-588">
            <a:extLst xmlns:a="http://schemas.openxmlformats.org/drawingml/2006/main">
              <a:ext uri="{FF2B5EF4-FFF2-40B4-BE49-F238E27FC236}">
                <a16:creationId xmlns:a16="http://schemas.microsoft.com/office/drawing/2014/main" id="{889D0995-96A4-4FE8-9486-4C7D0E86F0B3}"/>
              </a:ext>
            </a:extLst>
          </p:cNvPr>
          <p:cNvSpPr>
            <a:spLocks xmlns:a="http://schemas.openxmlformats.org/drawingml/2006/main" noGrp="1"/>
          </p:cNvSpPr>
          <p:nvPr/>
        </p:nvSpPr>
        <p:spPr>
          <a:xfrm xmlns:a="http://schemas.openxmlformats.org/drawingml/2006/main">
            <a:off x="876300" y="4124325"/>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0">
                <a:solidFill>
                  <a:srgbClr val="131518"/>
                </a:solidFill>
                <a:latin typeface="Courier New"/>
                <a:ea typeface="Courier New"/>
                <a:cs typeface="Courier New"/>
              </a:rPr>
              <a:t>        default_factory=list</a:t>
            </a:r>
          </a:p>
        </p:txBody>
      </p:sp>
      <p:sp>
        <p:nvSpPr>
          <p:cNvPr id="15" name="code-36-589">
            <a:extLst xmlns:a="http://schemas.openxmlformats.org/drawingml/2006/main">
              <a:ext uri="{FF2B5EF4-FFF2-40B4-BE49-F238E27FC236}">
                <a16:creationId xmlns:a16="http://schemas.microsoft.com/office/drawing/2014/main" id="{8EFD1958-8DA9-4D6E-959A-CA1059126FE5}"/>
              </a:ext>
            </a:extLst>
          </p:cNvPr>
          <p:cNvSpPr>
            <a:spLocks xmlns:a="http://schemas.openxmlformats.org/drawingml/2006/main" noGrp="1"/>
          </p:cNvSpPr>
          <p:nvPr/>
        </p:nvSpPr>
        <p:spPr>
          <a:xfrm xmlns:a="http://schemas.openxmlformats.org/drawingml/2006/main">
            <a:off x="876300" y="4414838"/>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0">
                <a:solidFill>
                  <a:srgbClr val="131518"/>
                </a:solidFill>
                <a:latin typeface="Courier New"/>
                <a:ea typeface="Courier New"/>
                <a:cs typeface="Courier New"/>
              </a:rPr>
              <a:t>    )</a:t>
            </a:r>
          </a:p>
        </p:txBody>
      </p:sp>
      <p:sp>
        <p:nvSpPr>
          <p:cNvPr id="16" name="code-36-590">
            <a:extLst xmlns:a="http://schemas.openxmlformats.org/drawingml/2006/main">
              <a:ext uri="{FF2B5EF4-FFF2-40B4-BE49-F238E27FC236}">
                <a16:creationId xmlns:a16="http://schemas.microsoft.com/office/drawing/2014/main" id="{465E5636-9D15-4BA8-AD30-42506556FBD4}"/>
              </a:ext>
            </a:extLst>
          </p:cNvPr>
          <p:cNvSpPr>
            <a:spLocks xmlns:a="http://schemas.openxmlformats.org/drawingml/2006/main" noGrp="1"/>
          </p:cNvSpPr>
          <p:nvPr/>
        </p:nvSpPr>
        <p:spPr>
          <a:xfrm xmlns:a="http://schemas.openxmlformats.org/drawingml/2006/main">
            <a:off x="876300" y="4705350"/>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0">
                <a:solidFill>
                  <a:srgbClr val="131518"/>
                </a:solidFill>
                <a:latin typeface="Courier New"/>
                <a:ea typeface="Courier New"/>
                <a:cs typeface="Courier New"/>
              </a:rPr>
              <a:t> </a:t>
            </a:r>
          </a:p>
        </p:txBody>
      </p:sp>
      <p:sp>
        <p:nvSpPr>
          <p:cNvPr id="17" name="code-36-591">
            <a:extLst xmlns:a="http://schemas.openxmlformats.org/drawingml/2006/main">
              <a:ext uri="{FF2B5EF4-FFF2-40B4-BE49-F238E27FC236}">
                <a16:creationId xmlns:a16="http://schemas.microsoft.com/office/drawing/2014/main" id="{314B43D7-BE43-4C6F-B07F-0A5D9DB00BA8}"/>
              </a:ext>
            </a:extLst>
          </p:cNvPr>
          <p:cNvSpPr>
            <a:spLocks xmlns:a="http://schemas.openxmlformats.org/drawingml/2006/main" noGrp="1"/>
          </p:cNvSpPr>
          <p:nvPr/>
        </p:nvSpPr>
        <p:spPr>
          <a:xfrm xmlns:a="http://schemas.openxmlformats.org/drawingml/2006/main">
            <a:off x="876300" y="4995863"/>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0">
                <a:solidFill>
                  <a:srgbClr val="131518"/>
                </a:solidFill>
                <a:latin typeface="Courier New"/>
                <a:ea typeface="Courier New"/>
                <a:cs typeface="Courier New"/>
              </a:rPr>
              <a:t>s = Student("Анна")</a:t>
            </a:r>
          </a:p>
        </p:txBody>
      </p:sp>
      <p:sp>
        <p:nvSpPr>
          <p:cNvPr id="18" name="code-36-592">
            <a:extLst xmlns:a="http://schemas.openxmlformats.org/drawingml/2006/main">
              <a:ext uri="{FF2B5EF4-FFF2-40B4-BE49-F238E27FC236}">
                <a16:creationId xmlns:a16="http://schemas.microsoft.com/office/drawing/2014/main" id="{CD6C7807-1E9C-4897-BAEA-442CEEF96035}"/>
              </a:ext>
            </a:extLst>
          </p:cNvPr>
          <p:cNvSpPr>
            <a:spLocks xmlns:a="http://schemas.openxmlformats.org/drawingml/2006/main" noGrp="1"/>
          </p:cNvSpPr>
          <p:nvPr/>
        </p:nvSpPr>
        <p:spPr>
          <a:xfrm xmlns:a="http://schemas.openxmlformats.org/drawingml/2006/main">
            <a:off x="876300" y="5286375"/>
            <a:ext cx="63436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31518"/>
                </a:solidFill>
                <a:latin typeface="Courier New"/>
                <a:ea typeface="Courier New"/>
                <a:cs typeface="Courier New"/>
              </a:defRPr>
            </a:pPr>
            <a:r>
              <a:rPr sz="1875" b="0">
                <a:solidFill>
                  <a:srgbClr val="131518"/>
                </a:solidFill>
                <a:latin typeface="Courier New"/>
                <a:ea typeface="Courier New"/>
                <a:cs typeface="Courier New"/>
              </a:rPr>
              <a:t>s.marks.append(5)</a:t>
            </a:r>
          </a:p>
        </p:txBody>
      </p:sp>
      <p:sp>
        <p:nvSpPr>
          <p:cNvPr id="19" name="text-593">
            <a:extLst xmlns:a="http://schemas.openxmlformats.org/drawingml/2006/main">
              <a:ext uri="{FF2B5EF4-FFF2-40B4-BE49-F238E27FC236}">
                <a16:creationId xmlns:a16="http://schemas.microsoft.com/office/drawing/2014/main" id="{99955243-1FDE-498C-9069-B9FCDB630335}"/>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Генерация методов</a:t>
            </a:r>
          </a:p>
        </p:txBody>
      </p:sp>
      <p:sp>
        <p:nvSpPr>
          <p:cNvPr id="20" name="text-594">
            <a:extLst xmlns:a="http://schemas.openxmlformats.org/drawingml/2006/main">
              <a:ext uri="{FF2B5EF4-FFF2-40B4-BE49-F238E27FC236}">
                <a16:creationId xmlns:a16="http://schemas.microsoft.com/office/drawing/2014/main" id="{876A39C3-C2F6-495D-AF2D-097700F8AB7D}"/>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__init__, __repr__, __eq__.</a:t>
            </a:r>
          </a:p>
        </p:txBody>
      </p:sp>
      <p:sp>
        <p:nvSpPr>
          <p:cNvPr id="21" name="text-595">
            <a:extLst xmlns:a="http://schemas.openxmlformats.org/drawingml/2006/main">
              <a:ext uri="{FF2B5EF4-FFF2-40B4-BE49-F238E27FC236}">
                <a16:creationId xmlns:a16="http://schemas.microsoft.com/office/drawing/2014/main" id="{9A2E6F0E-CC03-4E5B-9351-0C6E458A5FAE}"/>
              </a:ext>
            </a:extLst>
          </p:cNvPr>
          <p:cNvSpPr>
            <a:spLocks xmlns:a="http://schemas.openxmlformats.org/drawingml/2006/main" noGrp="1"/>
          </p:cNvSpPr>
          <p:nvPr/>
        </p:nvSpPr>
        <p:spPr>
          <a:xfrm xmlns:a="http://schemas.openxmlformats.org/drawingml/2006/main">
            <a:off x="7905750" y="34290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Отдельный список</a:t>
            </a:r>
          </a:p>
        </p:txBody>
      </p:sp>
      <p:sp>
        <p:nvSpPr>
          <p:cNvPr id="22" name="text-596">
            <a:extLst xmlns:a="http://schemas.openxmlformats.org/drawingml/2006/main">
              <a:ext uri="{FF2B5EF4-FFF2-40B4-BE49-F238E27FC236}">
                <a16:creationId xmlns:a16="http://schemas.microsoft.com/office/drawing/2014/main" id="{1C351FA2-9951-4307-939A-9FAF3735E633}"/>
              </a:ext>
            </a:extLst>
          </p:cNvPr>
          <p:cNvSpPr>
            <a:spLocks xmlns:a="http://schemas.openxmlformats.org/drawingml/2006/main" noGrp="1"/>
          </p:cNvSpPr>
          <p:nvPr/>
        </p:nvSpPr>
        <p:spPr>
          <a:xfrm xmlns:a="http://schemas.openxmlformats.org/drawingml/2006/main">
            <a:off x="7905750" y="38766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default_factory создаёт</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новое значение поля.</a:t>
            </a:r>
          </a:p>
        </p:txBody>
      </p:sp>
      <p:sp>
        <p:nvSpPr>
          <p:cNvPr id="23" name="text-597">
            <a:extLst xmlns:a="http://schemas.openxmlformats.org/drawingml/2006/main">
              <a:ext uri="{FF2B5EF4-FFF2-40B4-BE49-F238E27FC236}">
                <a16:creationId xmlns:a16="http://schemas.microsoft.com/office/drawing/2014/main" id="{F7A9D4EF-6A6D-421B-B9D6-848AAC5B7456}"/>
              </a:ext>
            </a:extLst>
          </p:cNvPr>
          <p:cNvSpPr>
            <a:spLocks xmlns:a="http://schemas.openxmlformats.org/drawingml/2006/main" noGrp="1"/>
          </p:cNvSpPr>
          <p:nvPr/>
        </p:nvSpPr>
        <p:spPr>
          <a:xfrm xmlns:a="http://schemas.openxmlformats.org/drawingml/2006/main">
            <a:off x="7905750" y="463867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frozen=True</a:t>
            </a:r>
          </a:p>
        </p:txBody>
      </p:sp>
      <p:sp>
        <p:nvSpPr>
          <p:cNvPr id="24" name="text-598">
            <a:extLst xmlns:a="http://schemas.openxmlformats.org/drawingml/2006/main">
              <a:ext uri="{FF2B5EF4-FFF2-40B4-BE49-F238E27FC236}">
                <a16:creationId xmlns:a16="http://schemas.microsoft.com/office/drawing/2014/main" id="{E5FF3FEA-4D4A-460F-9DC3-4333E6DCDE46}"/>
              </a:ext>
            </a:extLst>
          </p:cNvPr>
          <p:cNvSpPr>
            <a:spLocks xmlns:a="http://schemas.openxmlformats.org/drawingml/2006/main" noGrp="1"/>
          </p:cNvSpPr>
          <p:nvPr/>
        </p:nvSpPr>
        <p:spPr>
          <a:xfrm xmlns:a="http://schemas.openxmlformats.org/drawingml/2006/main">
            <a:off x="7905750" y="508635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Поля нельзя переназначать.</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Вложенный list изменяем.</a:t>
            </a:r>
          </a:p>
        </p:txBody>
      </p:sp>
    </p:spTree>
    <p:extLst>
      <p:ext uri="{BB962C8B-B14F-4D97-AF65-F5344CB8AC3E}">
        <p14:creationId xmlns:p14="http://schemas.microsoft.com/office/powerpoint/2010/main" val="12682256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599">
            <a:extLst xmlns:a="http://schemas.openxmlformats.org/drawingml/2006/main">
              <a:ext uri="{FF2B5EF4-FFF2-40B4-BE49-F238E27FC236}">
                <a16:creationId xmlns:a16="http://schemas.microsoft.com/office/drawing/2014/main" id="{6C182EA3-52AE-4313-98C4-0983876D3B1C}"/>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05 / АННОТАЦИИ</a:t>
            </a:r>
          </a:p>
        </p:txBody>
      </p:sp>
      <p:sp>
        <p:nvSpPr>
          <p:cNvPr id="2" name="title-37">
            <a:extLst xmlns:a="http://schemas.openxmlformats.org/drawingml/2006/main">
              <a:ext uri="{FF2B5EF4-FFF2-40B4-BE49-F238E27FC236}">
                <a16:creationId xmlns:a16="http://schemas.microsoft.com/office/drawing/2014/main" id="{4C50A7FE-5234-476D-82F6-B5E08E41871D}"/>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Аннотация описывает контракт</a:t>
            </a:r>
          </a:p>
        </p:txBody>
      </p:sp>
      <p:sp>
        <p:nvSpPr>
          <p:cNvPr id="3" name="text-600">
            <a:extLst xmlns:a="http://schemas.openxmlformats.org/drawingml/2006/main">
              <a:ext uri="{FF2B5EF4-FFF2-40B4-BE49-F238E27FC236}">
                <a16:creationId xmlns:a16="http://schemas.microsoft.com/office/drawing/2014/main" id="{C0D2C62C-9A8B-469A-B57E-F1653843D312}"/>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Сам интерпретатор не проверяет соответствие аргументов аннотациям.</a:t>
            </a:r>
          </a:p>
        </p:txBody>
      </p:sp>
      <p:sp>
        <p:nvSpPr>
          <p:cNvPr id="4" name="surface-601">
            <a:extLst xmlns:a="http://schemas.openxmlformats.org/drawingml/2006/main">
              <a:ext uri="{FF2B5EF4-FFF2-40B4-BE49-F238E27FC236}">
                <a16:creationId xmlns:a16="http://schemas.microsoft.com/office/drawing/2014/main" id="{E57286DF-6DAC-4594-81E0-58ED3AD572BF}"/>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602">
            <a:extLst xmlns:a="http://schemas.openxmlformats.org/drawingml/2006/main">
              <a:ext uri="{FF2B5EF4-FFF2-40B4-BE49-F238E27FC236}">
                <a16:creationId xmlns:a16="http://schemas.microsoft.com/office/drawing/2014/main" id="{62F62A07-7733-40A3-ABE1-D942287BE044}"/>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603">
            <a:extLst xmlns:a="http://schemas.openxmlformats.org/drawingml/2006/main">
              <a:ext uri="{FF2B5EF4-FFF2-40B4-BE49-F238E27FC236}">
                <a16:creationId xmlns:a16="http://schemas.microsoft.com/office/drawing/2014/main" id="{242685D8-FAD4-427F-ACB7-836FE35665D7}"/>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37</a:t>
            </a:r>
          </a:p>
        </p:txBody>
      </p:sp>
      <p:sp>
        <p:nvSpPr>
          <p:cNvPr id="7" name="surface-604">
            <a:extLst xmlns:a="http://schemas.openxmlformats.org/drawingml/2006/main">
              <a:ext uri="{FF2B5EF4-FFF2-40B4-BE49-F238E27FC236}">
                <a16:creationId xmlns:a16="http://schemas.microsoft.com/office/drawing/2014/main" id="{803A52B7-E7C0-46C9-A136-AF28ECBE413E}"/>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37-605">
            <a:extLst xmlns:a="http://schemas.openxmlformats.org/drawingml/2006/main">
              <a:ext uri="{FF2B5EF4-FFF2-40B4-BE49-F238E27FC236}">
                <a16:creationId xmlns:a16="http://schemas.microsoft.com/office/drawing/2014/main" id="{AF8ACCC8-D39E-4B44-9861-F6BB9DE2DFA3}"/>
              </a:ext>
            </a:extLst>
          </p:cNvPr>
          <p:cNvSpPr>
            <a:spLocks xmlns:a="http://schemas.openxmlformats.org/drawingml/2006/main" noGrp="1"/>
          </p:cNvSpPr>
          <p:nvPr/>
        </p:nvSpPr>
        <p:spPr>
          <a:xfrm xmlns:a="http://schemas.openxmlformats.org/drawingml/2006/main">
            <a:off x="876300" y="238125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1">
                <a:solidFill>
                  <a:srgbClr val="286DA6"/>
                </a:solidFill>
                <a:latin typeface="Courier New"/>
                <a:ea typeface="Courier New"/>
                <a:cs typeface="Courier New"/>
              </a:rPr>
              <a:t>def</a:t>
            </a:r>
            <a:r>
              <a:rPr sz="1988" b="0">
                <a:solidFill>
                  <a:srgbClr val="131518"/>
                </a:solidFill>
                <a:latin typeface="Courier New"/>
                <a:ea typeface="Courier New"/>
                <a:cs typeface="Courier New"/>
              </a:rPr>
              <a:t> twice(x: int) -&gt; int:</a:t>
            </a:r>
          </a:p>
        </p:txBody>
      </p:sp>
      <p:sp>
        <p:nvSpPr>
          <p:cNvPr id="9" name="code-37-606">
            <a:extLst xmlns:a="http://schemas.openxmlformats.org/drawingml/2006/main">
              <a:ext uri="{FF2B5EF4-FFF2-40B4-BE49-F238E27FC236}">
                <a16:creationId xmlns:a16="http://schemas.microsoft.com/office/drawing/2014/main" id="{F0674729-863C-4DCF-8345-C64DC83E4F3A}"/>
              </a:ext>
            </a:extLst>
          </p:cNvPr>
          <p:cNvSpPr>
            <a:spLocks xmlns:a="http://schemas.openxmlformats.org/drawingml/2006/main" noGrp="1"/>
          </p:cNvSpPr>
          <p:nvPr/>
        </p:nvSpPr>
        <p:spPr>
          <a:xfrm xmlns:a="http://schemas.openxmlformats.org/drawingml/2006/main">
            <a:off x="876300" y="268919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r>
              <a:rPr sz="1988" b="1">
                <a:solidFill>
                  <a:srgbClr val="286DA6"/>
                </a:solidFill>
                <a:latin typeface="Courier New"/>
                <a:ea typeface="Courier New"/>
                <a:cs typeface="Courier New"/>
              </a:rPr>
              <a:t>return</a:t>
            </a:r>
            <a:r>
              <a:rPr sz="1988" b="0">
                <a:solidFill>
                  <a:srgbClr val="131518"/>
                </a:solidFill>
                <a:latin typeface="Courier New"/>
                <a:ea typeface="Courier New"/>
                <a:cs typeface="Courier New"/>
              </a:rPr>
              <a:t> x * 2</a:t>
            </a:r>
          </a:p>
        </p:txBody>
      </p:sp>
      <p:sp>
        <p:nvSpPr>
          <p:cNvPr id="10" name="code-37-607">
            <a:extLst xmlns:a="http://schemas.openxmlformats.org/drawingml/2006/main">
              <a:ext uri="{FF2B5EF4-FFF2-40B4-BE49-F238E27FC236}">
                <a16:creationId xmlns:a16="http://schemas.microsoft.com/office/drawing/2014/main" id="{0A8EE97D-14A8-45DD-A3E9-BFBA56B928B4}"/>
              </a:ext>
            </a:extLst>
          </p:cNvPr>
          <p:cNvSpPr>
            <a:spLocks xmlns:a="http://schemas.openxmlformats.org/drawingml/2006/main" noGrp="1"/>
          </p:cNvSpPr>
          <p:nvPr/>
        </p:nvSpPr>
        <p:spPr>
          <a:xfrm xmlns:a="http://schemas.openxmlformats.org/drawingml/2006/main">
            <a:off x="876300" y="299713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1" name="code-37-608">
            <a:extLst xmlns:a="http://schemas.openxmlformats.org/drawingml/2006/main">
              <a:ext uri="{FF2B5EF4-FFF2-40B4-BE49-F238E27FC236}">
                <a16:creationId xmlns:a16="http://schemas.microsoft.com/office/drawing/2014/main" id="{C32E3746-D996-427E-BDFC-9B0FA2AB0643}"/>
              </a:ext>
            </a:extLst>
          </p:cNvPr>
          <p:cNvSpPr>
            <a:spLocks xmlns:a="http://schemas.openxmlformats.org/drawingml/2006/main" noGrp="1"/>
          </p:cNvSpPr>
          <p:nvPr/>
        </p:nvSpPr>
        <p:spPr>
          <a:xfrm xmlns:a="http://schemas.openxmlformats.org/drawingml/2006/main">
            <a:off x="876300" y="330508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twice(3)     </a:t>
            </a:r>
            <a:r>
              <a:rPr sz="1988" b="0">
                <a:solidFill>
                  <a:srgbClr val="535A61"/>
                </a:solidFill>
                <a:latin typeface="Courier New"/>
                <a:ea typeface="Courier New"/>
                <a:cs typeface="Courier New"/>
              </a:rPr>
              <a:t># 6</a:t>
            </a:r>
          </a:p>
        </p:txBody>
      </p:sp>
      <p:sp>
        <p:nvSpPr>
          <p:cNvPr id="12" name="code-37-609">
            <a:extLst xmlns:a="http://schemas.openxmlformats.org/drawingml/2006/main">
              <a:ext uri="{FF2B5EF4-FFF2-40B4-BE49-F238E27FC236}">
                <a16:creationId xmlns:a16="http://schemas.microsoft.com/office/drawing/2014/main" id="{60A4DEE5-DB54-4E9B-8ECA-A632C197B96F}"/>
              </a:ext>
            </a:extLst>
          </p:cNvPr>
          <p:cNvSpPr>
            <a:spLocks xmlns:a="http://schemas.openxmlformats.org/drawingml/2006/main" noGrp="1"/>
          </p:cNvSpPr>
          <p:nvPr/>
        </p:nvSpPr>
        <p:spPr>
          <a:xfrm xmlns:a="http://schemas.openxmlformats.org/drawingml/2006/main">
            <a:off x="876300" y="361302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twice("ha")  </a:t>
            </a:r>
            <a:r>
              <a:rPr sz="1988" b="0">
                <a:solidFill>
                  <a:srgbClr val="535A61"/>
                </a:solidFill>
                <a:latin typeface="Courier New"/>
                <a:ea typeface="Courier New"/>
                <a:cs typeface="Courier New"/>
              </a:rPr>
              <a:t># "haha" при выполнении</a:t>
            </a:r>
          </a:p>
        </p:txBody>
      </p:sp>
      <p:sp>
        <p:nvSpPr>
          <p:cNvPr id="13" name="code-37-610">
            <a:extLst xmlns:a="http://schemas.openxmlformats.org/drawingml/2006/main">
              <a:ext uri="{FF2B5EF4-FFF2-40B4-BE49-F238E27FC236}">
                <a16:creationId xmlns:a16="http://schemas.microsoft.com/office/drawing/2014/main" id="{AECBD974-80D9-4EC5-8894-8F4EE19B1C7D}"/>
              </a:ext>
            </a:extLst>
          </p:cNvPr>
          <p:cNvSpPr>
            <a:spLocks xmlns:a="http://schemas.openxmlformats.org/drawingml/2006/main" noGrp="1"/>
          </p:cNvSpPr>
          <p:nvPr/>
        </p:nvSpPr>
        <p:spPr>
          <a:xfrm xmlns:a="http://schemas.openxmlformats.org/drawingml/2006/main">
            <a:off x="876300" y="3920966"/>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131518"/>
                </a:solidFill>
                <a:latin typeface="Courier New"/>
                <a:ea typeface="Courier New"/>
                <a:cs typeface="Courier New"/>
              </a:rPr>
              <a:t> </a:t>
            </a:r>
          </a:p>
        </p:txBody>
      </p:sp>
      <p:sp>
        <p:nvSpPr>
          <p:cNvPr id="14" name="code-37-611">
            <a:extLst xmlns:a="http://schemas.openxmlformats.org/drawingml/2006/main">
              <a:ext uri="{FF2B5EF4-FFF2-40B4-BE49-F238E27FC236}">
                <a16:creationId xmlns:a16="http://schemas.microsoft.com/office/drawing/2014/main" id="{C40ED77D-B389-4505-9821-F00DFC334E1B}"/>
              </a:ext>
            </a:extLst>
          </p:cNvPr>
          <p:cNvSpPr>
            <a:spLocks xmlns:a="http://schemas.openxmlformats.org/drawingml/2006/main" noGrp="1"/>
          </p:cNvSpPr>
          <p:nvPr/>
        </p:nvSpPr>
        <p:spPr>
          <a:xfrm xmlns:a="http://schemas.openxmlformats.org/drawingml/2006/main">
            <a:off x="876300" y="4228910"/>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535A61"/>
                </a:solidFill>
                <a:latin typeface="Courier New"/>
                <a:ea typeface="Courier New"/>
                <a:cs typeface="Courier New"/>
              </a:rPr>
              <a:t># Статический анализатор</a:t>
            </a:r>
          </a:p>
        </p:txBody>
      </p:sp>
      <p:sp>
        <p:nvSpPr>
          <p:cNvPr id="15" name="code-37-612">
            <a:extLst xmlns:a="http://schemas.openxmlformats.org/drawingml/2006/main">
              <a:ext uri="{FF2B5EF4-FFF2-40B4-BE49-F238E27FC236}">
                <a16:creationId xmlns:a16="http://schemas.microsoft.com/office/drawing/2014/main" id="{7D386CE5-0307-4C5E-B151-7D929EDDB61C}"/>
              </a:ext>
            </a:extLst>
          </p:cNvPr>
          <p:cNvSpPr>
            <a:spLocks xmlns:a="http://schemas.openxmlformats.org/drawingml/2006/main" noGrp="1"/>
          </p:cNvSpPr>
          <p:nvPr/>
        </p:nvSpPr>
        <p:spPr>
          <a:xfrm xmlns:a="http://schemas.openxmlformats.org/drawingml/2006/main">
            <a:off x="876300" y="4536853"/>
            <a:ext cx="6343650" cy="326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88" b="0">
                <a:solidFill>
                  <a:srgbClr val="131518"/>
                </a:solidFill>
                <a:latin typeface="Courier New"/>
                <a:ea typeface="Courier New"/>
                <a:cs typeface="Courier New"/>
              </a:defRPr>
            </a:pPr>
            <a:r>
              <a:rPr sz="1988" b="0">
                <a:solidFill>
                  <a:srgbClr val="535A61"/>
                </a:solidFill>
                <a:latin typeface="Courier New"/>
                <a:ea typeface="Courier New"/>
                <a:cs typeface="Courier New"/>
              </a:rPr>
              <a:t># укажет на неверный аргумент.</a:t>
            </a:r>
          </a:p>
        </p:txBody>
      </p:sp>
      <p:sp>
        <p:nvSpPr>
          <p:cNvPr id="16" name="text-613">
            <a:extLst xmlns:a="http://schemas.openxmlformats.org/drawingml/2006/main">
              <a:ext uri="{FF2B5EF4-FFF2-40B4-BE49-F238E27FC236}">
                <a16:creationId xmlns:a16="http://schemas.microsoft.com/office/drawing/2014/main" id="{217F976C-8C9D-4452-AFB9-50CEE1F5671C}"/>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Типы элементов</a:t>
            </a:r>
          </a:p>
        </p:txBody>
      </p:sp>
      <p:sp>
        <p:nvSpPr>
          <p:cNvPr id="17" name="text-614">
            <a:extLst xmlns:a="http://schemas.openxmlformats.org/drawingml/2006/main">
              <a:ext uri="{FF2B5EF4-FFF2-40B4-BE49-F238E27FC236}">
                <a16:creationId xmlns:a16="http://schemas.microsoft.com/office/drawing/2014/main" id="{28675475-4087-4D4F-B42B-DD5367532DD9}"/>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list[int], dict[str, float]</a:t>
            </a:r>
          </a:p>
        </p:txBody>
      </p:sp>
      <p:sp>
        <p:nvSpPr>
          <p:cNvPr id="18" name="text-615">
            <a:extLst xmlns:a="http://schemas.openxmlformats.org/drawingml/2006/main">
              <a:ext uri="{FF2B5EF4-FFF2-40B4-BE49-F238E27FC236}">
                <a16:creationId xmlns:a16="http://schemas.microsoft.com/office/drawing/2014/main" id="{1BFA22B2-8FE5-4CAC-9D2D-1E96B0BC58B2}"/>
              </a:ext>
            </a:extLst>
          </p:cNvPr>
          <p:cNvSpPr>
            <a:spLocks xmlns:a="http://schemas.openxmlformats.org/drawingml/2006/main" noGrp="1"/>
          </p:cNvSpPr>
          <p:nvPr/>
        </p:nvSpPr>
        <p:spPr>
          <a:xfrm xmlns:a="http://schemas.openxmlformats.org/drawingml/2006/main">
            <a:off x="7905750" y="34290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Можно без значения</a:t>
            </a:r>
          </a:p>
        </p:txBody>
      </p:sp>
      <p:sp>
        <p:nvSpPr>
          <p:cNvPr id="19" name="text-616">
            <a:extLst xmlns:a="http://schemas.openxmlformats.org/drawingml/2006/main">
              <a:ext uri="{FF2B5EF4-FFF2-40B4-BE49-F238E27FC236}">
                <a16:creationId xmlns:a16="http://schemas.microsoft.com/office/drawing/2014/main" id="{4C8786F4-8D61-4CC7-97A0-458555838BE7}"/>
              </a:ext>
            </a:extLst>
          </p:cNvPr>
          <p:cNvSpPr>
            <a:spLocks xmlns:a="http://schemas.openxmlformats.org/drawingml/2006/main" noGrp="1"/>
          </p:cNvSpPr>
          <p:nvPr/>
        </p:nvSpPr>
        <p:spPr>
          <a:xfrm xmlns:a="http://schemas.openxmlformats.org/drawingml/2006/main">
            <a:off x="7905750" y="38766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int | None</a:t>
            </a:r>
          </a:p>
        </p:txBody>
      </p:sp>
      <p:sp>
        <p:nvSpPr>
          <p:cNvPr id="20" name="text-617">
            <a:extLst xmlns:a="http://schemas.openxmlformats.org/drawingml/2006/main">
              <a:ext uri="{FF2B5EF4-FFF2-40B4-BE49-F238E27FC236}">
                <a16:creationId xmlns:a16="http://schemas.microsoft.com/office/drawing/2014/main" id="{098D5713-F3D9-4CB5-B706-50FD8EC25B23}"/>
              </a:ext>
            </a:extLst>
          </p:cNvPr>
          <p:cNvSpPr>
            <a:spLocks xmlns:a="http://schemas.openxmlformats.org/drawingml/2006/main" noGrp="1"/>
          </p:cNvSpPr>
          <p:nvPr/>
        </p:nvSpPr>
        <p:spPr>
          <a:xfrm xmlns:a="http://schemas.openxmlformats.org/drawingml/2006/main">
            <a:off x="7905750" y="463867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Проверка на границе</a:t>
            </a:r>
          </a:p>
        </p:txBody>
      </p:sp>
      <p:sp>
        <p:nvSpPr>
          <p:cNvPr id="21" name="text-618">
            <a:extLst xmlns:a="http://schemas.openxmlformats.org/drawingml/2006/main">
              <a:ext uri="{FF2B5EF4-FFF2-40B4-BE49-F238E27FC236}">
                <a16:creationId xmlns:a16="http://schemas.microsoft.com/office/drawing/2014/main" id="{60AA0B56-59C2-4BC8-A709-EFC82C88BCB0}"/>
              </a:ext>
            </a:extLst>
          </p:cNvPr>
          <p:cNvSpPr>
            <a:spLocks xmlns:a="http://schemas.openxmlformats.org/drawingml/2006/main" noGrp="1"/>
          </p:cNvSpPr>
          <p:nvPr/>
        </p:nvSpPr>
        <p:spPr>
          <a:xfrm xmlns:a="http://schemas.openxmlformats.org/drawingml/2006/main">
            <a:off x="7905750" y="508635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Аннотация не заменяет</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валидацию внешних данных.</a:t>
            </a:r>
          </a:p>
        </p:txBody>
      </p:sp>
      <p:sp>
        <p:nvSpPr>
          <p:cNvPr id="22" name="takeaway-37">
            <a:extLst xmlns:a="http://schemas.openxmlformats.org/drawingml/2006/main">
              <a:ext uri="{FF2B5EF4-FFF2-40B4-BE49-F238E27FC236}">
                <a16:creationId xmlns:a16="http://schemas.microsoft.com/office/drawing/2014/main" id="{283262D6-155C-4E76-8A94-177057187526}"/>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type(x) — фактический тип; isinstance(x, T) учитывает наследование.</a:t>
            </a:r>
          </a:p>
        </p:txBody>
      </p:sp>
    </p:spTree>
    <p:extLst>
      <p:ext uri="{BB962C8B-B14F-4D97-AF65-F5344CB8AC3E}">
        <p14:creationId xmlns:p14="http://schemas.microsoft.com/office/powerpoint/2010/main" val="72812192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619">
            <a:extLst xmlns:a="http://schemas.openxmlformats.org/drawingml/2006/main">
              <a:ext uri="{FF2B5EF4-FFF2-40B4-BE49-F238E27FC236}">
                <a16:creationId xmlns:a16="http://schemas.microsoft.com/office/drawing/2014/main" id="{69DA7144-CF9B-46B7-BA70-287F3CAE6146}"/>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06 / КЛАССЫ И МЕТАКЛАССЫ</a:t>
            </a:r>
          </a:p>
        </p:txBody>
      </p:sp>
      <p:sp>
        <p:nvSpPr>
          <p:cNvPr id="2" name="title-38">
            <a:extLst xmlns:a="http://schemas.openxmlformats.org/drawingml/2006/main">
              <a:ext uri="{FF2B5EF4-FFF2-40B4-BE49-F238E27FC236}">
                <a16:creationId xmlns:a16="http://schemas.microsoft.com/office/drawing/2014/main" id="{CA6FF739-D07B-4773-895D-BDB09F71604B}"/>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Класс тоже является объектом</a:t>
            </a:r>
          </a:p>
        </p:txBody>
      </p:sp>
      <p:sp>
        <p:nvSpPr>
          <p:cNvPr id="3" name="text-620">
            <a:extLst xmlns:a="http://schemas.openxmlformats.org/drawingml/2006/main">
              <a:ext uri="{FF2B5EF4-FFF2-40B4-BE49-F238E27FC236}">
                <a16:creationId xmlns:a16="http://schemas.microsoft.com/office/drawing/2014/main" id="{81467491-7F3A-4705-867D-0C5426940BC2}"/>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Экземпляр имеет класс. У самого класса также есть тип.</a:t>
            </a:r>
          </a:p>
        </p:txBody>
      </p:sp>
      <p:sp>
        <p:nvSpPr>
          <p:cNvPr id="4" name="surface-621">
            <a:extLst xmlns:a="http://schemas.openxmlformats.org/drawingml/2006/main">
              <a:ext uri="{FF2B5EF4-FFF2-40B4-BE49-F238E27FC236}">
                <a16:creationId xmlns:a16="http://schemas.microsoft.com/office/drawing/2014/main" id="{8E9E8305-8117-4E92-AD4C-61BC9A4905F7}"/>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622">
            <a:extLst xmlns:a="http://schemas.openxmlformats.org/drawingml/2006/main">
              <a:ext uri="{FF2B5EF4-FFF2-40B4-BE49-F238E27FC236}">
                <a16:creationId xmlns:a16="http://schemas.microsoft.com/office/drawing/2014/main" id="{282C7E10-6BBD-4ACE-A87D-6F568117AAEE}"/>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623">
            <a:extLst xmlns:a="http://schemas.openxmlformats.org/drawingml/2006/main">
              <a:ext uri="{FF2B5EF4-FFF2-40B4-BE49-F238E27FC236}">
                <a16:creationId xmlns:a16="http://schemas.microsoft.com/office/drawing/2014/main" id="{4747FB31-4AE1-4622-B4CA-0FA7DCC6EAA5}"/>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38</a:t>
            </a:r>
          </a:p>
        </p:txBody>
      </p:sp>
      <p:sp>
        <p:nvSpPr>
          <p:cNvPr id="7" name="surface-624">
            <a:extLst xmlns:a="http://schemas.openxmlformats.org/drawingml/2006/main">
              <a:ext uri="{FF2B5EF4-FFF2-40B4-BE49-F238E27FC236}">
                <a16:creationId xmlns:a16="http://schemas.microsoft.com/office/drawing/2014/main" id="{962280CC-E4EF-42C3-BD59-12A96BDA5FC4}"/>
              </a:ext>
            </a:extLst>
          </p:cNvPr>
          <p:cNvSpPr>
            <a:spLocks xmlns:a="http://schemas.openxmlformats.org/drawingml/2006/main" noGrp="1"/>
          </p:cNvSpPr>
          <p:nvPr/>
        </p:nvSpPr>
        <p:spPr>
          <a:xfrm xmlns:a="http://schemas.openxmlformats.org/drawingml/2006/main">
            <a:off x="685800" y="2200275"/>
            <a:ext cx="6629400" cy="33718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38-625">
            <a:extLst xmlns:a="http://schemas.openxmlformats.org/drawingml/2006/main">
              <a:ext uri="{FF2B5EF4-FFF2-40B4-BE49-F238E27FC236}">
                <a16:creationId xmlns:a16="http://schemas.microsoft.com/office/drawing/2014/main" id="{F8AC79F5-144E-44BC-899E-93C3CEA6F8EF}"/>
              </a:ext>
            </a:extLst>
          </p:cNvPr>
          <p:cNvSpPr>
            <a:spLocks xmlns:a="http://schemas.openxmlformats.org/drawingml/2006/main" noGrp="1"/>
          </p:cNvSpPr>
          <p:nvPr/>
        </p:nvSpPr>
        <p:spPr>
          <a:xfrm xmlns:a="http://schemas.openxmlformats.org/drawingml/2006/main">
            <a:off x="876300" y="2390775"/>
            <a:ext cx="6248400" cy="332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31518"/>
                </a:solidFill>
                <a:latin typeface="Courier New"/>
                <a:ea typeface="Courier New"/>
                <a:cs typeface="Courier New"/>
              </a:defRPr>
            </a:pPr>
            <a:r>
              <a:rPr sz="2025" b="1">
                <a:solidFill>
                  <a:srgbClr val="286DA6"/>
                </a:solidFill>
                <a:latin typeface="Courier New"/>
                <a:ea typeface="Courier New"/>
                <a:cs typeface="Courier New"/>
              </a:rPr>
              <a:t>class</a:t>
            </a:r>
            <a:r>
              <a:rPr sz="2025" b="0">
                <a:solidFill>
                  <a:srgbClr val="131518"/>
                </a:solidFill>
                <a:latin typeface="Courier New"/>
                <a:ea typeface="Courier New"/>
                <a:cs typeface="Courier New"/>
              </a:rPr>
              <a:t> Sensor:</a:t>
            </a:r>
          </a:p>
        </p:txBody>
      </p:sp>
      <p:sp>
        <p:nvSpPr>
          <p:cNvPr id="9" name="code-38-626">
            <a:extLst xmlns:a="http://schemas.openxmlformats.org/drawingml/2006/main">
              <a:ext uri="{FF2B5EF4-FFF2-40B4-BE49-F238E27FC236}">
                <a16:creationId xmlns:a16="http://schemas.microsoft.com/office/drawing/2014/main" id="{15F1E201-99FB-41EA-8262-A95FBD2E04B5}"/>
              </a:ext>
            </a:extLst>
          </p:cNvPr>
          <p:cNvSpPr>
            <a:spLocks xmlns:a="http://schemas.openxmlformats.org/drawingml/2006/main" noGrp="1"/>
          </p:cNvSpPr>
          <p:nvPr/>
        </p:nvSpPr>
        <p:spPr>
          <a:xfrm xmlns:a="http://schemas.openxmlformats.org/drawingml/2006/main">
            <a:off x="876300" y="2704529"/>
            <a:ext cx="6248400" cy="332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31518"/>
                </a:solidFill>
                <a:latin typeface="Courier New"/>
                <a:ea typeface="Courier New"/>
                <a:cs typeface="Courier New"/>
              </a:defRPr>
            </a:pPr>
            <a:r>
              <a:rPr sz="2025" b="0">
                <a:solidFill>
                  <a:srgbClr val="131518"/>
                </a:solidFill>
                <a:latin typeface="Courier New"/>
                <a:ea typeface="Courier New"/>
                <a:cs typeface="Courier New"/>
              </a:rPr>
              <a:t>    </a:t>
            </a:r>
            <a:r>
              <a:rPr sz="2025" b="1">
                <a:solidFill>
                  <a:srgbClr val="286DA6"/>
                </a:solidFill>
                <a:latin typeface="Courier New"/>
                <a:ea typeface="Courier New"/>
                <a:cs typeface="Courier New"/>
              </a:rPr>
              <a:t>pass</a:t>
            </a:r>
          </a:p>
        </p:txBody>
      </p:sp>
      <p:sp>
        <p:nvSpPr>
          <p:cNvPr id="10" name="code-38-627">
            <a:extLst xmlns:a="http://schemas.openxmlformats.org/drawingml/2006/main">
              <a:ext uri="{FF2B5EF4-FFF2-40B4-BE49-F238E27FC236}">
                <a16:creationId xmlns:a16="http://schemas.microsoft.com/office/drawing/2014/main" id="{8D71DC4F-9826-4A33-8FFD-5BAB6D06B3A1}"/>
              </a:ext>
            </a:extLst>
          </p:cNvPr>
          <p:cNvSpPr>
            <a:spLocks xmlns:a="http://schemas.openxmlformats.org/drawingml/2006/main" noGrp="1"/>
          </p:cNvSpPr>
          <p:nvPr/>
        </p:nvSpPr>
        <p:spPr>
          <a:xfrm xmlns:a="http://schemas.openxmlformats.org/drawingml/2006/main">
            <a:off x="876300" y="3018282"/>
            <a:ext cx="6248400" cy="332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31518"/>
                </a:solidFill>
                <a:latin typeface="Courier New"/>
                <a:ea typeface="Courier New"/>
                <a:cs typeface="Courier New"/>
              </a:defRPr>
            </a:pPr>
            <a:r>
              <a:rPr sz="2025" b="0">
                <a:solidFill>
                  <a:srgbClr val="131518"/>
                </a:solidFill>
                <a:latin typeface="Courier New"/>
                <a:ea typeface="Courier New"/>
                <a:cs typeface="Courier New"/>
              </a:rPr>
              <a:t> </a:t>
            </a:r>
          </a:p>
        </p:txBody>
      </p:sp>
      <p:sp>
        <p:nvSpPr>
          <p:cNvPr id="11" name="code-38-628">
            <a:extLst xmlns:a="http://schemas.openxmlformats.org/drawingml/2006/main">
              <a:ext uri="{FF2B5EF4-FFF2-40B4-BE49-F238E27FC236}">
                <a16:creationId xmlns:a16="http://schemas.microsoft.com/office/drawing/2014/main" id="{1BBC6CBB-0C7A-4086-A4B0-2180F06563FD}"/>
              </a:ext>
            </a:extLst>
          </p:cNvPr>
          <p:cNvSpPr>
            <a:spLocks xmlns:a="http://schemas.openxmlformats.org/drawingml/2006/main" noGrp="1"/>
          </p:cNvSpPr>
          <p:nvPr/>
        </p:nvSpPr>
        <p:spPr>
          <a:xfrm xmlns:a="http://schemas.openxmlformats.org/drawingml/2006/main">
            <a:off x="876300" y="3332036"/>
            <a:ext cx="6248400" cy="332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31518"/>
                </a:solidFill>
                <a:latin typeface="Courier New"/>
                <a:ea typeface="Courier New"/>
                <a:cs typeface="Courier New"/>
              </a:defRPr>
            </a:pPr>
            <a:r>
              <a:rPr sz="2025" b="0">
                <a:solidFill>
                  <a:srgbClr val="131518"/>
                </a:solidFill>
                <a:latin typeface="Courier New"/>
                <a:ea typeface="Courier New"/>
                <a:cs typeface="Courier New"/>
              </a:rPr>
              <a:t>s = Sensor()</a:t>
            </a:r>
          </a:p>
        </p:txBody>
      </p:sp>
      <p:sp>
        <p:nvSpPr>
          <p:cNvPr id="12" name="code-38-629">
            <a:extLst xmlns:a="http://schemas.openxmlformats.org/drawingml/2006/main">
              <a:ext uri="{FF2B5EF4-FFF2-40B4-BE49-F238E27FC236}">
                <a16:creationId xmlns:a16="http://schemas.microsoft.com/office/drawing/2014/main" id="{4E92B749-DA57-467B-81D8-95D15CB566BB}"/>
              </a:ext>
            </a:extLst>
          </p:cNvPr>
          <p:cNvSpPr>
            <a:spLocks xmlns:a="http://schemas.openxmlformats.org/drawingml/2006/main" noGrp="1"/>
          </p:cNvSpPr>
          <p:nvPr/>
        </p:nvSpPr>
        <p:spPr>
          <a:xfrm xmlns:a="http://schemas.openxmlformats.org/drawingml/2006/main">
            <a:off x="876300" y="3645789"/>
            <a:ext cx="6248400" cy="332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31518"/>
                </a:solidFill>
                <a:latin typeface="Courier New"/>
                <a:ea typeface="Courier New"/>
                <a:cs typeface="Courier New"/>
              </a:defRPr>
            </a:pPr>
            <a:r>
              <a:rPr sz="2025" b="0">
                <a:solidFill>
                  <a:srgbClr val="131518"/>
                </a:solidFill>
                <a:latin typeface="Courier New"/>
                <a:ea typeface="Courier New"/>
                <a:cs typeface="Courier New"/>
              </a:rPr>
              <a:t> </a:t>
            </a:r>
          </a:p>
        </p:txBody>
      </p:sp>
      <p:sp>
        <p:nvSpPr>
          <p:cNvPr id="13" name="code-38-630">
            <a:extLst xmlns:a="http://schemas.openxmlformats.org/drawingml/2006/main">
              <a:ext uri="{FF2B5EF4-FFF2-40B4-BE49-F238E27FC236}">
                <a16:creationId xmlns:a16="http://schemas.microsoft.com/office/drawing/2014/main" id="{04447F2A-56EE-44A6-B189-01ED36A341F0}"/>
              </a:ext>
            </a:extLst>
          </p:cNvPr>
          <p:cNvSpPr>
            <a:spLocks xmlns:a="http://schemas.openxmlformats.org/drawingml/2006/main" noGrp="1"/>
          </p:cNvSpPr>
          <p:nvPr/>
        </p:nvSpPr>
        <p:spPr>
          <a:xfrm xmlns:a="http://schemas.openxmlformats.org/drawingml/2006/main">
            <a:off x="876300" y="3959543"/>
            <a:ext cx="6248400" cy="332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31518"/>
                </a:solidFill>
                <a:latin typeface="Courier New"/>
                <a:ea typeface="Courier New"/>
                <a:cs typeface="Courier New"/>
              </a:defRPr>
            </a:pPr>
            <a:r>
              <a:rPr sz="2025" b="0">
                <a:solidFill>
                  <a:srgbClr val="131518"/>
                </a:solidFill>
                <a:latin typeface="Courier New"/>
                <a:ea typeface="Courier New"/>
                <a:cs typeface="Courier New"/>
              </a:rPr>
              <a:t>type(s) </a:t>
            </a:r>
            <a:r>
              <a:rPr sz="2025" b="1">
                <a:solidFill>
                  <a:srgbClr val="286DA6"/>
                </a:solidFill>
                <a:latin typeface="Courier New"/>
                <a:ea typeface="Courier New"/>
                <a:cs typeface="Courier New"/>
              </a:rPr>
              <a:t>is</a:t>
            </a:r>
            <a:r>
              <a:rPr sz="2025" b="0">
                <a:solidFill>
                  <a:srgbClr val="131518"/>
                </a:solidFill>
                <a:latin typeface="Courier New"/>
                <a:ea typeface="Courier New"/>
                <a:cs typeface="Courier New"/>
              </a:rPr>
              <a:t> Sensor     </a:t>
            </a:r>
            <a:r>
              <a:rPr sz="2025" b="0">
                <a:solidFill>
                  <a:srgbClr val="535A61"/>
                </a:solidFill>
                <a:latin typeface="Courier New"/>
                <a:ea typeface="Courier New"/>
                <a:cs typeface="Courier New"/>
              </a:rPr>
              <a:t># True</a:t>
            </a:r>
          </a:p>
        </p:txBody>
      </p:sp>
      <p:sp>
        <p:nvSpPr>
          <p:cNvPr id="14" name="code-38-631">
            <a:extLst xmlns:a="http://schemas.openxmlformats.org/drawingml/2006/main">
              <a:ext uri="{FF2B5EF4-FFF2-40B4-BE49-F238E27FC236}">
                <a16:creationId xmlns:a16="http://schemas.microsoft.com/office/drawing/2014/main" id="{A2FED2E1-16B3-4BF3-ABED-34F202E6BFCA}"/>
              </a:ext>
            </a:extLst>
          </p:cNvPr>
          <p:cNvSpPr>
            <a:spLocks xmlns:a="http://schemas.openxmlformats.org/drawingml/2006/main" noGrp="1"/>
          </p:cNvSpPr>
          <p:nvPr/>
        </p:nvSpPr>
        <p:spPr>
          <a:xfrm xmlns:a="http://schemas.openxmlformats.org/drawingml/2006/main">
            <a:off x="876300" y="4273296"/>
            <a:ext cx="6248400" cy="332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31518"/>
                </a:solidFill>
                <a:latin typeface="Courier New"/>
                <a:ea typeface="Courier New"/>
                <a:cs typeface="Courier New"/>
              </a:defRPr>
            </a:pPr>
            <a:r>
              <a:rPr sz="2025" b="0">
                <a:solidFill>
                  <a:srgbClr val="131518"/>
                </a:solidFill>
                <a:latin typeface="Courier New"/>
                <a:ea typeface="Courier New"/>
                <a:cs typeface="Courier New"/>
              </a:rPr>
              <a:t>type(Sensor) </a:t>
            </a:r>
            <a:r>
              <a:rPr sz="2025" b="1">
                <a:solidFill>
                  <a:srgbClr val="286DA6"/>
                </a:solidFill>
                <a:latin typeface="Courier New"/>
                <a:ea typeface="Courier New"/>
                <a:cs typeface="Courier New"/>
              </a:rPr>
              <a:t>is</a:t>
            </a:r>
            <a:r>
              <a:rPr sz="2025" b="0">
                <a:solidFill>
                  <a:srgbClr val="131518"/>
                </a:solidFill>
                <a:latin typeface="Courier New"/>
                <a:ea typeface="Courier New"/>
                <a:cs typeface="Courier New"/>
              </a:rPr>
              <a:t> type  </a:t>
            </a:r>
            <a:r>
              <a:rPr sz="2025" b="0">
                <a:solidFill>
                  <a:srgbClr val="535A61"/>
                </a:solidFill>
                <a:latin typeface="Courier New"/>
                <a:ea typeface="Courier New"/>
                <a:cs typeface="Courier New"/>
              </a:rPr>
              <a:t># True</a:t>
            </a:r>
          </a:p>
        </p:txBody>
      </p:sp>
      <p:sp>
        <p:nvSpPr>
          <p:cNvPr id="15" name="code-38-632">
            <a:extLst xmlns:a="http://schemas.openxmlformats.org/drawingml/2006/main">
              <a:ext uri="{FF2B5EF4-FFF2-40B4-BE49-F238E27FC236}">
                <a16:creationId xmlns:a16="http://schemas.microsoft.com/office/drawing/2014/main" id="{9D60FB45-9C4C-43E7-B1FC-DCE697B9AD77}"/>
              </a:ext>
            </a:extLst>
          </p:cNvPr>
          <p:cNvSpPr>
            <a:spLocks xmlns:a="http://schemas.openxmlformats.org/drawingml/2006/main" noGrp="1"/>
          </p:cNvSpPr>
          <p:nvPr/>
        </p:nvSpPr>
        <p:spPr>
          <a:xfrm xmlns:a="http://schemas.openxmlformats.org/drawingml/2006/main">
            <a:off x="876300" y="4587050"/>
            <a:ext cx="6248400" cy="332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31518"/>
                </a:solidFill>
                <a:latin typeface="Courier New"/>
                <a:ea typeface="Courier New"/>
                <a:cs typeface="Courier New"/>
              </a:defRPr>
            </a:pPr>
            <a:r>
              <a:rPr sz="2025" b="0">
                <a:solidFill>
                  <a:srgbClr val="131518"/>
                </a:solidFill>
                <a:latin typeface="Courier New"/>
                <a:ea typeface="Courier New"/>
                <a:cs typeface="Courier New"/>
              </a:rPr>
              <a:t>type(type) </a:t>
            </a:r>
            <a:r>
              <a:rPr sz="2025" b="1">
                <a:solidFill>
                  <a:srgbClr val="286DA6"/>
                </a:solidFill>
                <a:latin typeface="Courier New"/>
                <a:ea typeface="Courier New"/>
                <a:cs typeface="Courier New"/>
              </a:rPr>
              <a:t>is</a:t>
            </a:r>
            <a:r>
              <a:rPr sz="2025" b="0">
                <a:solidFill>
                  <a:srgbClr val="131518"/>
                </a:solidFill>
                <a:latin typeface="Courier New"/>
                <a:ea typeface="Courier New"/>
                <a:cs typeface="Courier New"/>
              </a:rPr>
              <a:t> type    </a:t>
            </a:r>
            <a:r>
              <a:rPr sz="2025" b="0">
                <a:solidFill>
                  <a:srgbClr val="535A61"/>
                </a:solidFill>
                <a:latin typeface="Courier New"/>
                <a:ea typeface="Courier New"/>
                <a:cs typeface="Courier New"/>
              </a:rPr>
              <a:t># True</a:t>
            </a:r>
          </a:p>
        </p:txBody>
      </p:sp>
      <p:sp>
        <p:nvSpPr>
          <p:cNvPr id="16" name="surface-633">
            <a:extLst xmlns:a="http://schemas.openxmlformats.org/drawingml/2006/main">
              <a:ext uri="{FF2B5EF4-FFF2-40B4-BE49-F238E27FC236}">
                <a16:creationId xmlns:a16="http://schemas.microsoft.com/office/drawing/2014/main" id="{30C41DFC-DF49-48C3-8923-B2D71639B66C}"/>
              </a:ext>
            </a:extLst>
          </p:cNvPr>
          <p:cNvSpPr>
            <a:spLocks xmlns:a="http://schemas.openxmlformats.org/drawingml/2006/main" noGrp="1"/>
          </p:cNvSpPr>
          <p:nvPr/>
        </p:nvSpPr>
        <p:spPr>
          <a:xfrm xmlns:a="http://schemas.openxmlformats.org/drawingml/2006/main">
            <a:off x="8134350" y="2238375"/>
            <a:ext cx="2876550" cy="695325"/>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7" name="surface-634">
            <a:extLst xmlns:a="http://schemas.openxmlformats.org/drawingml/2006/main">
              <a:ext uri="{FF2B5EF4-FFF2-40B4-BE49-F238E27FC236}">
                <a16:creationId xmlns:a16="http://schemas.microsoft.com/office/drawing/2014/main" id="{4D3687E3-0CF5-4F66-92AC-2D0F12C0C207}"/>
              </a:ext>
            </a:extLst>
          </p:cNvPr>
          <p:cNvSpPr>
            <a:spLocks xmlns:a="http://schemas.openxmlformats.org/drawingml/2006/main" noGrp="1"/>
          </p:cNvSpPr>
          <p:nvPr/>
        </p:nvSpPr>
        <p:spPr>
          <a:xfrm xmlns:a="http://schemas.openxmlformats.org/drawingml/2006/main">
            <a:off x="8134350" y="3495675"/>
            <a:ext cx="2876550" cy="695325"/>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8" name="surface-635">
            <a:extLst xmlns:a="http://schemas.openxmlformats.org/drawingml/2006/main">
              <a:ext uri="{FF2B5EF4-FFF2-40B4-BE49-F238E27FC236}">
                <a16:creationId xmlns:a16="http://schemas.microsoft.com/office/drawing/2014/main" id="{62829B11-7BDF-435F-B561-80E118031B01}"/>
              </a:ext>
            </a:extLst>
          </p:cNvPr>
          <p:cNvSpPr>
            <a:spLocks xmlns:a="http://schemas.openxmlformats.org/drawingml/2006/main" noGrp="1"/>
          </p:cNvSpPr>
          <p:nvPr/>
        </p:nvSpPr>
        <p:spPr>
          <a:xfrm xmlns:a="http://schemas.openxmlformats.org/drawingml/2006/main">
            <a:off x="8134350" y="4752975"/>
            <a:ext cx="2876550" cy="695325"/>
          </a:xfrm>
          <a:prstGeom xmlns:a="http://schemas.openxmlformats.org/drawingml/2006/main" prst="rect">
            <a:avLst/>
          </a:prstGeom>
          <a:solidFill xmlns:a="http://schemas.openxmlformats.org/drawingml/2006/main">
            <a:srgbClr val="DCECF8"/>
          </a:solidFill>
          <a:ln xmlns:a="http://schemas.openxmlformats.org/drawingml/2006/main" w="0">
            <a:noFill/>
            <a:prstDash val="solid"/>
          </a:ln>
        </p:spPr>
      </p:sp>
      <p:cxnSp>
        <p:nvCxnSpPr>
          <p:cNvPr id="46" name=""/>
          <p:cNvCxnSpPr>
            <a:stCxn xmlns:a="http://schemas.openxmlformats.org/drawingml/2006/main" id="16" idx="2"/>
            <a:endCxn xmlns:a="http://schemas.openxmlformats.org/drawingml/2006/main" id="17" idx="0"/>
          </p:cNvCxnSpPr>
          <p:nvPr/>
        </p:nvCxnSpPr>
        <p:spPr>
          <a:xfrm xmlns:a="http://schemas.openxmlformats.org/drawingml/2006/main">
            <a:off x="9572625" y="2933700"/>
            <a:ext cx="0" cy="561975"/>
          </a:xfrm>
          <a:prstGeom xmlns:a="http://schemas.openxmlformats.org/drawingml/2006/main" prst="straightConnector1">
            <a:avLst/>
          </a:prstGeom>
          <a:ln xmlns:a="http://schemas.openxmlformats.org/drawingml/2006/main" w="19050">
            <a:solidFill>
              <a:srgbClr val="286DA6"/>
            </a:solidFill>
            <a:tailEnd type="triangle" w="med" len="med"/>
          </a:ln>
        </p:spPr>
      </p:cxnSp>
      <p:cxnSp>
        <p:nvCxnSpPr>
          <p:cNvPr id="47" name=""/>
          <p:cNvCxnSpPr>
            <a:stCxn xmlns:a="http://schemas.openxmlformats.org/drawingml/2006/main" id="17" idx="2"/>
            <a:endCxn xmlns:a="http://schemas.openxmlformats.org/drawingml/2006/main" id="18" idx="0"/>
          </p:cNvCxnSpPr>
          <p:nvPr/>
        </p:nvCxnSpPr>
        <p:spPr>
          <a:xfrm xmlns:a="http://schemas.openxmlformats.org/drawingml/2006/main">
            <a:off x="9572625" y="4191000"/>
            <a:ext cx="0" cy="561975"/>
          </a:xfrm>
          <a:prstGeom xmlns:a="http://schemas.openxmlformats.org/drawingml/2006/main" prst="straightConnector1">
            <a:avLst/>
          </a:prstGeom>
          <a:ln xmlns:a="http://schemas.openxmlformats.org/drawingml/2006/main" w="19050">
            <a:solidFill>
              <a:srgbClr val="286DA6"/>
            </a:solidFill>
            <a:tailEnd type="triangle" w="med" len="med"/>
          </a:ln>
        </p:spPr>
      </p:cxnSp>
      <p:sp>
        <p:nvSpPr>
          <p:cNvPr id="21" name="text-636">
            <a:extLst xmlns:a="http://schemas.openxmlformats.org/drawingml/2006/main">
              <a:ext uri="{FF2B5EF4-FFF2-40B4-BE49-F238E27FC236}">
                <a16:creationId xmlns:a16="http://schemas.microsoft.com/office/drawing/2014/main" id="{22E175A2-230E-432C-B162-1A43A7D779D5}"/>
              </a:ext>
            </a:extLst>
          </p:cNvPr>
          <p:cNvSpPr>
            <a:spLocks xmlns:a="http://schemas.openxmlformats.org/drawingml/2006/main" noGrp="1"/>
          </p:cNvSpPr>
          <p:nvPr/>
        </p:nvSpPr>
        <p:spPr>
          <a:xfrm xmlns:a="http://schemas.openxmlformats.org/drawingml/2006/main">
            <a:off x="8172450" y="2333625"/>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0">
                <a:solidFill>
                  <a:srgbClr val="131518"/>
                </a:solidFill>
                <a:latin typeface="Courier New"/>
                <a:ea typeface="Courier New"/>
                <a:cs typeface="Courier New"/>
              </a:defRPr>
            </a:pPr>
            <a:r>
              <a:rPr sz="2475" b="0">
                <a:solidFill>
                  <a:srgbClr val="131518"/>
                </a:solidFill>
                <a:latin typeface="Courier New"/>
                <a:ea typeface="Courier New"/>
                <a:cs typeface="Courier New"/>
              </a:rPr>
              <a:t>s</a:t>
            </a:r>
          </a:p>
        </p:txBody>
      </p:sp>
      <p:sp>
        <p:nvSpPr>
          <p:cNvPr id="22" name="text-637">
            <a:extLst xmlns:a="http://schemas.openxmlformats.org/drawingml/2006/main">
              <a:ext uri="{FF2B5EF4-FFF2-40B4-BE49-F238E27FC236}">
                <a16:creationId xmlns:a16="http://schemas.microsoft.com/office/drawing/2014/main" id="{53811166-ECD5-4095-87B9-B209394796B5}"/>
              </a:ext>
            </a:extLst>
          </p:cNvPr>
          <p:cNvSpPr>
            <a:spLocks xmlns:a="http://schemas.openxmlformats.org/drawingml/2006/main" noGrp="1"/>
          </p:cNvSpPr>
          <p:nvPr/>
        </p:nvSpPr>
        <p:spPr>
          <a:xfrm xmlns:a="http://schemas.openxmlformats.org/drawingml/2006/main">
            <a:off x="8134350" y="2962275"/>
            <a:ext cx="2876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0">
                <a:solidFill>
                  <a:srgbClr val="535A61"/>
                </a:solidFill>
                <a:latin typeface="Arial"/>
                <a:ea typeface="Arial"/>
                <a:cs typeface="Arial"/>
              </a:defRPr>
            </a:pPr>
            <a:r>
              <a:rPr sz="1875" b="0">
                <a:solidFill>
                  <a:srgbClr val="535A61"/>
                </a:solidFill>
                <a:latin typeface="Arial"/>
                <a:ea typeface="Arial"/>
                <a:cs typeface="Arial"/>
              </a:rPr>
              <a:t>экземпляр</a:t>
            </a:r>
          </a:p>
        </p:txBody>
      </p:sp>
      <p:sp>
        <p:nvSpPr>
          <p:cNvPr id="23" name="text-638">
            <a:extLst xmlns:a="http://schemas.openxmlformats.org/drawingml/2006/main">
              <a:ext uri="{FF2B5EF4-FFF2-40B4-BE49-F238E27FC236}">
                <a16:creationId xmlns:a16="http://schemas.microsoft.com/office/drawing/2014/main" id="{526EB0B7-F1AB-4A8F-95E4-9512C59E4517}"/>
              </a:ext>
            </a:extLst>
          </p:cNvPr>
          <p:cNvSpPr>
            <a:spLocks xmlns:a="http://schemas.openxmlformats.org/drawingml/2006/main" noGrp="1"/>
          </p:cNvSpPr>
          <p:nvPr/>
        </p:nvSpPr>
        <p:spPr>
          <a:xfrm xmlns:a="http://schemas.openxmlformats.org/drawingml/2006/main">
            <a:off x="8172450" y="3590925"/>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0">
                <a:solidFill>
                  <a:srgbClr val="131518"/>
                </a:solidFill>
                <a:latin typeface="Courier New"/>
                <a:ea typeface="Courier New"/>
                <a:cs typeface="Courier New"/>
              </a:defRPr>
            </a:pPr>
            <a:r>
              <a:rPr sz="2475" b="0">
                <a:solidFill>
                  <a:srgbClr val="131518"/>
                </a:solidFill>
                <a:latin typeface="Courier New"/>
                <a:ea typeface="Courier New"/>
                <a:cs typeface="Courier New"/>
              </a:rPr>
              <a:t>Sensor</a:t>
            </a:r>
          </a:p>
        </p:txBody>
      </p:sp>
      <p:sp>
        <p:nvSpPr>
          <p:cNvPr id="24" name="text-639">
            <a:extLst xmlns:a="http://schemas.openxmlformats.org/drawingml/2006/main">
              <a:ext uri="{FF2B5EF4-FFF2-40B4-BE49-F238E27FC236}">
                <a16:creationId xmlns:a16="http://schemas.microsoft.com/office/drawing/2014/main" id="{AD2B1A10-CCE9-4A81-8AC1-5869369DC042}"/>
              </a:ext>
            </a:extLst>
          </p:cNvPr>
          <p:cNvSpPr>
            <a:spLocks xmlns:a="http://schemas.openxmlformats.org/drawingml/2006/main" noGrp="1"/>
          </p:cNvSpPr>
          <p:nvPr/>
        </p:nvSpPr>
        <p:spPr>
          <a:xfrm xmlns:a="http://schemas.openxmlformats.org/drawingml/2006/main">
            <a:off x="8134350" y="4219575"/>
            <a:ext cx="2876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0">
                <a:solidFill>
                  <a:srgbClr val="535A61"/>
                </a:solidFill>
                <a:latin typeface="Arial"/>
                <a:ea typeface="Arial"/>
                <a:cs typeface="Arial"/>
              </a:defRPr>
            </a:pPr>
            <a:r>
              <a:rPr sz="1875" b="0">
                <a:solidFill>
                  <a:srgbClr val="535A61"/>
                </a:solidFill>
                <a:latin typeface="Arial"/>
                <a:ea typeface="Arial"/>
                <a:cs typeface="Arial"/>
              </a:rPr>
              <a:t>класс</a:t>
            </a:r>
          </a:p>
        </p:txBody>
      </p:sp>
      <p:sp>
        <p:nvSpPr>
          <p:cNvPr id="25" name="text-640">
            <a:extLst xmlns:a="http://schemas.openxmlformats.org/drawingml/2006/main">
              <a:ext uri="{FF2B5EF4-FFF2-40B4-BE49-F238E27FC236}">
                <a16:creationId xmlns:a16="http://schemas.microsoft.com/office/drawing/2014/main" id="{AB29BE00-1292-42AB-8407-64E6C69B30B0}"/>
              </a:ext>
            </a:extLst>
          </p:cNvPr>
          <p:cNvSpPr>
            <a:spLocks xmlns:a="http://schemas.openxmlformats.org/drawingml/2006/main" noGrp="1"/>
          </p:cNvSpPr>
          <p:nvPr/>
        </p:nvSpPr>
        <p:spPr>
          <a:xfrm xmlns:a="http://schemas.openxmlformats.org/drawingml/2006/main">
            <a:off x="8172450" y="4848225"/>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0">
                <a:solidFill>
                  <a:srgbClr val="131518"/>
                </a:solidFill>
                <a:latin typeface="Courier New"/>
                <a:ea typeface="Courier New"/>
                <a:cs typeface="Courier New"/>
              </a:defRPr>
            </a:pPr>
            <a:r>
              <a:rPr sz="2475" b="0">
                <a:solidFill>
                  <a:srgbClr val="131518"/>
                </a:solidFill>
                <a:latin typeface="Courier New"/>
                <a:ea typeface="Courier New"/>
                <a:cs typeface="Courier New"/>
              </a:rPr>
              <a:t>type</a:t>
            </a:r>
          </a:p>
        </p:txBody>
      </p:sp>
      <p:sp>
        <p:nvSpPr>
          <p:cNvPr id="26" name="text-641">
            <a:extLst xmlns:a="http://schemas.openxmlformats.org/drawingml/2006/main">
              <a:ext uri="{FF2B5EF4-FFF2-40B4-BE49-F238E27FC236}">
                <a16:creationId xmlns:a16="http://schemas.microsoft.com/office/drawing/2014/main" id="{A6FC878C-496C-4A14-8B7B-5E6F519F9E0F}"/>
              </a:ext>
            </a:extLst>
          </p:cNvPr>
          <p:cNvSpPr>
            <a:spLocks xmlns:a="http://schemas.openxmlformats.org/drawingml/2006/main" noGrp="1"/>
          </p:cNvSpPr>
          <p:nvPr/>
        </p:nvSpPr>
        <p:spPr>
          <a:xfrm xmlns:a="http://schemas.openxmlformats.org/drawingml/2006/main">
            <a:off x="8134350" y="5476875"/>
            <a:ext cx="2876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0">
                <a:solidFill>
                  <a:srgbClr val="535A61"/>
                </a:solidFill>
                <a:latin typeface="Arial"/>
                <a:ea typeface="Arial"/>
                <a:cs typeface="Arial"/>
              </a:defRPr>
            </a:pPr>
            <a:r>
              <a:rPr sz="1875" b="0">
                <a:solidFill>
                  <a:srgbClr val="535A61"/>
                </a:solidFill>
                <a:latin typeface="Arial"/>
                <a:ea typeface="Arial"/>
                <a:cs typeface="Arial"/>
              </a:rPr>
              <a:t>метакласс</a:t>
            </a:r>
          </a:p>
        </p:txBody>
      </p:sp>
      <p:sp>
        <p:nvSpPr>
          <p:cNvPr id="27" name="takeaway-38">
            <a:extLst xmlns:a="http://schemas.openxmlformats.org/drawingml/2006/main">
              <a:ext uri="{FF2B5EF4-FFF2-40B4-BE49-F238E27FC236}">
                <a16:creationId xmlns:a16="http://schemas.microsoft.com/office/drawing/2014/main" id="{EB6F162E-F85E-48D5-85F9-0C690504D840}"/>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Метакласс — тип, экземплярами которого являются классы.</a:t>
            </a:r>
          </a:p>
        </p:txBody>
      </p:sp>
    </p:spTree>
    <p:extLst>
      <p:ext uri="{BB962C8B-B14F-4D97-AF65-F5344CB8AC3E}">
        <p14:creationId xmlns:p14="http://schemas.microsoft.com/office/powerpoint/2010/main" val="57719657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642">
            <a:extLst xmlns:a="http://schemas.openxmlformats.org/drawingml/2006/main">
              <a:ext uri="{FF2B5EF4-FFF2-40B4-BE49-F238E27FC236}">
                <a16:creationId xmlns:a16="http://schemas.microsoft.com/office/drawing/2014/main" id="{8FFEC592-F88D-4F0A-89A0-ECB25E83D94D}"/>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06 / СОЗДАНИЕ КЛАССА</a:t>
            </a:r>
          </a:p>
        </p:txBody>
      </p:sp>
      <p:sp>
        <p:nvSpPr>
          <p:cNvPr id="2" name="title-39">
            <a:extLst xmlns:a="http://schemas.openxmlformats.org/drawingml/2006/main">
              <a:ext uri="{FF2B5EF4-FFF2-40B4-BE49-F238E27FC236}">
                <a16:creationId xmlns:a16="http://schemas.microsoft.com/office/drawing/2014/main" id="{382F1262-F403-456D-BCC2-652CC9A2C9FC}"/>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type умеет создавать классы</a:t>
            </a:r>
          </a:p>
        </p:txBody>
      </p:sp>
      <p:sp>
        <p:nvSpPr>
          <p:cNvPr id="3" name="text-643">
            <a:extLst xmlns:a="http://schemas.openxmlformats.org/drawingml/2006/main">
              <a:ext uri="{FF2B5EF4-FFF2-40B4-BE49-F238E27FC236}">
                <a16:creationId xmlns:a16="http://schemas.microsoft.com/office/drawing/2014/main" id="{51B560B0-22CB-4AE1-8B53-099C29CD3924}"/>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С тремя аргументами: type(name, bases, namespace).</a:t>
            </a:r>
          </a:p>
        </p:txBody>
      </p:sp>
      <p:sp>
        <p:nvSpPr>
          <p:cNvPr id="4" name="surface-644">
            <a:extLst xmlns:a="http://schemas.openxmlformats.org/drawingml/2006/main">
              <a:ext uri="{FF2B5EF4-FFF2-40B4-BE49-F238E27FC236}">
                <a16:creationId xmlns:a16="http://schemas.microsoft.com/office/drawing/2014/main" id="{3E9E2280-101D-4244-A354-DB56D8BC64BF}"/>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645">
            <a:extLst xmlns:a="http://schemas.openxmlformats.org/drawingml/2006/main">
              <a:ext uri="{FF2B5EF4-FFF2-40B4-BE49-F238E27FC236}">
                <a16:creationId xmlns:a16="http://schemas.microsoft.com/office/drawing/2014/main" id="{4B8F571A-8132-4C0F-800C-3132C2B68C6D}"/>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646">
            <a:extLst xmlns:a="http://schemas.openxmlformats.org/drawingml/2006/main">
              <a:ext uri="{FF2B5EF4-FFF2-40B4-BE49-F238E27FC236}">
                <a16:creationId xmlns:a16="http://schemas.microsoft.com/office/drawing/2014/main" id="{8895F01F-A545-4A4D-8979-16734902B529}"/>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39</a:t>
            </a:r>
          </a:p>
        </p:txBody>
      </p:sp>
      <p:sp>
        <p:nvSpPr>
          <p:cNvPr id="7" name="text-647">
            <a:extLst xmlns:a="http://schemas.openxmlformats.org/drawingml/2006/main">
              <a:ext uri="{FF2B5EF4-FFF2-40B4-BE49-F238E27FC236}">
                <a16:creationId xmlns:a16="http://schemas.microsoft.com/office/drawing/2014/main" id="{924CF6B3-BD1C-430E-92E5-45D10DA29D1D}"/>
              </a:ext>
            </a:extLst>
          </p:cNvPr>
          <p:cNvSpPr>
            <a:spLocks xmlns:a="http://schemas.openxmlformats.org/drawingml/2006/main" noGrp="1"/>
          </p:cNvSpPr>
          <p:nvPr/>
        </p:nvSpPr>
        <p:spPr>
          <a:xfrm xmlns:a="http://schemas.openxmlformats.org/drawingml/2006/main">
            <a:off x="68580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ИНСТРУКЦИЯ class</a:t>
            </a:r>
          </a:p>
        </p:txBody>
      </p:sp>
      <p:sp>
        <p:nvSpPr>
          <p:cNvPr id="8" name="surface-648">
            <a:extLst xmlns:a="http://schemas.openxmlformats.org/drawingml/2006/main">
              <a:ext uri="{FF2B5EF4-FFF2-40B4-BE49-F238E27FC236}">
                <a16:creationId xmlns:a16="http://schemas.microsoft.com/office/drawing/2014/main" id="{D36846C4-9270-49B6-BE3E-DE6D044DCA30}"/>
              </a:ext>
            </a:extLst>
          </p:cNvPr>
          <p:cNvSpPr>
            <a:spLocks xmlns:a="http://schemas.openxmlformats.org/drawingml/2006/main" noGrp="1"/>
          </p:cNvSpPr>
          <p:nvPr/>
        </p:nvSpPr>
        <p:spPr>
          <a:xfrm xmlns:a="http://schemas.openxmlformats.org/drawingml/2006/main">
            <a:off x="685800" y="2647950"/>
            <a:ext cx="5276850" cy="2247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code-39-649">
            <a:extLst xmlns:a="http://schemas.openxmlformats.org/drawingml/2006/main">
              <a:ext uri="{FF2B5EF4-FFF2-40B4-BE49-F238E27FC236}">
                <a16:creationId xmlns:a16="http://schemas.microsoft.com/office/drawing/2014/main" id="{203E956B-2592-4AEC-92BA-B31633E5F863}"/>
              </a:ext>
            </a:extLst>
          </p:cNvPr>
          <p:cNvSpPr>
            <a:spLocks xmlns:a="http://schemas.openxmlformats.org/drawingml/2006/main" noGrp="1"/>
          </p:cNvSpPr>
          <p:nvPr/>
        </p:nvSpPr>
        <p:spPr>
          <a:xfrm xmlns:a="http://schemas.openxmlformats.org/drawingml/2006/main">
            <a:off x="84772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1">
                <a:solidFill>
                  <a:srgbClr val="286DA6"/>
                </a:solidFill>
                <a:latin typeface="Courier New"/>
                <a:ea typeface="Courier New"/>
                <a:cs typeface="Courier New"/>
              </a:rPr>
              <a:t>class</a:t>
            </a:r>
            <a:r>
              <a:rPr sz="1935" b="0">
                <a:solidFill>
                  <a:srgbClr val="131518"/>
                </a:solidFill>
                <a:latin typeface="Courier New"/>
                <a:ea typeface="Courier New"/>
                <a:cs typeface="Courier New"/>
              </a:rPr>
              <a:t> Sensor:</a:t>
            </a:r>
          </a:p>
        </p:txBody>
      </p:sp>
      <p:sp>
        <p:nvSpPr>
          <p:cNvPr id="10" name="code-39-650">
            <a:extLst xmlns:a="http://schemas.openxmlformats.org/drawingml/2006/main">
              <a:ext uri="{FF2B5EF4-FFF2-40B4-BE49-F238E27FC236}">
                <a16:creationId xmlns:a16="http://schemas.microsoft.com/office/drawing/2014/main" id="{B088C374-BC67-42EE-8D0B-4D11885E308C}"/>
              </a:ext>
            </a:extLst>
          </p:cNvPr>
          <p:cNvSpPr>
            <a:spLocks xmlns:a="http://schemas.openxmlformats.org/drawingml/2006/main" noGrp="1"/>
          </p:cNvSpPr>
          <p:nvPr/>
        </p:nvSpPr>
        <p:spPr>
          <a:xfrm xmlns:a="http://schemas.openxmlformats.org/drawingml/2006/main">
            <a:off x="84772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unit = "C"</a:t>
            </a:r>
          </a:p>
        </p:txBody>
      </p:sp>
      <p:sp>
        <p:nvSpPr>
          <p:cNvPr id="11" name="code-39-651">
            <a:extLst xmlns:a="http://schemas.openxmlformats.org/drawingml/2006/main">
              <a:ext uri="{FF2B5EF4-FFF2-40B4-BE49-F238E27FC236}">
                <a16:creationId xmlns:a16="http://schemas.microsoft.com/office/drawing/2014/main" id="{94D92AD9-BBF7-47D4-A3C9-68913DA18C2D}"/>
              </a:ext>
            </a:extLst>
          </p:cNvPr>
          <p:cNvSpPr>
            <a:spLocks xmlns:a="http://schemas.openxmlformats.org/drawingml/2006/main" noGrp="1"/>
          </p:cNvSpPr>
          <p:nvPr/>
        </p:nvSpPr>
        <p:spPr>
          <a:xfrm xmlns:a="http://schemas.openxmlformats.org/drawingml/2006/main">
            <a:off x="84772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12" name="code-39-652">
            <a:extLst xmlns:a="http://schemas.openxmlformats.org/drawingml/2006/main">
              <a:ext uri="{FF2B5EF4-FFF2-40B4-BE49-F238E27FC236}">
                <a16:creationId xmlns:a16="http://schemas.microsoft.com/office/drawing/2014/main" id="{F41850B9-9231-472D-B34D-B955F2248B0A}"/>
              </a:ext>
            </a:extLst>
          </p:cNvPr>
          <p:cNvSpPr>
            <a:spLocks xmlns:a="http://schemas.openxmlformats.org/drawingml/2006/main" noGrp="1"/>
          </p:cNvSpPr>
          <p:nvPr/>
        </p:nvSpPr>
        <p:spPr>
          <a:xfrm xmlns:a="http://schemas.openxmlformats.org/drawingml/2006/main">
            <a:off x="84772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 = Sensor()</a:t>
            </a:r>
          </a:p>
        </p:txBody>
      </p:sp>
      <p:sp>
        <p:nvSpPr>
          <p:cNvPr id="13" name="code-39-653">
            <a:extLst xmlns:a="http://schemas.openxmlformats.org/drawingml/2006/main">
              <a:ext uri="{FF2B5EF4-FFF2-40B4-BE49-F238E27FC236}">
                <a16:creationId xmlns:a16="http://schemas.microsoft.com/office/drawing/2014/main" id="{41A9AD47-9DEF-4BD8-8989-5C81B91AF0D9}"/>
              </a:ext>
            </a:extLst>
          </p:cNvPr>
          <p:cNvSpPr>
            <a:spLocks xmlns:a="http://schemas.openxmlformats.org/drawingml/2006/main" noGrp="1"/>
          </p:cNvSpPr>
          <p:nvPr/>
        </p:nvSpPr>
        <p:spPr>
          <a:xfrm xmlns:a="http://schemas.openxmlformats.org/drawingml/2006/main">
            <a:off x="84772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s.unit  </a:t>
            </a:r>
            <a:r>
              <a:rPr sz="1935" b="0">
                <a:solidFill>
                  <a:srgbClr val="535A61"/>
                </a:solidFill>
                <a:latin typeface="Courier New"/>
                <a:ea typeface="Courier New"/>
                <a:cs typeface="Courier New"/>
              </a:rPr>
              <a:t># "C"</a:t>
            </a:r>
          </a:p>
        </p:txBody>
      </p:sp>
      <p:sp>
        <p:nvSpPr>
          <p:cNvPr id="14" name="text-654">
            <a:extLst xmlns:a="http://schemas.openxmlformats.org/drawingml/2006/main">
              <a:ext uri="{FF2B5EF4-FFF2-40B4-BE49-F238E27FC236}">
                <a16:creationId xmlns:a16="http://schemas.microsoft.com/office/drawing/2014/main" id="{79735649-1FFC-4721-9ECA-C8E4319FACE5}"/>
              </a:ext>
            </a:extLst>
          </p:cNvPr>
          <p:cNvSpPr>
            <a:spLocks xmlns:a="http://schemas.openxmlformats.org/drawingml/2006/main" noGrp="1"/>
          </p:cNvSpPr>
          <p:nvPr/>
        </p:nvSpPr>
        <p:spPr>
          <a:xfrm xmlns:a="http://schemas.openxmlformats.org/drawingml/2006/main">
            <a:off x="68580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Тело класса задаёт атрибуты</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в пространстве имён.</a:t>
            </a:r>
          </a:p>
        </p:txBody>
      </p:sp>
      <p:sp>
        <p:nvSpPr>
          <p:cNvPr id="15" name="text-655">
            <a:extLst xmlns:a="http://schemas.openxmlformats.org/drawingml/2006/main">
              <a:ext uri="{FF2B5EF4-FFF2-40B4-BE49-F238E27FC236}">
                <a16:creationId xmlns:a16="http://schemas.microsoft.com/office/drawing/2014/main" id="{D1431A99-B57F-487E-AC04-42FF6DBD4073}"/>
              </a:ext>
            </a:extLst>
          </p:cNvPr>
          <p:cNvSpPr>
            <a:spLocks xmlns:a="http://schemas.openxmlformats.org/drawingml/2006/main" noGrp="1"/>
          </p:cNvSpPr>
          <p:nvPr/>
        </p:nvSpPr>
        <p:spPr>
          <a:xfrm xmlns:a="http://schemas.openxmlformats.org/drawingml/2006/main">
            <a:off x="6229350" y="2181225"/>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286DA6"/>
                </a:solidFill>
                <a:latin typeface="Arial"/>
                <a:ea typeface="Arial"/>
                <a:cs typeface="Arial"/>
              </a:defRPr>
            </a:pPr>
            <a:r>
              <a:rPr sz="2400" b="1">
                <a:solidFill>
                  <a:srgbClr val="286DA6"/>
                </a:solidFill>
                <a:latin typeface="Arial"/>
                <a:ea typeface="Arial"/>
                <a:cs typeface="Arial"/>
              </a:rPr>
              <a:t>ДИНАМИЧЕСКОЕ СОЗДАНИЕ</a:t>
            </a:r>
          </a:p>
        </p:txBody>
      </p:sp>
      <p:sp>
        <p:nvSpPr>
          <p:cNvPr id="16" name="surface-656">
            <a:extLst xmlns:a="http://schemas.openxmlformats.org/drawingml/2006/main">
              <a:ext uri="{FF2B5EF4-FFF2-40B4-BE49-F238E27FC236}">
                <a16:creationId xmlns:a16="http://schemas.microsoft.com/office/drawing/2014/main" id="{63F3D597-8E0A-4E0B-B4B7-B427B0A51594}"/>
              </a:ext>
            </a:extLst>
          </p:cNvPr>
          <p:cNvSpPr>
            <a:spLocks xmlns:a="http://schemas.openxmlformats.org/drawingml/2006/main" noGrp="1"/>
          </p:cNvSpPr>
          <p:nvPr/>
        </p:nvSpPr>
        <p:spPr>
          <a:xfrm xmlns:a="http://schemas.openxmlformats.org/drawingml/2006/main">
            <a:off x="6229350" y="2647950"/>
            <a:ext cx="5276850" cy="2439714"/>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7" name="code-39-657">
            <a:extLst xmlns:a="http://schemas.openxmlformats.org/drawingml/2006/main">
              <a:ext uri="{FF2B5EF4-FFF2-40B4-BE49-F238E27FC236}">
                <a16:creationId xmlns:a16="http://schemas.microsoft.com/office/drawing/2014/main" id="{127D3D18-C39F-4F0D-88FA-7B46E01980BD}"/>
              </a:ext>
            </a:extLst>
          </p:cNvPr>
          <p:cNvSpPr>
            <a:spLocks xmlns:a="http://schemas.openxmlformats.org/drawingml/2006/main" noGrp="1"/>
          </p:cNvSpPr>
          <p:nvPr/>
        </p:nvSpPr>
        <p:spPr>
          <a:xfrm xmlns:a="http://schemas.openxmlformats.org/drawingml/2006/main">
            <a:off x="6391275" y="2809875"/>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Sensor = type(</a:t>
            </a:r>
          </a:p>
        </p:txBody>
      </p:sp>
      <p:sp>
        <p:nvSpPr>
          <p:cNvPr id="18" name="code-39-658">
            <a:extLst xmlns:a="http://schemas.openxmlformats.org/drawingml/2006/main">
              <a:ext uri="{FF2B5EF4-FFF2-40B4-BE49-F238E27FC236}">
                <a16:creationId xmlns:a16="http://schemas.microsoft.com/office/drawing/2014/main" id="{94533FEB-EC6E-4F9F-BD84-7D5B1FDB56D6}"/>
              </a:ext>
            </a:extLst>
          </p:cNvPr>
          <p:cNvSpPr>
            <a:spLocks xmlns:a="http://schemas.openxmlformats.org/drawingml/2006/main" noGrp="1"/>
          </p:cNvSpPr>
          <p:nvPr/>
        </p:nvSpPr>
        <p:spPr>
          <a:xfrm xmlns:a="http://schemas.openxmlformats.org/drawingml/2006/main">
            <a:off x="6391275" y="3112141"/>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"Sensor",</a:t>
            </a:r>
          </a:p>
        </p:txBody>
      </p:sp>
      <p:sp>
        <p:nvSpPr>
          <p:cNvPr id="19" name="code-39-659">
            <a:extLst xmlns:a="http://schemas.openxmlformats.org/drawingml/2006/main">
              <a:ext uri="{FF2B5EF4-FFF2-40B4-BE49-F238E27FC236}">
                <a16:creationId xmlns:a16="http://schemas.microsoft.com/office/drawing/2014/main" id="{CAF91D59-2FCB-4059-9338-BDA606489B4A}"/>
              </a:ext>
            </a:extLst>
          </p:cNvPr>
          <p:cNvSpPr>
            <a:spLocks xmlns:a="http://schemas.openxmlformats.org/drawingml/2006/main" noGrp="1"/>
          </p:cNvSpPr>
          <p:nvPr/>
        </p:nvSpPr>
        <p:spPr>
          <a:xfrm xmlns:a="http://schemas.openxmlformats.org/drawingml/2006/main">
            <a:off x="6391275" y="3414408"/>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a:t>
            </a:r>
          </a:p>
        </p:txBody>
      </p:sp>
      <p:sp>
        <p:nvSpPr>
          <p:cNvPr id="20" name="code-39-660">
            <a:extLst xmlns:a="http://schemas.openxmlformats.org/drawingml/2006/main">
              <a:ext uri="{FF2B5EF4-FFF2-40B4-BE49-F238E27FC236}">
                <a16:creationId xmlns:a16="http://schemas.microsoft.com/office/drawing/2014/main" id="{B31CDAC7-3E09-4905-8AE0-EF919F145692}"/>
              </a:ext>
            </a:extLst>
          </p:cNvPr>
          <p:cNvSpPr>
            <a:spLocks xmlns:a="http://schemas.openxmlformats.org/drawingml/2006/main" noGrp="1"/>
          </p:cNvSpPr>
          <p:nvPr/>
        </p:nvSpPr>
        <p:spPr>
          <a:xfrm xmlns:a="http://schemas.openxmlformats.org/drawingml/2006/main">
            <a:off x="6391275" y="3716674"/>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    {"unit": "C"}</a:t>
            </a:r>
          </a:p>
        </p:txBody>
      </p:sp>
      <p:sp>
        <p:nvSpPr>
          <p:cNvPr id="21" name="code-39-661">
            <a:extLst xmlns:a="http://schemas.openxmlformats.org/drawingml/2006/main">
              <a:ext uri="{FF2B5EF4-FFF2-40B4-BE49-F238E27FC236}">
                <a16:creationId xmlns:a16="http://schemas.microsoft.com/office/drawing/2014/main" id="{00BDABC2-468D-4E06-A105-9FE871388C0F}"/>
              </a:ext>
            </a:extLst>
          </p:cNvPr>
          <p:cNvSpPr>
            <a:spLocks xmlns:a="http://schemas.openxmlformats.org/drawingml/2006/main" noGrp="1"/>
          </p:cNvSpPr>
          <p:nvPr/>
        </p:nvSpPr>
        <p:spPr>
          <a:xfrm xmlns:a="http://schemas.openxmlformats.org/drawingml/2006/main">
            <a:off x="6391275" y="4018940"/>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a:t>
            </a:r>
          </a:p>
        </p:txBody>
      </p:sp>
      <p:sp>
        <p:nvSpPr>
          <p:cNvPr id="22" name="code-39-662">
            <a:extLst xmlns:a="http://schemas.openxmlformats.org/drawingml/2006/main">
              <a:ext uri="{FF2B5EF4-FFF2-40B4-BE49-F238E27FC236}">
                <a16:creationId xmlns:a16="http://schemas.microsoft.com/office/drawing/2014/main" id="{6C69E701-3B59-4579-8C5E-9533DE312068}"/>
              </a:ext>
            </a:extLst>
          </p:cNvPr>
          <p:cNvSpPr>
            <a:spLocks xmlns:a="http://schemas.openxmlformats.org/drawingml/2006/main" noGrp="1"/>
          </p:cNvSpPr>
          <p:nvPr/>
        </p:nvSpPr>
        <p:spPr>
          <a:xfrm xmlns:a="http://schemas.openxmlformats.org/drawingml/2006/main">
            <a:off x="6391275" y="4321207"/>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 = Sensor()</a:t>
            </a:r>
          </a:p>
        </p:txBody>
      </p:sp>
      <p:sp>
        <p:nvSpPr>
          <p:cNvPr id="23" name="code-39-663">
            <a:extLst xmlns:a="http://schemas.openxmlformats.org/drawingml/2006/main">
              <a:ext uri="{FF2B5EF4-FFF2-40B4-BE49-F238E27FC236}">
                <a16:creationId xmlns:a16="http://schemas.microsoft.com/office/drawing/2014/main" id="{CACAE58C-7249-44F1-BA5F-3BE37C8BCFEB}"/>
              </a:ext>
            </a:extLst>
          </p:cNvPr>
          <p:cNvSpPr>
            <a:spLocks xmlns:a="http://schemas.openxmlformats.org/drawingml/2006/main" noGrp="1"/>
          </p:cNvSpPr>
          <p:nvPr/>
        </p:nvSpPr>
        <p:spPr>
          <a:xfrm xmlns:a="http://schemas.openxmlformats.org/drawingml/2006/main">
            <a:off x="6391275" y="4623473"/>
            <a:ext cx="4953000" cy="321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35" b="0">
                <a:solidFill>
                  <a:srgbClr val="131518"/>
                </a:solidFill>
                <a:latin typeface="Courier New"/>
                <a:ea typeface="Courier New"/>
                <a:cs typeface="Courier New"/>
              </a:defRPr>
            </a:pPr>
            <a:r>
              <a:rPr sz="1935" b="0">
                <a:solidFill>
                  <a:srgbClr val="131518"/>
                </a:solidFill>
                <a:latin typeface="Courier New"/>
                <a:ea typeface="Courier New"/>
                <a:cs typeface="Courier New"/>
              </a:rPr>
              <a:t>s.unit  </a:t>
            </a:r>
            <a:r>
              <a:rPr sz="1935" b="0">
                <a:solidFill>
                  <a:srgbClr val="535A61"/>
                </a:solidFill>
                <a:latin typeface="Courier New"/>
                <a:ea typeface="Courier New"/>
                <a:cs typeface="Courier New"/>
              </a:rPr>
              <a:t># "C"</a:t>
            </a:r>
          </a:p>
        </p:txBody>
      </p:sp>
      <p:sp>
        <p:nvSpPr>
          <p:cNvPr id="24" name="text-664">
            <a:extLst xmlns:a="http://schemas.openxmlformats.org/drawingml/2006/main">
              <a:ext uri="{FF2B5EF4-FFF2-40B4-BE49-F238E27FC236}">
                <a16:creationId xmlns:a16="http://schemas.microsoft.com/office/drawing/2014/main" id="{D08C3495-B251-4D6F-9FEF-5E48C72BEE46}"/>
              </a:ext>
            </a:extLst>
          </p:cNvPr>
          <p:cNvSpPr>
            <a:spLocks xmlns:a="http://schemas.openxmlformats.org/drawingml/2006/main" noGrp="1"/>
          </p:cNvSpPr>
          <p:nvPr/>
        </p:nvSpPr>
        <p:spPr>
          <a:xfrm xmlns:a="http://schemas.openxmlformats.org/drawingml/2006/main">
            <a:off x="6229350" y="5153025"/>
            <a:ext cx="5276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Имя, базовые классы</a:t>
            </a:r>
          </a:p>
          <a:p xmlns:a="http://schemas.openxmlformats.org/drawingml/2006/main">
            <a:pPr algn="l">
              <a:defRPr sz="2025" b="0">
                <a:solidFill>
                  <a:srgbClr val="535A61"/>
                </a:solidFill>
                <a:latin typeface="Arial"/>
                <a:ea typeface="Arial"/>
                <a:cs typeface="Arial"/>
              </a:defRPr>
            </a:pPr>
            <a:r>
              <a:rPr sz="2025" b="0">
                <a:solidFill>
                  <a:srgbClr val="535A61"/>
                </a:solidFill>
                <a:latin typeface="Arial"/>
                <a:ea typeface="Arial"/>
                <a:cs typeface="Arial"/>
              </a:rPr>
              <a:t>и атрибуты переданы явно.</a:t>
            </a:r>
          </a:p>
        </p:txBody>
      </p:sp>
      <p:sp>
        <p:nvSpPr>
          <p:cNvPr id="25" name="takeaway-39">
            <a:extLst xmlns:a="http://schemas.openxmlformats.org/drawingml/2006/main">
              <a:ext uri="{FF2B5EF4-FFF2-40B4-BE49-F238E27FC236}">
                <a16:creationId xmlns:a16="http://schemas.microsoft.com/office/drawing/2014/main" id="{4D6F3832-7FF6-4D3B-AD1F-EEBEDC471AD2}"/>
              </a:ext>
            </a:extLst>
          </p:cNvPr>
          <p:cNvSpPr>
            <a:spLocks xmlns:a="http://schemas.openxmlformats.org/drawingml/2006/main" noGrp="1"/>
          </p:cNvSpPr>
          <p:nvPr/>
        </p:nvSpPr>
        <p:spPr>
          <a:xfrm xmlns:a="http://schemas.openxmlformats.org/drawingml/2006/main">
            <a:off x="685800" y="59817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Примеры дают сопоставимое поведение; class выполняет дополнительные шаги.</a:t>
            </a:r>
          </a:p>
        </p:txBody>
      </p:sp>
    </p:spTree>
    <p:extLst>
      <p:ext uri="{BB962C8B-B14F-4D97-AF65-F5344CB8AC3E}">
        <p14:creationId xmlns:p14="http://schemas.microsoft.com/office/powerpoint/2010/main" val="97014256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665">
            <a:extLst xmlns:a="http://schemas.openxmlformats.org/drawingml/2006/main">
              <a:ext uri="{FF2B5EF4-FFF2-40B4-BE49-F238E27FC236}">
                <a16:creationId xmlns:a16="http://schemas.microsoft.com/office/drawing/2014/main" id="{B8D4E507-BA83-4D8A-9121-FF08E2BA7B91}"/>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06 / МЕХАНИЗМ class</a:t>
            </a:r>
          </a:p>
        </p:txBody>
      </p:sp>
      <p:sp>
        <p:nvSpPr>
          <p:cNvPr id="2" name="title-40">
            <a:extLst xmlns:a="http://schemas.openxmlformats.org/drawingml/2006/main">
              <a:ext uri="{FF2B5EF4-FFF2-40B4-BE49-F238E27FC236}">
                <a16:creationId xmlns:a16="http://schemas.microsoft.com/office/drawing/2014/main" id="{44345832-B26E-4EE5-B75A-49099813C9B7}"/>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Когда вмешивается метакласс</a:t>
            </a:r>
          </a:p>
        </p:txBody>
      </p:sp>
      <p:sp>
        <p:nvSpPr>
          <p:cNvPr id="3" name="text-666">
            <a:extLst xmlns:a="http://schemas.openxmlformats.org/drawingml/2006/main">
              <a:ext uri="{FF2B5EF4-FFF2-40B4-BE49-F238E27FC236}">
                <a16:creationId xmlns:a16="http://schemas.microsoft.com/office/drawing/2014/main" id="{03AC45DD-F79E-4D09-9E68-196690C55180}"/>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Упрощённая последовательность создания класса.</a:t>
            </a:r>
          </a:p>
        </p:txBody>
      </p:sp>
      <p:sp>
        <p:nvSpPr>
          <p:cNvPr id="4" name="surface-667">
            <a:extLst xmlns:a="http://schemas.openxmlformats.org/drawingml/2006/main">
              <a:ext uri="{FF2B5EF4-FFF2-40B4-BE49-F238E27FC236}">
                <a16:creationId xmlns:a16="http://schemas.microsoft.com/office/drawing/2014/main" id="{04D76EA9-881B-44FC-BF78-59C4885C9B50}"/>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668">
            <a:extLst xmlns:a="http://schemas.openxmlformats.org/drawingml/2006/main">
              <a:ext uri="{FF2B5EF4-FFF2-40B4-BE49-F238E27FC236}">
                <a16:creationId xmlns:a16="http://schemas.microsoft.com/office/drawing/2014/main" id="{F536E465-4B62-4794-8566-EB45D0C13DDD}"/>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669">
            <a:extLst xmlns:a="http://schemas.openxmlformats.org/drawingml/2006/main">
              <a:ext uri="{FF2B5EF4-FFF2-40B4-BE49-F238E27FC236}">
                <a16:creationId xmlns:a16="http://schemas.microsoft.com/office/drawing/2014/main" id="{D37148A1-7282-43F8-BCB4-F040B6B54717}"/>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40</a:t>
            </a:r>
          </a:p>
        </p:txBody>
      </p:sp>
      <p:graphicFrame>
        <p:nvGraphicFramePr>
          <p:cNvPr id="15" name=""/>
          <p:cNvGraphicFramePr/>
          <p:nvPr/>
        </p:nvGraphicFramePr>
        <p:xfrm>
          <a:off xmlns:a="http://schemas.openxmlformats.org/drawingml/2006/main" x="685800" y="2181225"/>
          <a:ext xmlns:a="http://schemas.openxmlformats.org/drawingml/2006/main" cx="10820400" cy="3314700"/>
        </p:xfrm>
        <a:graphic xmlns:a="http://schemas.openxmlformats.org/drawingml/2006/main">
          <a:graphicData uri="http://schemas.openxmlformats.org/drawingml/2006/table">
            <a:tbl>
              <a:tblPr firstRow="0" bandRow="0"/>
              <a:tblGrid>
                <a:gridCol w="1238250"/>
                <a:gridCol w="5000625"/>
                <a:gridCol w="4581525"/>
              </a:tblGrid>
              <a:tr h="438150">
                <a:tc>
                  <a:txBody>
                    <a:bodyPr wrap="square" lIns="114300" tIns="57150" rIns="114300" bIns="57150">
                      <a:noAutofit/>
                    </a:bodyPr>
                    <a:lstStyle/>
                    <a:p>
                      <a:r>
                        <a:rPr sz="1800" b="1">
                          <a:solidFill>
                            <a:srgbClr val="131518"/>
                          </a:solidFill>
                          <a:latin typeface="Arial"/>
                          <a:ea typeface="Arial"/>
                          <a:cs typeface="Arial"/>
                        </a:rPr>
                        <a:t>Шаг</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Что происходит</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Точка расширения</a:t>
                      </a:r>
                    </a:p>
                  </a:txBody>
                  <a:tcPr marL="91440" marR="91440" marT="45720" marB="45720" anchor="ctr">
                    <a:solidFill>
                      <a:srgbClr val="F0F1F2"/>
                    </a:solidFill>
                  </a:tcPr>
                </a:tc>
              </a:tr>
              <a:tr h="575310">
                <a:tc>
                  <a:txBody>
                    <a:bodyPr wrap="square" lIns="114300" tIns="57150" rIns="114300" bIns="57150">
                      <a:noAutofit/>
                    </a:bodyPr>
                    <a:lstStyle/>
                    <a:p>
                      <a:r>
                        <a:rPr sz="1740" b="0">
                          <a:solidFill>
                            <a:srgbClr val="131518"/>
                          </a:solidFill>
                          <a:latin typeface="Arial"/>
                          <a:ea typeface="Arial"/>
                          <a:cs typeface="Arial"/>
                        </a:rPr>
                        <a:t>1</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Выбор подходящего метакласса</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metaclass=… и типы базовых классов</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2</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Подготовка пространства имён</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Meta.__prepare__</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3</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Выполнение тела class</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Атрибуты и методы попадают в namespace</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4</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Создание объекта класса</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Вызов Meta(name, bases, namespace)</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5</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Декораторы и привязка имени</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Имя связывается с итоговым объектом</a:t>
                      </a:r>
                    </a:p>
                  </a:txBody>
                  <a:tcPr marL="91440" marR="91440" marT="45720" marB="45720" anchor="ctr">
                    <a:solidFill>
                      <a:srgbClr val="FFFFFF"/>
                    </a:solidFill>
                  </a:tcPr>
                </a:tc>
              </a:tr>
            </a:tbl>
          </a:graphicData>
        </a:graphic>
      </p:graphicFrame>
      <p:sp>
        <p:nvSpPr>
          <p:cNvPr id="8" name="takeaway-40">
            <a:extLst xmlns:a="http://schemas.openxmlformats.org/drawingml/2006/main">
              <a:ext uri="{FF2B5EF4-FFF2-40B4-BE49-F238E27FC236}">
                <a16:creationId xmlns:a16="http://schemas.microsoft.com/office/drawing/2014/main" id="{B240802F-E24C-452C-9F5A-35ABAEE25EF9}"/>
              </a:ext>
            </a:extLst>
          </p:cNvPr>
          <p:cNvSpPr>
            <a:spLocks xmlns:a="http://schemas.openxmlformats.org/drawingml/2006/main" noGrp="1"/>
          </p:cNvSpPr>
          <p:nvPr/>
        </p:nvSpPr>
        <p:spPr>
          <a:xfrm xmlns:a="http://schemas.openxmlformats.org/drawingml/2006/main">
            <a:off x="685800" y="5953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Meta.__new__ создаёт класс; методы самого класса описывают его экземпляры.</a:t>
            </a:r>
          </a:p>
        </p:txBody>
      </p:sp>
    </p:spTree>
    <p:extLst>
      <p:ext uri="{BB962C8B-B14F-4D97-AF65-F5344CB8AC3E}">
        <p14:creationId xmlns:p14="http://schemas.microsoft.com/office/powerpoint/2010/main" val="209984148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670">
            <a:extLst xmlns:a="http://schemas.openxmlformats.org/drawingml/2006/main">
              <a:ext uri="{FF2B5EF4-FFF2-40B4-BE49-F238E27FC236}">
                <a16:creationId xmlns:a16="http://schemas.microsoft.com/office/drawing/2014/main" id="{DDA711C6-B69F-4122-A34A-E616E8A9718D}"/>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06 / ПРИМЕР МЕТАКЛАССА</a:t>
            </a:r>
          </a:p>
        </p:txBody>
      </p:sp>
      <p:sp>
        <p:nvSpPr>
          <p:cNvPr id="2" name="title-41">
            <a:extLst xmlns:a="http://schemas.openxmlformats.org/drawingml/2006/main">
              <a:ext uri="{FF2B5EF4-FFF2-40B4-BE49-F238E27FC236}">
                <a16:creationId xmlns:a16="http://schemas.microsoft.com/office/drawing/2014/main" id="{D73F610F-25E1-418B-9303-8C3130568164}"/>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Проверим правило при создании класса</a:t>
            </a:r>
          </a:p>
        </p:txBody>
      </p:sp>
      <p:sp>
        <p:nvSpPr>
          <p:cNvPr id="3" name="text-671">
            <a:extLst xmlns:a="http://schemas.openxmlformats.org/drawingml/2006/main">
              <a:ext uri="{FF2B5EF4-FFF2-40B4-BE49-F238E27FC236}">
                <a16:creationId xmlns:a16="http://schemas.microsoft.com/office/drawing/2014/main" id="{EE71546E-7125-44DB-8D1D-A42DEE0C9524}"/>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Каждый подкласс Quantity обязан явно объявить unit в собственном теле.</a:t>
            </a:r>
          </a:p>
        </p:txBody>
      </p:sp>
      <p:sp>
        <p:nvSpPr>
          <p:cNvPr id="4" name="surface-672">
            <a:extLst xmlns:a="http://schemas.openxmlformats.org/drawingml/2006/main">
              <a:ext uri="{FF2B5EF4-FFF2-40B4-BE49-F238E27FC236}">
                <a16:creationId xmlns:a16="http://schemas.microsoft.com/office/drawing/2014/main" id="{E42DEE34-3209-4107-8D52-B0C308FD7140}"/>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673">
            <a:extLst xmlns:a="http://schemas.openxmlformats.org/drawingml/2006/main">
              <a:ext uri="{FF2B5EF4-FFF2-40B4-BE49-F238E27FC236}">
                <a16:creationId xmlns:a16="http://schemas.microsoft.com/office/drawing/2014/main" id="{3742CBE8-0785-448B-A116-D3AB13A64C39}"/>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674">
            <a:extLst xmlns:a="http://schemas.openxmlformats.org/drawingml/2006/main">
              <a:ext uri="{FF2B5EF4-FFF2-40B4-BE49-F238E27FC236}">
                <a16:creationId xmlns:a16="http://schemas.microsoft.com/office/drawing/2014/main" id="{AD1C40A8-DCD2-4D77-BE32-477D836892B6}"/>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41</a:t>
            </a:r>
          </a:p>
        </p:txBody>
      </p:sp>
      <p:sp>
        <p:nvSpPr>
          <p:cNvPr id="7" name="surface-675">
            <a:extLst xmlns:a="http://schemas.openxmlformats.org/drawingml/2006/main">
              <a:ext uri="{FF2B5EF4-FFF2-40B4-BE49-F238E27FC236}">
                <a16:creationId xmlns:a16="http://schemas.microsoft.com/office/drawing/2014/main" id="{5AF1FC16-7313-468A-A0BC-1F9CD416B703}"/>
              </a:ext>
            </a:extLst>
          </p:cNvPr>
          <p:cNvSpPr>
            <a:spLocks xmlns:a="http://schemas.openxmlformats.org/drawingml/2006/main" noGrp="1"/>
          </p:cNvSpPr>
          <p:nvPr/>
        </p:nvSpPr>
        <p:spPr>
          <a:xfrm xmlns:a="http://schemas.openxmlformats.org/drawingml/2006/main">
            <a:off x="685800" y="2143125"/>
            <a:ext cx="10820400" cy="368808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41-676">
            <a:extLst xmlns:a="http://schemas.openxmlformats.org/drawingml/2006/main">
              <a:ext uri="{FF2B5EF4-FFF2-40B4-BE49-F238E27FC236}">
                <a16:creationId xmlns:a16="http://schemas.microsoft.com/office/drawing/2014/main" id="{6458309C-0341-47C5-A766-BEDE395EAA0D}"/>
              </a:ext>
            </a:extLst>
          </p:cNvPr>
          <p:cNvSpPr>
            <a:spLocks xmlns:a="http://schemas.openxmlformats.org/drawingml/2006/main" noGrp="1"/>
          </p:cNvSpPr>
          <p:nvPr/>
        </p:nvSpPr>
        <p:spPr>
          <a:xfrm xmlns:a="http://schemas.openxmlformats.org/drawingml/2006/main">
            <a:off x="895350" y="235267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1">
                <a:solidFill>
                  <a:srgbClr val="286DA6"/>
                </a:solidFill>
                <a:latin typeface="Courier New"/>
                <a:ea typeface="Courier New"/>
                <a:cs typeface="Courier New"/>
              </a:rPr>
              <a:t>class</a:t>
            </a:r>
            <a:r>
              <a:rPr sz="1950" b="0">
                <a:solidFill>
                  <a:srgbClr val="131518"/>
                </a:solidFill>
                <a:latin typeface="Courier New"/>
                <a:ea typeface="Courier New"/>
                <a:cs typeface="Courier New"/>
              </a:rPr>
              <a:t> RequireUnit(type):</a:t>
            </a:r>
          </a:p>
        </p:txBody>
      </p:sp>
      <p:sp>
        <p:nvSpPr>
          <p:cNvPr id="9" name="code-41-677">
            <a:extLst xmlns:a="http://schemas.openxmlformats.org/drawingml/2006/main">
              <a:ext uri="{FF2B5EF4-FFF2-40B4-BE49-F238E27FC236}">
                <a16:creationId xmlns:a16="http://schemas.microsoft.com/office/drawing/2014/main" id="{6596CAFB-4B8B-48B8-BC0A-F6A014A0733E}"/>
              </a:ext>
            </a:extLst>
          </p:cNvPr>
          <p:cNvSpPr>
            <a:spLocks xmlns:a="http://schemas.openxmlformats.org/drawingml/2006/main" noGrp="1"/>
          </p:cNvSpPr>
          <p:nvPr/>
        </p:nvSpPr>
        <p:spPr>
          <a:xfrm xmlns:a="http://schemas.openxmlformats.org/drawingml/2006/main">
            <a:off x="895350" y="264985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0">
                <a:solidFill>
                  <a:srgbClr val="131518"/>
                </a:solidFill>
                <a:latin typeface="Courier New"/>
                <a:ea typeface="Courier New"/>
                <a:cs typeface="Courier New"/>
              </a:rPr>
              <a:t>    </a:t>
            </a:r>
            <a:r>
              <a:rPr sz="1950" b="1">
                <a:solidFill>
                  <a:srgbClr val="286DA6"/>
                </a:solidFill>
                <a:latin typeface="Courier New"/>
                <a:ea typeface="Courier New"/>
                <a:cs typeface="Courier New"/>
              </a:rPr>
              <a:t>def</a:t>
            </a:r>
            <a:r>
              <a:rPr sz="1950" b="0">
                <a:solidFill>
                  <a:srgbClr val="131518"/>
                </a:solidFill>
                <a:latin typeface="Courier New"/>
                <a:ea typeface="Courier New"/>
                <a:cs typeface="Courier New"/>
              </a:rPr>
              <a:t> __new__(mcls, name, bases, ns):</a:t>
            </a:r>
          </a:p>
        </p:txBody>
      </p:sp>
      <p:sp>
        <p:nvSpPr>
          <p:cNvPr id="10" name="code-41-678">
            <a:extLst xmlns:a="http://schemas.openxmlformats.org/drawingml/2006/main">
              <a:ext uri="{FF2B5EF4-FFF2-40B4-BE49-F238E27FC236}">
                <a16:creationId xmlns:a16="http://schemas.microsoft.com/office/drawing/2014/main" id="{EFD06088-33D6-4344-ACF2-17922552787F}"/>
              </a:ext>
            </a:extLst>
          </p:cNvPr>
          <p:cNvSpPr>
            <a:spLocks xmlns:a="http://schemas.openxmlformats.org/drawingml/2006/main" noGrp="1"/>
          </p:cNvSpPr>
          <p:nvPr/>
        </p:nvSpPr>
        <p:spPr>
          <a:xfrm xmlns:a="http://schemas.openxmlformats.org/drawingml/2006/main">
            <a:off x="895350" y="294703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0">
                <a:solidFill>
                  <a:srgbClr val="131518"/>
                </a:solidFill>
                <a:latin typeface="Courier New"/>
                <a:ea typeface="Courier New"/>
                <a:cs typeface="Courier New"/>
              </a:rPr>
              <a:t>        </a:t>
            </a:r>
            <a:r>
              <a:rPr sz="1950" b="1">
                <a:solidFill>
                  <a:srgbClr val="286DA6"/>
                </a:solidFill>
                <a:latin typeface="Courier New"/>
                <a:ea typeface="Courier New"/>
                <a:cs typeface="Courier New"/>
              </a:rPr>
              <a:t>if</a:t>
            </a:r>
            <a:r>
              <a:rPr sz="1950" b="0">
                <a:solidFill>
                  <a:srgbClr val="131518"/>
                </a:solidFill>
                <a:latin typeface="Courier New"/>
                <a:ea typeface="Courier New"/>
                <a:cs typeface="Courier New"/>
              </a:rPr>
              <a:t> bases </a:t>
            </a:r>
            <a:r>
              <a:rPr sz="1950" b="1">
                <a:solidFill>
                  <a:srgbClr val="286DA6"/>
                </a:solidFill>
                <a:latin typeface="Courier New"/>
                <a:ea typeface="Courier New"/>
                <a:cs typeface="Courier New"/>
              </a:rPr>
              <a:t>and</a:t>
            </a:r>
            <a:r>
              <a:rPr sz="1950" b="0">
                <a:solidFill>
                  <a:srgbClr val="131518"/>
                </a:solidFill>
                <a:latin typeface="Courier New"/>
                <a:ea typeface="Courier New"/>
                <a:cs typeface="Courier New"/>
              </a:rPr>
              <a:t> "unit" </a:t>
            </a:r>
            <a:r>
              <a:rPr sz="1950" b="1">
                <a:solidFill>
                  <a:srgbClr val="286DA6"/>
                </a:solidFill>
                <a:latin typeface="Courier New"/>
                <a:ea typeface="Courier New"/>
                <a:cs typeface="Courier New"/>
              </a:rPr>
              <a:t>not</a:t>
            </a:r>
            <a:r>
              <a:rPr sz="1950" b="0">
                <a:solidFill>
                  <a:srgbClr val="131518"/>
                </a:solidFill>
                <a:latin typeface="Courier New"/>
                <a:ea typeface="Courier New"/>
                <a:cs typeface="Courier New"/>
              </a:rPr>
              <a:t> </a:t>
            </a:r>
            <a:r>
              <a:rPr sz="1950" b="1">
                <a:solidFill>
                  <a:srgbClr val="286DA6"/>
                </a:solidFill>
                <a:latin typeface="Courier New"/>
                <a:ea typeface="Courier New"/>
                <a:cs typeface="Courier New"/>
              </a:rPr>
              <a:t>in</a:t>
            </a:r>
            <a:r>
              <a:rPr sz="1950" b="0">
                <a:solidFill>
                  <a:srgbClr val="131518"/>
                </a:solidFill>
                <a:latin typeface="Courier New"/>
                <a:ea typeface="Courier New"/>
                <a:cs typeface="Courier New"/>
              </a:rPr>
              <a:t> ns:</a:t>
            </a:r>
          </a:p>
        </p:txBody>
      </p:sp>
      <p:sp>
        <p:nvSpPr>
          <p:cNvPr id="11" name="code-41-679">
            <a:extLst xmlns:a="http://schemas.openxmlformats.org/drawingml/2006/main">
              <a:ext uri="{FF2B5EF4-FFF2-40B4-BE49-F238E27FC236}">
                <a16:creationId xmlns:a16="http://schemas.microsoft.com/office/drawing/2014/main" id="{BB17E427-A38C-4240-A33B-EA8B56BB2B7F}"/>
              </a:ext>
            </a:extLst>
          </p:cNvPr>
          <p:cNvSpPr>
            <a:spLocks xmlns:a="http://schemas.openxmlformats.org/drawingml/2006/main" noGrp="1"/>
          </p:cNvSpPr>
          <p:nvPr/>
        </p:nvSpPr>
        <p:spPr>
          <a:xfrm xmlns:a="http://schemas.openxmlformats.org/drawingml/2006/main">
            <a:off x="895350" y="324421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0">
                <a:solidFill>
                  <a:srgbClr val="131518"/>
                </a:solidFill>
                <a:latin typeface="Courier New"/>
                <a:ea typeface="Courier New"/>
                <a:cs typeface="Courier New"/>
              </a:rPr>
              <a:t>            </a:t>
            </a:r>
            <a:r>
              <a:rPr sz="1950" b="1">
                <a:solidFill>
                  <a:srgbClr val="286DA6"/>
                </a:solidFill>
                <a:latin typeface="Courier New"/>
                <a:ea typeface="Courier New"/>
                <a:cs typeface="Courier New"/>
              </a:rPr>
              <a:t>raise</a:t>
            </a:r>
            <a:r>
              <a:rPr sz="1950" b="0">
                <a:solidFill>
                  <a:srgbClr val="131518"/>
                </a:solidFill>
                <a:latin typeface="Courier New"/>
                <a:ea typeface="Courier New"/>
                <a:cs typeface="Courier New"/>
              </a:rPr>
              <a:t> TypeError("Укажите unit в теле класса")</a:t>
            </a:r>
          </a:p>
        </p:txBody>
      </p:sp>
      <p:sp>
        <p:nvSpPr>
          <p:cNvPr id="12" name="code-41-680">
            <a:extLst xmlns:a="http://schemas.openxmlformats.org/drawingml/2006/main">
              <a:ext uri="{FF2B5EF4-FFF2-40B4-BE49-F238E27FC236}">
                <a16:creationId xmlns:a16="http://schemas.microsoft.com/office/drawing/2014/main" id="{6FAF2191-BFF7-4A7F-A8AA-A04F68481060}"/>
              </a:ext>
            </a:extLst>
          </p:cNvPr>
          <p:cNvSpPr>
            <a:spLocks xmlns:a="http://schemas.openxmlformats.org/drawingml/2006/main" noGrp="1"/>
          </p:cNvSpPr>
          <p:nvPr/>
        </p:nvSpPr>
        <p:spPr>
          <a:xfrm xmlns:a="http://schemas.openxmlformats.org/drawingml/2006/main">
            <a:off x="895350" y="354139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0">
                <a:solidFill>
                  <a:srgbClr val="131518"/>
                </a:solidFill>
                <a:latin typeface="Courier New"/>
                <a:ea typeface="Courier New"/>
                <a:cs typeface="Courier New"/>
              </a:rPr>
              <a:t>        </a:t>
            </a:r>
            <a:r>
              <a:rPr sz="1950" b="1">
                <a:solidFill>
                  <a:srgbClr val="286DA6"/>
                </a:solidFill>
                <a:latin typeface="Courier New"/>
                <a:ea typeface="Courier New"/>
                <a:cs typeface="Courier New"/>
              </a:rPr>
              <a:t>return</a:t>
            </a:r>
            <a:r>
              <a:rPr sz="1950" b="0">
                <a:solidFill>
                  <a:srgbClr val="131518"/>
                </a:solidFill>
                <a:latin typeface="Courier New"/>
                <a:ea typeface="Courier New"/>
                <a:cs typeface="Courier New"/>
              </a:rPr>
              <a:t> super().__new__(mcls, name, bases, ns)</a:t>
            </a:r>
          </a:p>
        </p:txBody>
      </p:sp>
      <p:sp>
        <p:nvSpPr>
          <p:cNvPr id="13" name="code-41-681">
            <a:extLst xmlns:a="http://schemas.openxmlformats.org/drawingml/2006/main">
              <a:ext uri="{FF2B5EF4-FFF2-40B4-BE49-F238E27FC236}">
                <a16:creationId xmlns:a16="http://schemas.microsoft.com/office/drawing/2014/main" id="{7F4229EE-9E40-4740-B2E1-5D01C5F1D1E4}"/>
              </a:ext>
            </a:extLst>
          </p:cNvPr>
          <p:cNvSpPr>
            <a:spLocks xmlns:a="http://schemas.openxmlformats.org/drawingml/2006/main" noGrp="1"/>
          </p:cNvSpPr>
          <p:nvPr/>
        </p:nvSpPr>
        <p:spPr>
          <a:xfrm xmlns:a="http://schemas.openxmlformats.org/drawingml/2006/main">
            <a:off x="895350" y="383857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0">
                <a:solidFill>
                  <a:srgbClr val="131518"/>
                </a:solidFill>
                <a:latin typeface="Courier New"/>
                <a:ea typeface="Courier New"/>
                <a:cs typeface="Courier New"/>
              </a:rPr>
              <a:t> </a:t>
            </a:r>
          </a:p>
        </p:txBody>
      </p:sp>
      <p:sp>
        <p:nvSpPr>
          <p:cNvPr id="14" name="code-41-682">
            <a:extLst xmlns:a="http://schemas.openxmlformats.org/drawingml/2006/main">
              <a:ext uri="{FF2B5EF4-FFF2-40B4-BE49-F238E27FC236}">
                <a16:creationId xmlns:a16="http://schemas.microsoft.com/office/drawing/2014/main" id="{65685B6F-4536-4205-AD3D-5836B862F21C}"/>
              </a:ext>
            </a:extLst>
          </p:cNvPr>
          <p:cNvSpPr>
            <a:spLocks xmlns:a="http://schemas.openxmlformats.org/drawingml/2006/main" noGrp="1"/>
          </p:cNvSpPr>
          <p:nvPr/>
        </p:nvSpPr>
        <p:spPr>
          <a:xfrm xmlns:a="http://schemas.openxmlformats.org/drawingml/2006/main">
            <a:off x="895350" y="413575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1">
                <a:solidFill>
                  <a:srgbClr val="286DA6"/>
                </a:solidFill>
                <a:latin typeface="Courier New"/>
                <a:ea typeface="Courier New"/>
                <a:cs typeface="Courier New"/>
              </a:rPr>
              <a:t>class</a:t>
            </a:r>
            <a:r>
              <a:rPr sz="1950" b="0">
                <a:solidFill>
                  <a:srgbClr val="131518"/>
                </a:solidFill>
                <a:latin typeface="Courier New"/>
                <a:ea typeface="Courier New"/>
                <a:cs typeface="Courier New"/>
              </a:rPr>
              <a:t> Quantity(metaclass=RequireUnit):</a:t>
            </a:r>
          </a:p>
        </p:txBody>
      </p:sp>
      <p:sp>
        <p:nvSpPr>
          <p:cNvPr id="15" name="code-41-683">
            <a:extLst xmlns:a="http://schemas.openxmlformats.org/drawingml/2006/main">
              <a:ext uri="{FF2B5EF4-FFF2-40B4-BE49-F238E27FC236}">
                <a16:creationId xmlns:a16="http://schemas.microsoft.com/office/drawing/2014/main" id="{2B17A11E-2830-4851-B8BD-D24A70699E8A}"/>
              </a:ext>
            </a:extLst>
          </p:cNvPr>
          <p:cNvSpPr>
            <a:spLocks xmlns:a="http://schemas.openxmlformats.org/drawingml/2006/main" noGrp="1"/>
          </p:cNvSpPr>
          <p:nvPr/>
        </p:nvSpPr>
        <p:spPr>
          <a:xfrm xmlns:a="http://schemas.openxmlformats.org/drawingml/2006/main">
            <a:off x="895350" y="443293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0">
                <a:solidFill>
                  <a:srgbClr val="131518"/>
                </a:solidFill>
                <a:latin typeface="Courier New"/>
                <a:ea typeface="Courier New"/>
                <a:cs typeface="Courier New"/>
              </a:rPr>
              <a:t>    </a:t>
            </a:r>
            <a:r>
              <a:rPr sz="1950" b="1">
                <a:solidFill>
                  <a:srgbClr val="286DA6"/>
                </a:solidFill>
                <a:latin typeface="Courier New"/>
                <a:ea typeface="Courier New"/>
                <a:cs typeface="Courier New"/>
              </a:rPr>
              <a:t>pass</a:t>
            </a:r>
          </a:p>
        </p:txBody>
      </p:sp>
      <p:sp>
        <p:nvSpPr>
          <p:cNvPr id="16" name="code-41-684">
            <a:extLst xmlns:a="http://schemas.openxmlformats.org/drawingml/2006/main">
              <a:ext uri="{FF2B5EF4-FFF2-40B4-BE49-F238E27FC236}">
                <a16:creationId xmlns:a16="http://schemas.microsoft.com/office/drawing/2014/main" id="{0E3BD4A2-50A5-45B0-9E7E-CCA82CA7A68D}"/>
              </a:ext>
            </a:extLst>
          </p:cNvPr>
          <p:cNvSpPr>
            <a:spLocks xmlns:a="http://schemas.openxmlformats.org/drawingml/2006/main" noGrp="1"/>
          </p:cNvSpPr>
          <p:nvPr/>
        </p:nvSpPr>
        <p:spPr>
          <a:xfrm xmlns:a="http://schemas.openxmlformats.org/drawingml/2006/main">
            <a:off x="895350" y="473011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0">
                <a:solidFill>
                  <a:srgbClr val="131518"/>
                </a:solidFill>
                <a:latin typeface="Courier New"/>
                <a:ea typeface="Courier New"/>
                <a:cs typeface="Courier New"/>
              </a:rPr>
              <a:t> </a:t>
            </a:r>
          </a:p>
        </p:txBody>
      </p:sp>
      <p:sp>
        <p:nvSpPr>
          <p:cNvPr id="17" name="code-41-685">
            <a:extLst xmlns:a="http://schemas.openxmlformats.org/drawingml/2006/main">
              <a:ext uri="{FF2B5EF4-FFF2-40B4-BE49-F238E27FC236}">
                <a16:creationId xmlns:a16="http://schemas.microsoft.com/office/drawing/2014/main" id="{D5C49770-7FEB-4083-B2B8-B305DF75A807}"/>
              </a:ext>
            </a:extLst>
          </p:cNvPr>
          <p:cNvSpPr>
            <a:spLocks xmlns:a="http://schemas.openxmlformats.org/drawingml/2006/main" noGrp="1"/>
          </p:cNvSpPr>
          <p:nvPr/>
        </p:nvSpPr>
        <p:spPr>
          <a:xfrm xmlns:a="http://schemas.openxmlformats.org/drawingml/2006/main">
            <a:off x="895350" y="502729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1">
                <a:solidFill>
                  <a:srgbClr val="286DA6"/>
                </a:solidFill>
                <a:latin typeface="Courier New"/>
                <a:ea typeface="Courier New"/>
                <a:cs typeface="Courier New"/>
              </a:rPr>
              <a:t>class</a:t>
            </a:r>
            <a:r>
              <a:rPr sz="1950" b="0">
                <a:solidFill>
                  <a:srgbClr val="131518"/>
                </a:solidFill>
                <a:latin typeface="Courier New"/>
                <a:ea typeface="Courier New"/>
                <a:cs typeface="Courier New"/>
              </a:rPr>
              <a:t> Length(Quantity):</a:t>
            </a:r>
          </a:p>
        </p:txBody>
      </p:sp>
      <p:sp>
        <p:nvSpPr>
          <p:cNvPr id="18" name="code-41-686">
            <a:extLst xmlns:a="http://schemas.openxmlformats.org/drawingml/2006/main">
              <a:ext uri="{FF2B5EF4-FFF2-40B4-BE49-F238E27FC236}">
                <a16:creationId xmlns:a16="http://schemas.microsoft.com/office/drawing/2014/main" id="{A1932C8D-6DB0-43DD-9506-A64E43448230}"/>
              </a:ext>
            </a:extLst>
          </p:cNvPr>
          <p:cNvSpPr>
            <a:spLocks xmlns:a="http://schemas.openxmlformats.org/drawingml/2006/main" noGrp="1"/>
          </p:cNvSpPr>
          <p:nvPr/>
        </p:nvSpPr>
        <p:spPr>
          <a:xfrm xmlns:a="http://schemas.openxmlformats.org/drawingml/2006/main">
            <a:off x="895350" y="5324475"/>
            <a:ext cx="10401300"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31518"/>
                </a:solidFill>
                <a:latin typeface="Courier New"/>
                <a:ea typeface="Courier New"/>
                <a:cs typeface="Courier New"/>
              </a:defRPr>
            </a:pPr>
            <a:r>
              <a:rPr sz="1950" b="0">
                <a:solidFill>
                  <a:srgbClr val="131518"/>
                </a:solidFill>
                <a:latin typeface="Courier New"/>
                <a:ea typeface="Courier New"/>
                <a:cs typeface="Courier New"/>
              </a:rPr>
              <a:t>    unit = "m"</a:t>
            </a:r>
          </a:p>
        </p:txBody>
      </p:sp>
      <p:sp>
        <p:nvSpPr>
          <p:cNvPr id="19" name="takeaway-41">
            <a:extLst xmlns:a="http://schemas.openxmlformats.org/drawingml/2006/main">
              <a:ext uri="{FF2B5EF4-FFF2-40B4-BE49-F238E27FC236}">
                <a16:creationId xmlns:a16="http://schemas.microsoft.com/office/drawing/2014/main" id="{0F92C668-0711-4AA1-9B94-2E1B40357CA7}"/>
              </a:ext>
            </a:extLst>
          </p:cNvPr>
          <p:cNvSpPr>
            <a:spLocks xmlns:a="http://schemas.openxmlformats.org/drawingml/2006/main" noGrp="1"/>
          </p:cNvSpPr>
          <p:nvPr/>
        </p:nvSpPr>
        <p:spPr>
          <a:xfrm xmlns:a="http://schemas.openxmlformats.org/drawingml/2006/main">
            <a:off x="685800" y="6000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class Broken(Quantity): pass → TypeError ещё до создания экземпляра.</a:t>
            </a:r>
          </a:p>
        </p:txBody>
      </p:sp>
    </p:spTree>
    <p:extLst>
      <p:ext uri="{BB962C8B-B14F-4D97-AF65-F5344CB8AC3E}">
        <p14:creationId xmlns:p14="http://schemas.microsoft.com/office/powerpoint/2010/main" val="23793883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687">
            <a:extLst xmlns:a="http://schemas.openxmlformats.org/drawingml/2006/main">
              <a:ext uri="{FF2B5EF4-FFF2-40B4-BE49-F238E27FC236}">
                <a16:creationId xmlns:a16="http://schemas.microsoft.com/office/drawing/2014/main" id="{A7823679-7326-4B52-BE03-A27976872F26}"/>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06 / ГРАНИЦЫ ПРИМЕНЕНИЯ</a:t>
            </a:r>
          </a:p>
        </p:txBody>
      </p:sp>
      <p:sp>
        <p:nvSpPr>
          <p:cNvPr id="2" name="title-42">
            <a:extLst xmlns:a="http://schemas.openxmlformats.org/drawingml/2006/main">
              <a:ext uri="{FF2B5EF4-FFF2-40B4-BE49-F238E27FC236}">
                <a16:creationId xmlns:a16="http://schemas.microsoft.com/office/drawing/2014/main" id="{C664BB9F-03E5-44C9-AACF-A6F6E0EC9A86}"/>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Часто достаточно __init_subclass__</a:t>
            </a:r>
          </a:p>
        </p:txBody>
      </p:sp>
      <p:sp>
        <p:nvSpPr>
          <p:cNvPr id="3" name="text-688">
            <a:extLst xmlns:a="http://schemas.openxmlformats.org/drawingml/2006/main">
              <a:ext uri="{FF2B5EF4-FFF2-40B4-BE49-F238E27FC236}">
                <a16:creationId xmlns:a16="http://schemas.microsoft.com/office/drawing/2014/main" id="{4E9FDC9C-2523-42F3-B598-009BF88FC853}"/>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Выбирайте механизм по моменту, в который нужно вмешаться.</a:t>
            </a:r>
          </a:p>
        </p:txBody>
      </p:sp>
      <p:sp>
        <p:nvSpPr>
          <p:cNvPr id="4" name="surface-689">
            <a:extLst xmlns:a="http://schemas.openxmlformats.org/drawingml/2006/main">
              <a:ext uri="{FF2B5EF4-FFF2-40B4-BE49-F238E27FC236}">
                <a16:creationId xmlns:a16="http://schemas.microsoft.com/office/drawing/2014/main" id="{11D5CD97-71D6-4A6A-872D-DAD935363AF5}"/>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690">
            <a:extLst xmlns:a="http://schemas.openxmlformats.org/drawingml/2006/main">
              <a:ext uri="{FF2B5EF4-FFF2-40B4-BE49-F238E27FC236}">
                <a16:creationId xmlns:a16="http://schemas.microsoft.com/office/drawing/2014/main" id="{4FDDEE99-1639-42B7-B006-B6B825B03786}"/>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691">
            <a:extLst xmlns:a="http://schemas.openxmlformats.org/drawingml/2006/main">
              <a:ext uri="{FF2B5EF4-FFF2-40B4-BE49-F238E27FC236}">
                <a16:creationId xmlns:a16="http://schemas.microsoft.com/office/drawing/2014/main" id="{32895C55-7162-47A8-9DE5-150343E66123}"/>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42</a:t>
            </a:r>
          </a:p>
        </p:txBody>
      </p:sp>
      <p:sp>
        <p:nvSpPr>
          <p:cNvPr id="7" name="surface-692">
            <a:extLst xmlns:a="http://schemas.openxmlformats.org/drawingml/2006/main">
              <a:ext uri="{FF2B5EF4-FFF2-40B4-BE49-F238E27FC236}">
                <a16:creationId xmlns:a16="http://schemas.microsoft.com/office/drawing/2014/main" id="{0DA0923E-32DE-442E-84CC-0F98859895F7}"/>
              </a:ext>
            </a:extLst>
          </p:cNvPr>
          <p:cNvSpPr>
            <a:spLocks xmlns:a="http://schemas.openxmlformats.org/drawingml/2006/main" noGrp="1"/>
          </p:cNvSpPr>
          <p:nvPr/>
        </p:nvSpPr>
        <p:spPr>
          <a:xfrm xmlns:a="http://schemas.openxmlformats.org/drawingml/2006/main">
            <a:off x="685800" y="2190750"/>
            <a:ext cx="6724650" cy="3143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code-42-693">
            <a:extLst xmlns:a="http://schemas.openxmlformats.org/drawingml/2006/main">
              <a:ext uri="{FF2B5EF4-FFF2-40B4-BE49-F238E27FC236}">
                <a16:creationId xmlns:a16="http://schemas.microsoft.com/office/drawing/2014/main" id="{A1221018-48CE-4C90-BA3F-887B17815D4C}"/>
              </a:ext>
            </a:extLst>
          </p:cNvPr>
          <p:cNvSpPr>
            <a:spLocks xmlns:a="http://schemas.openxmlformats.org/drawingml/2006/main" noGrp="1"/>
          </p:cNvSpPr>
          <p:nvPr/>
        </p:nvSpPr>
        <p:spPr>
          <a:xfrm xmlns:a="http://schemas.openxmlformats.org/drawingml/2006/main">
            <a:off x="876300" y="2381250"/>
            <a:ext cx="6343650" cy="317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27" b="0">
                <a:solidFill>
                  <a:srgbClr val="131518"/>
                </a:solidFill>
                <a:latin typeface="Courier New"/>
                <a:ea typeface="Courier New"/>
                <a:cs typeface="Courier New"/>
              </a:defRPr>
            </a:pPr>
            <a:r>
              <a:rPr sz="1927" b="1">
                <a:solidFill>
                  <a:srgbClr val="286DA6"/>
                </a:solidFill>
                <a:latin typeface="Courier New"/>
                <a:ea typeface="Courier New"/>
                <a:cs typeface="Courier New"/>
              </a:rPr>
              <a:t>class</a:t>
            </a:r>
            <a:r>
              <a:rPr sz="1927" b="0">
                <a:solidFill>
                  <a:srgbClr val="131518"/>
                </a:solidFill>
                <a:latin typeface="Courier New"/>
                <a:ea typeface="Courier New"/>
                <a:cs typeface="Courier New"/>
              </a:rPr>
              <a:t> Quantity:</a:t>
            </a:r>
          </a:p>
        </p:txBody>
      </p:sp>
      <p:sp>
        <p:nvSpPr>
          <p:cNvPr id="9" name="code-42-694">
            <a:extLst xmlns:a="http://schemas.openxmlformats.org/drawingml/2006/main">
              <a:ext uri="{FF2B5EF4-FFF2-40B4-BE49-F238E27FC236}">
                <a16:creationId xmlns:a16="http://schemas.microsoft.com/office/drawing/2014/main" id="{1C17558D-B446-43F3-967D-B7558297C3DC}"/>
              </a:ext>
            </a:extLst>
          </p:cNvPr>
          <p:cNvSpPr>
            <a:spLocks xmlns:a="http://schemas.openxmlformats.org/drawingml/2006/main" noGrp="1"/>
          </p:cNvSpPr>
          <p:nvPr/>
        </p:nvSpPr>
        <p:spPr>
          <a:xfrm xmlns:a="http://schemas.openxmlformats.org/drawingml/2006/main">
            <a:off x="876300" y="2679897"/>
            <a:ext cx="6343650" cy="317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27" b="0">
                <a:solidFill>
                  <a:srgbClr val="131518"/>
                </a:solidFill>
                <a:latin typeface="Courier New"/>
                <a:ea typeface="Courier New"/>
                <a:cs typeface="Courier New"/>
              </a:defRPr>
            </a:pPr>
            <a:r>
              <a:rPr sz="1927" b="0">
                <a:solidFill>
                  <a:srgbClr val="131518"/>
                </a:solidFill>
                <a:latin typeface="Courier New"/>
                <a:ea typeface="Courier New"/>
                <a:cs typeface="Courier New"/>
              </a:rPr>
              <a:t>    </a:t>
            </a:r>
            <a:r>
              <a:rPr sz="1927" b="1">
                <a:solidFill>
                  <a:srgbClr val="286DA6"/>
                </a:solidFill>
                <a:latin typeface="Courier New"/>
                <a:ea typeface="Courier New"/>
                <a:cs typeface="Courier New"/>
              </a:rPr>
              <a:t>def</a:t>
            </a:r>
            <a:r>
              <a:rPr sz="1927" b="0">
                <a:solidFill>
                  <a:srgbClr val="131518"/>
                </a:solidFill>
                <a:latin typeface="Courier New"/>
                <a:ea typeface="Courier New"/>
                <a:cs typeface="Courier New"/>
              </a:rPr>
              <a:t> __init_subclass__(cls, **kw):</a:t>
            </a:r>
          </a:p>
        </p:txBody>
      </p:sp>
      <p:sp>
        <p:nvSpPr>
          <p:cNvPr id="10" name="code-42-695">
            <a:extLst xmlns:a="http://schemas.openxmlformats.org/drawingml/2006/main">
              <a:ext uri="{FF2B5EF4-FFF2-40B4-BE49-F238E27FC236}">
                <a16:creationId xmlns:a16="http://schemas.microsoft.com/office/drawing/2014/main" id="{B2065C32-B453-47BB-8107-2B2D507476ED}"/>
              </a:ext>
            </a:extLst>
          </p:cNvPr>
          <p:cNvSpPr>
            <a:spLocks xmlns:a="http://schemas.openxmlformats.org/drawingml/2006/main" noGrp="1"/>
          </p:cNvSpPr>
          <p:nvPr/>
        </p:nvSpPr>
        <p:spPr>
          <a:xfrm xmlns:a="http://schemas.openxmlformats.org/drawingml/2006/main">
            <a:off x="876300" y="2978544"/>
            <a:ext cx="6343650" cy="317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27" b="0">
                <a:solidFill>
                  <a:srgbClr val="131518"/>
                </a:solidFill>
                <a:latin typeface="Courier New"/>
                <a:ea typeface="Courier New"/>
                <a:cs typeface="Courier New"/>
              </a:defRPr>
            </a:pPr>
            <a:r>
              <a:rPr sz="1927" b="0">
                <a:solidFill>
                  <a:srgbClr val="131518"/>
                </a:solidFill>
                <a:latin typeface="Courier New"/>
                <a:ea typeface="Courier New"/>
                <a:cs typeface="Courier New"/>
              </a:rPr>
              <a:t>        super().__init_subclass__(**kw)</a:t>
            </a:r>
          </a:p>
        </p:txBody>
      </p:sp>
      <p:sp>
        <p:nvSpPr>
          <p:cNvPr id="11" name="code-42-696">
            <a:extLst xmlns:a="http://schemas.openxmlformats.org/drawingml/2006/main">
              <a:ext uri="{FF2B5EF4-FFF2-40B4-BE49-F238E27FC236}">
                <a16:creationId xmlns:a16="http://schemas.microsoft.com/office/drawing/2014/main" id="{3E174A4D-BC1B-45F1-BD93-B2B4EF357DFC}"/>
              </a:ext>
            </a:extLst>
          </p:cNvPr>
          <p:cNvSpPr>
            <a:spLocks xmlns:a="http://schemas.openxmlformats.org/drawingml/2006/main" noGrp="1"/>
          </p:cNvSpPr>
          <p:nvPr/>
        </p:nvSpPr>
        <p:spPr>
          <a:xfrm xmlns:a="http://schemas.openxmlformats.org/drawingml/2006/main">
            <a:off x="876300" y="3277191"/>
            <a:ext cx="6343650" cy="317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27" b="0">
                <a:solidFill>
                  <a:srgbClr val="131518"/>
                </a:solidFill>
                <a:latin typeface="Courier New"/>
                <a:ea typeface="Courier New"/>
                <a:cs typeface="Courier New"/>
              </a:defRPr>
            </a:pPr>
            <a:r>
              <a:rPr sz="1927" b="0">
                <a:solidFill>
                  <a:srgbClr val="131518"/>
                </a:solidFill>
                <a:latin typeface="Courier New"/>
                <a:ea typeface="Courier New"/>
                <a:cs typeface="Courier New"/>
              </a:rPr>
              <a:t>        </a:t>
            </a:r>
            <a:r>
              <a:rPr sz="1927" b="1">
                <a:solidFill>
                  <a:srgbClr val="286DA6"/>
                </a:solidFill>
                <a:latin typeface="Courier New"/>
                <a:ea typeface="Courier New"/>
                <a:cs typeface="Courier New"/>
              </a:rPr>
              <a:t>if</a:t>
            </a:r>
            <a:r>
              <a:rPr sz="1927" b="0">
                <a:solidFill>
                  <a:srgbClr val="131518"/>
                </a:solidFill>
                <a:latin typeface="Courier New"/>
                <a:ea typeface="Courier New"/>
                <a:cs typeface="Courier New"/>
              </a:rPr>
              <a:t> "unit" </a:t>
            </a:r>
            <a:r>
              <a:rPr sz="1927" b="1">
                <a:solidFill>
                  <a:srgbClr val="286DA6"/>
                </a:solidFill>
                <a:latin typeface="Courier New"/>
                <a:ea typeface="Courier New"/>
                <a:cs typeface="Courier New"/>
              </a:rPr>
              <a:t>not</a:t>
            </a:r>
            <a:r>
              <a:rPr sz="1927" b="0">
                <a:solidFill>
                  <a:srgbClr val="131518"/>
                </a:solidFill>
                <a:latin typeface="Courier New"/>
                <a:ea typeface="Courier New"/>
                <a:cs typeface="Courier New"/>
              </a:rPr>
              <a:t> </a:t>
            </a:r>
            <a:r>
              <a:rPr sz="1927" b="1">
                <a:solidFill>
                  <a:srgbClr val="286DA6"/>
                </a:solidFill>
                <a:latin typeface="Courier New"/>
                <a:ea typeface="Courier New"/>
                <a:cs typeface="Courier New"/>
              </a:rPr>
              <a:t>in</a:t>
            </a:r>
            <a:r>
              <a:rPr sz="1927" b="0">
                <a:solidFill>
                  <a:srgbClr val="131518"/>
                </a:solidFill>
                <a:latin typeface="Courier New"/>
                <a:ea typeface="Courier New"/>
                <a:cs typeface="Courier New"/>
              </a:rPr>
              <a:t> cls.__dict__:</a:t>
            </a:r>
          </a:p>
        </p:txBody>
      </p:sp>
      <p:sp>
        <p:nvSpPr>
          <p:cNvPr id="12" name="code-42-697">
            <a:extLst xmlns:a="http://schemas.openxmlformats.org/drawingml/2006/main">
              <a:ext uri="{FF2B5EF4-FFF2-40B4-BE49-F238E27FC236}">
                <a16:creationId xmlns:a16="http://schemas.microsoft.com/office/drawing/2014/main" id="{B1DBC53E-54F2-4FD3-A1D4-7E3DBCF814F9}"/>
              </a:ext>
            </a:extLst>
          </p:cNvPr>
          <p:cNvSpPr>
            <a:spLocks xmlns:a="http://schemas.openxmlformats.org/drawingml/2006/main" noGrp="1"/>
          </p:cNvSpPr>
          <p:nvPr/>
        </p:nvSpPr>
        <p:spPr>
          <a:xfrm xmlns:a="http://schemas.openxmlformats.org/drawingml/2006/main">
            <a:off x="876300" y="3575837"/>
            <a:ext cx="6343650" cy="317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27" b="0">
                <a:solidFill>
                  <a:srgbClr val="131518"/>
                </a:solidFill>
                <a:latin typeface="Courier New"/>
                <a:ea typeface="Courier New"/>
                <a:cs typeface="Courier New"/>
              </a:defRPr>
            </a:pPr>
            <a:r>
              <a:rPr sz="1927" b="0">
                <a:solidFill>
                  <a:srgbClr val="131518"/>
                </a:solidFill>
                <a:latin typeface="Courier New"/>
                <a:ea typeface="Courier New"/>
                <a:cs typeface="Courier New"/>
              </a:rPr>
              <a:t>            </a:t>
            </a:r>
            <a:r>
              <a:rPr sz="1927" b="1">
                <a:solidFill>
                  <a:srgbClr val="286DA6"/>
                </a:solidFill>
                <a:latin typeface="Courier New"/>
                <a:ea typeface="Courier New"/>
                <a:cs typeface="Courier New"/>
              </a:rPr>
              <a:t>raise</a:t>
            </a:r>
            <a:r>
              <a:rPr sz="1927" b="0">
                <a:solidFill>
                  <a:srgbClr val="131518"/>
                </a:solidFill>
                <a:latin typeface="Courier New"/>
                <a:ea typeface="Courier New"/>
                <a:cs typeface="Courier New"/>
              </a:rPr>
              <a:t> TypeError("Укажите unit")</a:t>
            </a:r>
          </a:p>
        </p:txBody>
      </p:sp>
      <p:sp>
        <p:nvSpPr>
          <p:cNvPr id="13" name="code-42-698">
            <a:extLst xmlns:a="http://schemas.openxmlformats.org/drawingml/2006/main">
              <a:ext uri="{FF2B5EF4-FFF2-40B4-BE49-F238E27FC236}">
                <a16:creationId xmlns:a16="http://schemas.microsoft.com/office/drawing/2014/main" id="{AD7DB4CE-B794-4FA2-A7D2-43C6F79070E5}"/>
              </a:ext>
            </a:extLst>
          </p:cNvPr>
          <p:cNvSpPr>
            <a:spLocks xmlns:a="http://schemas.openxmlformats.org/drawingml/2006/main" noGrp="1"/>
          </p:cNvSpPr>
          <p:nvPr/>
        </p:nvSpPr>
        <p:spPr>
          <a:xfrm xmlns:a="http://schemas.openxmlformats.org/drawingml/2006/main">
            <a:off x="876300" y="3874484"/>
            <a:ext cx="6343650" cy="317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27" b="0">
                <a:solidFill>
                  <a:srgbClr val="131518"/>
                </a:solidFill>
                <a:latin typeface="Courier New"/>
                <a:ea typeface="Courier New"/>
                <a:cs typeface="Courier New"/>
              </a:defRPr>
            </a:pPr>
            <a:r>
              <a:rPr sz="1927" b="0">
                <a:solidFill>
                  <a:srgbClr val="131518"/>
                </a:solidFill>
                <a:latin typeface="Courier New"/>
                <a:ea typeface="Courier New"/>
                <a:cs typeface="Courier New"/>
              </a:rPr>
              <a:t> </a:t>
            </a:r>
          </a:p>
        </p:txBody>
      </p:sp>
      <p:sp>
        <p:nvSpPr>
          <p:cNvPr id="14" name="code-42-699">
            <a:extLst xmlns:a="http://schemas.openxmlformats.org/drawingml/2006/main">
              <a:ext uri="{FF2B5EF4-FFF2-40B4-BE49-F238E27FC236}">
                <a16:creationId xmlns:a16="http://schemas.microsoft.com/office/drawing/2014/main" id="{CE8003F3-AE0D-46C7-A77A-736E61F69ECB}"/>
              </a:ext>
            </a:extLst>
          </p:cNvPr>
          <p:cNvSpPr>
            <a:spLocks xmlns:a="http://schemas.openxmlformats.org/drawingml/2006/main" noGrp="1"/>
          </p:cNvSpPr>
          <p:nvPr/>
        </p:nvSpPr>
        <p:spPr>
          <a:xfrm xmlns:a="http://schemas.openxmlformats.org/drawingml/2006/main">
            <a:off x="876300" y="4173131"/>
            <a:ext cx="6343650" cy="317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27" b="0">
                <a:solidFill>
                  <a:srgbClr val="131518"/>
                </a:solidFill>
                <a:latin typeface="Courier New"/>
                <a:ea typeface="Courier New"/>
                <a:cs typeface="Courier New"/>
              </a:defRPr>
            </a:pPr>
            <a:r>
              <a:rPr sz="1927" b="1">
                <a:solidFill>
                  <a:srgbClr val="286DA6"/>
                </a:solidFill>
                <a:latin typeface="Courier New"/>
                <a:ea typeface="Courier New"/>
                <a:cs typeface="Courier New"/>
              </a:rPr>
              <a:t>class</a:t>
            </a:r>
            <a:r>
              <a:rPr sz="1927" b="0">
                <a:solidFill>
                  <a:srgbClr val="131518"/>
                </a:solidFill>
                <a:latin typeface="Courier New"/>
                <a:ea typeface="Courier New"/>
                <a:cs typeface="Courier New"/>
              </a:rPr>
              <a:t> Length(Quantity):</a:t>
            </a:r>
          </a:p>
        </p:txBody>
      </p:sp>
      <p:sp>
        <p:nvSpPr>
          <p:cNvPr id="15" name="code-42-700">
            <a:extLst xmlns:a="http://schemas.openxmlformats.org/drawingml/2006/main">
              <a:ext uri="{FF2B5EF4-FFF2-40B4-BE49-F238E27FC236}">
                <a16:creationId xmlns:a16="http://schemas.microsoft.com/office/drawing/2014/main" id="{070C0384-788B-481A-8FF6-7F69D59008E0}"/>
              </a:ext>
            </a:extLst>
          </p:cNvPr>
          <p:cNvSpPr>
            <a:spLocks xmlns:a="http://schemas.openxmlformats.org/drawingml/2006/main" noGrp="1"/>
          </p:cNvSpPr>
          <p:nvPr/>
        </p:nvSpPr>
        <p:spPr>
          <a:xfrm xmlns:a="http://schemas.openxmlformats.org/drawingml/2006/main">
            <a:off x="876300" y="4471778"/>
            <a:ext cx="6343650" cy="317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27" b="0">
                <a:solidFill>
                  <a:srgbClr val="131518"/>
                </a:solidFill>
                <a:latin typeface="Courier New"/>
                <a:ea typeface="Courier New"/>
                <a:cs typeface="Courier New"/>
              </a:defRPr>
            </a:pPr>
            <a:r>
              <a:rPr sz="1927" b="0">
                <a:solidFill>
                  <a:srgbClr val="131518"/>
                </a:solidFill>
                <a:latin typeface="Courier New"/>
                <a:ea typeface="Courier New"/>
                <a:cs typeface="Courier New"/>
              </a:rPr>
              <a:t>    unit = "m"</a:t>
            </a:r>
          </a:p>
        </p:txBody>
      </p:sp>
      <p:sp>
        <p:nvSpPr>
          <p:cNvPr id="16" name="text-701">
            <a:extLst xmlns:a="http://schemas.openxmlformats.org/drawingml/2006/main">
              <a:ext uri="{FF2B5EF4-FFF2-40B4-BE49-F238E27FC236}">
                <a16:creationId xmlns:a16="http://schemas.microsoft.com/office/drawing/2014/main" id="{A0D93AA8-A467-4688-8A33-DB5E9D892C21}"/>
              </a:ext>
            </a:extLst>
          </p:cNvPr>
          <p:cNvSpPr>
            <a:spLocks xmlns:a="http://schemas.openxmlformats.org/drawingml/2006/main" noGrp="1"/>
          </p:cNvSpPr>
          <p:nvPr/>
        </p:nvSpPr>
        <p:spPr>
          <a:xfrm xmlns:a="http://schemas.openxmlformats.org/drawingml/2006/main">
            <a:off x="7905750" y="221932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Декоратор класса</a:t>
            </a:r>
          </a:p>
        </p:txBody>
      </p:sp>
      <p:sp>
        <p:nvSpPr>
          <p:cNvPr id="17" name="text-702">
            <a:extLst xmlns:a="http://schemas.openxmlformats.org/drawingml/2006/main">
              <a:ext uri="{FF2B5EF4-FFF2-40B4-BE49-F238E27FC236}">
                <a16:creationId xmlns:a16="http://schemas.microsoft.com/office/drawing/2014/main" id="{C0EEF9E9-DB5A-4B76-821E-3CEB52BF5D3E}"/>
              </a:ext>
            </a:extLst>
          </p:cNvPr>
          <p:cNvSpPr>
            <a:spLocks xmlns:a="http://schemas.openxmlformats.org/drawingml/2006/main" noGrp="1"/>
          </p:cNvSpPr>
          <p:nvPr/>
        </p:nvSpPr>
        <p:spPr>
          <a:xfrm xmlns:a="http://schemas.openxmlformats.org/drawingml/2006/main">
            <a:off x="7905750" y="266700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Преобразовать готовый класс.</a:t>
            </a:r>
          </a:p>
        </p:txBody>
      </p:sp>
      <p:sp>
        <p:nvSpPr>
          <p:cNvPr id="18" name="text-703">
            <a:extLst xmlns:a="http://schemas.openxmlformats.org/drawingml/2006/main">
              <a:ext uri="{FF2B5EF4-FFF2-40B4-BE49-F238E27FC236}">
                <a16:creationId xmlns:a16="http://schemas.microsoft.com/office/drawing/2014/main" id="{C913B860-5C1E-421B-A9B8-F1E91F1BF7D5}"/>
              </a:ext>
            </a:extLst>
          </p:cNvPr>
          <p:cNvSpPr>
            <a:spLocks xmlns:a="http://schemas.openxmlformats.org/drawingml/2006/main" noGrp="1"/>
          </p:cNvSpPr>
          <p:nvPr/>
        </p:nvSpPr>
        <p:spPr>
          <a:xfrm xmlns:a="http://schemas.openxmlformats.org/drawingml/2006/main">
            <a:off x="7905750" y="342900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__init_subclass__</a:t>
            </a:r>
          </a:p>
        </p:txBody>
      </p:sp>
      <p:sp>
        <p:nvSpPr>
          <p:cNvPr id="19" name="text-704">
            <a:extLst xmlns:a="http://schemas.openxmlformats.org/drawingml/2006/main">
              <a:ext uri="{FF2B5EF4-FFF2-40B4-BE49-F238E27FC236}">
                <a16:creationId xmlns:a16="http://schemas.microsoft.com/office/drawing/2014/main" id="{0A0573CB-0A0C-4CCA-9014-AEE091C52BF9}"/>
              </a:ext>
            </a:extLst>
          </p:cNvPr>
          <p:cNvSpPr>
            <a:spLocks xmlns:a="http://schemas.openxmlformats.org/drawingml/2006/main" noGrp="1"/>
          </p:cNvSpPr>
          <p:nvPr/>
        </p:nvSpPr>
        <p:spPr>
          <a:xfrm xmlns:a="http://schemas.openxmlformats.org/drawingml/2006/main">
            <a:off x="7905750" y="3876675"/>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Проверять или регистрировать</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будущие подклассы.</a:t>
            </a:r>
          </a:p>
        </p:txBody>
      </p:sp>
      <p:sp>
        <p:nvSpPr>
          <p:cNvPr id="20" name="text-705">
            <a:extLst xmlns:a="http://schemas.openxmlformats.org/drawingml/2006/main">
              <a:ext uri="{FF2B5EF4-FFF2-40B4-BE49-F238E27FC236}">
                <a16:creationId xmlns:a16="http://schemas.microsoft.com/office/drawing/2014/main" id="{2A9FFEFC-3D2F-40A7-B5F9-00345F4BA0CF}"/>
              </a:ext>
            </a:extLst>
          </p:cNvPr>
          <p:cNvSpPr>
            <a:spLocks xmlns:a="http://schemas.openxmlformats.org/drawingml/2006/main" noGrp="1"/>
          </p:cNvSpPr>
          <p:nvPr/>
        </p:nvSpPr>
        <p:spPr>
          <a:xfrm xmlns:a="http://schemas.openxmlformats.org/drawingml/2006/main">
            <a:off x="7905750" y="4638675"/>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31518"/>
                </a:solidFill>
                <a:latin typeface="Arial"/>
                <a:ea typeface="Arial"/>
                <a:cs typeface="Arial"/>
              </a:defRPr>
            </a:pPr>
            <a:r>
              <a:rPr sz="2400" b="1">
                <a:solidFill>
                  <a:srgbClr val="131518"/>
                </a:solidFill>
                <a:latin typeface="Arial"/>
                <a:ea typeface="Arial"/>
                <a:cs typeface="Arial"/>
              </a:rPr>
              <a:t>Метакласс</a:t>
            </a:r>
          </a:p>
        </p:txBody>
      </p:sp>
      <p:sp>
        <p:nvSpPr>
          <p:cNvPr id="21" name="text-706">
            <a:extLst xmlns:a="http://schemas.openxmlformats.org/drawingml/2006/main">
              <a:ext uri="{FF2B5EF4-FFF2-40B4-BE49-F238E27FC236}">
                <a16:creationId xmlns:a16="http://schemas.microsoft.com/office/drawing/2014/main" id="{35A2DD67-C7A7-4A29-BB7E-C1C59ECFE46E}"/>
              </a:ext>
            </a:extLst>
          </p:cNvPr>
          <p:cNvSpPr>
            <a:spLocks xmlns:a="http://schemas.openxmlformats.org/drawingml/2006/main" noGrp="1"/>
          </p:cNvSpPr>
          <p:nvPr/>
        </p:nvSpPr>
        <p:spPr>
          <a:xfrm xmlns:a="http://schemas.openxmlformats.org/drawingml/2006/main">
            <a:off x="7905750" y="5086350"/>
            <a:ext cx="3600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Подготовить namespace.</a:t>
            </a:r>
          </a:p>
          <a:p xmlns:a="http://schemas.openxmlformats.org/drawingml/2006/main">
            <a:pPr algn="l">
              <a:defRPr sz="1875" b="0">
                <a:solidFill>
                  <a:srgbClr val="535A61"/>
                </a:solidFill>
                <a:latin typeface="Arial"/>
                <a:ea typeface="Arial"/>
                <a:cs typeface="Arial"/>
              </a:defRPr>
            </a:pPr>
            <a:r>
              <a:rPr sz="1875" b="0">
                <a:solidFill>
                  <a:srgbClr val="535A61"/>
                </a:solidFill>
                <a:latin typeface="Arial"/>
                <a:ea typeface="Arial"/>
                <a:cs typeface="Arial"/>
              </a:rPr>
              <a:t>Задать общие правила класса.</a:t>
            </a:r>
          </a:p>
        </p:txBody>
      </p:sp>
    </p:spTree>
    <p:extLst>
      <p:ext uri="{BB962C8B-B14F-4D97-AF65-F5344CB8AC3E}">
        <p14:creationId xmlns:p14="http://schemas.microsoft.com/office/powerpoint/2010/main" val="33360659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707">
            <a:extLst xmlns:a="http://schemas.openxmlformats.org/drawingml/2006/main">
              <a:ext uri="{FF2B5EF4-FFF2-40B4-BE49-F238E27FC236}">
                <a16:creationId xmlns:a16="http://schemas.microsoft.com/office/drawing/2014/main" id="{3F3734E1-CFE9-406E-9A5D-5AF98BCE777B}"/>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СОБЕРЁМ ВСЁ ВМЕСТЕ</a:t>
            </a:r>
          </a:p>
        </p:txBody>
      </p:sp>
      <p:sp>
        <p:nvSpPr>
          <p:cNvPr id="2" name="title-43">
            <a:extLst xmlns:a="http://schemas.openxmlformats.org/drawingml/2006/main">
              <a:ext uri="{FF2B5EF4-FFF2-40B4-BE49-F238E27FC236}">
                <a16:creationId xmlns:a16="http://schemas.microsoft.com/office/drawing/2014/main" id="{97DEBDBA-8A5B-46E8-89EE-2D78E24D7A42}"/>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Спроектируем данные датчика</a:t>
            </a:r>
          </a:p>
        </p:txBody>
      </p:sp>
      <p:sp>
        <p:nvSpPr>
          <p:cNvPr id="3" name="text-708">
            <a:extLst xmlns:a="http://schemas.openxmlformats.org/drawingml/2006/main">
              <a:ext uri="{FF2B5EF4-FFF2-40B4-BE49-F238E27FC236}">
                <a16:creationId xmlns:a16="http://schemas.microsoft.com/office/drawing/2014/main" id="{613342E7-5147-49C4-BE61-A1293E9F1910}"/>
              </a:ext>
            </a:extLst>
          </p:cNvPr>
          <p:cNvSpPr>
            <a:spLocks xmlns:a="http://schemas.openxmlformats.org/drawingml/2006/main" noGrp="1"/>
          </p:cNvSpPr>
          <p:nvPr/>
        </p:nvSpPr>
        <p:spPr>
          <a:xfrm xmlns:a="http://schemas.openxmlformats.org/drawingml/2006/main">
            <a:off x="685800" y="1495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5A61"/>
                </a:solidFill>
                <a:latin typeface="Arial"/>
                <a:ea typeface="Arial"/>
                <a:cs typeface="Arial"/>
              </a:defRPr>
            </a:pPr>
            <a:r>
              <a:rPr sz="1950" b="0">
                <a:solidFill>
                  <a:srgbClr val="535A61"/>
                </a:solidFill>
                <a:latin typeface="Arial"/>
                <a:ea typeface="Arial"/>
                <a:cs typeface="Arial"/>
              </a:rPr>
              <a:t>Нужно хранить измерения, искать датчик по id и отслеживать уникальные теги.</a:t>
            </a:r>
          </a:p>
        </p:txBody>
      </p:sp>
      <p:sp>
        <p:nvSpPr>
          <p:cNvPr id="4" name="surface-709">
            <a:extLst xmlns:a="http://schemas.openxmlformats.org/drawingml/2006/main">
              <a:ext uri="{FF2B5EF4-FFF2-40B4-BE49-F238E27FC236}">
                <a16:creationId xmlns:a16="http://schemas.microsoft.com/office/drawing/2014/main" id="{389CF792-D60E-48C1-A1BE-D8F6890677AD}"/>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5" name="text-710">
            <a:extLst xmlns:a="http://schemas.openxmlformats.org/drawingml/2006/main">
              <a:ext uri="{FF2B5EF4-FFF2-40B4-BE49-F238E27FC236}">
                <a16:creationId xmlns:a16="http://schemas.microsoft.com/office/drawing/2014/main" id="{5BEA625F-BEB3-44BB-921B-20968F253FC4}"/>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6" name="text-711">
            <a:extLst xmlns:a="http://schemas.openxmlformats.org/drawingml/2006/main">
              <a:ext uri="{FF2B5EF4-FFF2-40B4-BE49-F238E27FC236}">
                <a16:creationId xmlns:a16="http://schemas.microsoft.com/office/drawing/2014/main" id="{065B1372-A849-4CA2-8C6D-7A0F0D418C93}"/>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43</a:t>
            </a:r>
          </a:p>
        </p:txBody>
      </p:sp>
      <p:graphicFrame>
        <p:nvGraphicFramePr>
          <p:cNvPr id="15" name=""/>
          <p:cNvGraphicFramePr/>
          <p:nvPr/>
        </p:nvGraphicFramePr>
        <p:xfrm>
          <a:off xmlns:a="http://schemas.openxmlformats.org/drawingml/2006/main" x="685800" y="2181225"/>
          <a:ext xmlns:a="http://schemas.openxmlformats.org/drawingml/2006/main" cx="10820400" cy="3314700"/>
        </p:xfrm>
        <a:graphic xmlns:a="http://schemas.openxmlformats.org/drawingml/2006/main">
          <a:graphicData uri="http://schemas.openxmlformats.org/drawingml/2006/table">
            <a:tbl>
              <a:tblPr firstRow="0" bandRow="0"/>
              <a:tblGrid>
                <a:gridCol w="3238500"/>
                <a:gridCol w="3238500"/>
                <a:gridCol w="4343400"/>
              </a:tblGrid>
              <a:tr h="438150">
                <a:tc>
                  <a:txBody>
                    <a:bodyPr wrap="square" lIns="114300" tIns="57150" rIns="114300" bIns="57150">
                      <a:noAutofit/>
                    </a:bodyPr>
                    <a:lstStyle/>
                    <a:p>
                      <a:r>
                        <a:rPr sz="1800" b="1">
                          <a:solidFill>
                            <a:srgbClr val="131518"/>
                          </a:solidFill>
                          <a:latin typeface="Arial"/>
                          <a:ea typeface="Arial"/>
                          <a:cs typeface="Arial"/>
                        </a:rPr>
                        <a:t>Часть задачи</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Возможная модель</a:t>
                      </a:r>
                    </a:p>
                  </a:txBody>
                  <a:tcPr marL="91440" marR="91440" marT="45720" marB="45720" anchor="ctr">
                    <a:solidFill>
                      <a:srgbClr val="F0F1F2"/>
                    </a:solidFill>
                  </a:tcPr>
                </a:tc>
                <a:tc>
                  <a:txBody>
                    <a:bodyPr wrap="square" lIns="114300" tIns="57150" rIns="114300" bIns="57150">
                      <a:noAutofit/>
                    </a:bodyPr>
                    <a:lstStyle/>
                    <a:p>
                      <a:r>
                        <a:rPr sz="1800" b="1">
                          <a:solidFill>
                            <a:srgbClr val="131518"/>
                          </a:solidFill>
                          <a:latin typeface="Arial"/>
                          <a:ea typeface="Arial"/>
                          <a:cs typeface="Arial"/>
                        </a:rPr>
                        <a:t>Обоснование</a:t>
                      </a:r>
                    </a:p>
                  </a:txBody>
                  <a:tcPr marL="91440" marR="91440" marT="45720" marB="45720" anchor="ctr">
                    <a:solidFill>
                      <a:srgbClr val="F0F1F2"/>
                    </a:solidFill>
                  </a:tcPr>
                </a:tc>
              </a:tr>
              <a:tr h="575310">
                <a:tc>
                  <a:txBody>
                    <a:bodyPr wrap="square" lIns="114300" tIns="57150" rIns="114300" bIns="57150">
                      <a:noAutofit/>
                    </a:bodyPr>
                    <a:lstStyle/>
                    <a:p>
                      <a:r>
                        <a:rPr sz="1740" b="0">
                          <a:solidFill>
                            <a:srgbClr val="131518"/>
                          </a:solidFill>
                          <a:latin typeface="Arial"/>
                          <a:ea typeface="Arial"/>
                          <a:cs typeface="Arial"/>
                        </a:rPr>
                        <a:t>Идентификатор</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str</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Не арифметика; важны ведущие нули</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Значение измерения</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float</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Есть погрешность и допустимый допуск</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Одно измерение</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dataclass</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Понятные имена полей</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История в порядке прихода</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list[Measurement]</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Нужны все события и их порядок</a:t>
                      </a:r>
                    </a:p>
                  </a:txBody>
                  <a:tcPr marL="91440" marR="91440" marT="45720" marB="45720" anchor="ctr">
                    <a:solidFill>
                      <a:srgbClr val="FFFFFF"/>
                    </a:solidFill>
                  </a:tcPr>
                </a:tc>
              </a:tr>
              <a:tr h="575310">
                <a:tc>
                  <a:txBody>
                    <a:bodyPr wrap="square" lIns="114300" tIns="57150" rIns="114300" bIns="57150">
                      <a:noAutofit/>
                    </a:bodyPr>
                    <a:lstStyle/>
                    <a:p>
                      <a:r>
                        <a:rPr sz="1740" b="0">
                          <a:solidFill>
                            <a:srgbClr val="131518"/>
                          </a:solidFill>
                          <a:latin typeface="Arial"/>
                          <a:ea typeface="Arial"/>
                          <a:cs typeface="Arial"/>
                        </a:rPr>
                        <a:t>Поиск / уникальные теги</a:t>
                      </a:r>
                    </a:p>
                  </a:txBody>
                  <a:tcPr marL="91440" marR="91440" marT="45720" marB="45720" anchor="ctr">
                    <a:solidFill>
                      <a:srgbClr val="FFFFFF"/>
                    </a:solidFill>
                  </a:tcPr>
                </a:tc>
                <a:tc>
                  <a:txBody>
                    <a:bodyPr wrap="square" lIns="114300" tIns="57150" rIns="114300" bIns="57150">
                      <a:noAutofit/>
                    </a:bodyPr>
                    <a:lstStyle/>
                    <a:p>
                      <a:r>
                        <a:rPr sz="1740" b="0">
                          <a:solidFill>
                            <a:srgbClr val="286DA6"/>
                          </a:solidFill>
                          <a:latin typeface="Arial"/>
                          <a:ea typeface="Arial"/>
                          <a:cs typeface="Arial"/>
                        </a:rPr>
                        <a:t>dict[str, Sensor] / set[str]</a:t>
                      </a:r>
                    </a:p>
                  </a:txBody>
                  <a:tcPr marL="91440" marR="91440" marT="45720" marB="45720" anchor="ctr">
                    <a:solidFill>
                      <a:srgbClr val="FFFFFF"/>
                    </a:solidFill>
                  </a:tcPr>
                </a:tc>
                <a:tc>
                  <a:txBody>
                    <a:bodyPr wrap="square" lIns="114300" tIns="57150" rIns="114300" bIns="57150">
                      <a:noAutofit/>
                    </a:bodyPr>
                    <a:lstStyle/>
                    <a:p>
                      <a:r>
                        <a:rPr sz="1740" b="0">
                          <a:solidFill>
                            <a:srgbClr val="131518"/>
                          </a:solidFill>
                          <a:latin typeface="Arial"/>
                          <a:ea typeface="Arial"/>
                          <a:cs typeface="Arial"/>
                        </a:rPr>
                        <a:t>Ключевой доступ / принадлежность</a:t>
                      </a:r>
                    </a:p>
                  </a:txBody>
                  <a:tcPr marL="91440" marR="91440" marT="45720" marB="45720" anchor="ctr">
                    <a:solidFill>
                      <a:srgbClr val="FFFFFF"/>
                    </a:solidFill>
                  </a:tcPr>
                </a:tc>
              </a:tr>
            </a:tbl>
          </a:graphicData>
        </a:graphic>
      </p:graphicFrame>
      <p:sp>
        <p:nvSpPr>
          <p:cNvPr id="8" name="takeaway-43">
            <a:extLst xmlns:a="http://schemas.openxmlformats.org/drawingml/2006/main">
              <a:ext uri="{FF2B5EF4-FFF2-40B4-BE49-F238E27FC236}">
                <a16:creationId xmlns:a16="http://schemas.microsoft.com/office/drawing/2014/main" id="{FA72E810-D9C9-4603-9118-8AED63B78B40}"/>
              </a:ext>
            </a:extLst>
          </p:cNvPr>
          <p:cNvSpPr>
            <a:spLocks xmlns:a="http://schemas.openxmlformats.org/drawingml/2006/main" noGrp="1"/>
          </p:cNvSpPr>
          <p:nvPr/>
        </p:nvSpPr>
        <p:spPr>
          <a:xfrm xmlns:a="http://schemas.openxmlformats.org/drawingml/2006/main">
            <a:off x="685800" y="5953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86DA6"/>
                </a:solidFill>
                <a:latin typeface="Arial"/>
                <a:ea typeface="Arial"/>
                <a:cs typeface="Arial"/>
              </a:defRPr>
            </a:pPr>
            <a:r>
              <a:rPr sz="1800" b="0">
                <a:solidFill>
                  <a:srgbClr val="286DA6"/>
                </a:solidFill>
                <a:latin typeface="Arial"/>
                <a:ea typeface="Arial"/>
                <a:cs typeface="Arial"/>
              </a:rPr>
              <a:t>Метакласс нужен лишь при отдельном требовании управлять созданием классов.</a:t>
            </a:r>
          </a:p>
        </p:txBody>
      </p:sp>
    </p:spTree>
    <p:extLst>
      <p:ext uri="{BB962C8B-B14F-4D97-AF65-F5344CB8AC3E}">
        <p14:creationId xmlns:p14="http://schemas.microsoft.com/office/powerpoint/2010/main" val="141465563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712">
            <a:extLst xmlns:a="http://schemas.openxmlformats.org/drawingml/2006/main">
              <a:ext uri="{FF2B5EF4-FFF2-40B4-BE49-F238E27FC236}">
                <a16:creationId xmlns:a16="http://schemas.microsoft.com/office/drawing/2014/main" id="{AD8B5389-22C8-4DED-AEB5-C03144E0151C}"/>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ЧТО ВАЖНО УНЕСТИ</a:t>
            </a:r>
          </a:p>
        </p:txBody>
      </p:sp>
      <p:sp>
        <p:nvSpPr>
          <p:cNvPr id="2" name="title-44">
            <a:extLst xmlns:a="http://schemas.openxmlformats.org/drawingml/2006/main">
              <a:ext uri="{FF2B5EF4-FFF2-40B4-BE49-F238E27FC236}">
                <a16:creationId xmlns:a16="http://schemas.microsoft.com/office/drawing/2014/main" id="{E642C0CE-0519-4226-ADF3-62F62E656988}"/>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Тип — это набор правил поведения</a:t>
            </a:r>
          </a:p>
        </p:txBody>
      </p:sp>
      <p:sp>
        <p:nvSpPr>
          <p:cNvPr id="3" name="surface-713">
            <a:extLst xmlns:a="http://schemas.openxmlformats.org/drawingml/2006/main">
              <a:ext uri="{FF2B5EF4-FFF2-40B4-BE49-F238E27FC236}">
                <a16:creationId xmlns:a16="http://schemas.microsoft.com/office/drawing/2014/main" id="{20B32840-AA90-4278-BB53-1E082F244C46}"/>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4" name="text-714">
            <a:extLst xmlns:a="http://schemas.openxmlformats.org/drawingml/2006/main">
              <a:ext uri="{FF2B5EF4-FFF2-40B4-BE49-F238E27FC236}">
                <a16:creationId xmlns:a16="http://schemas.microsoft.com/office/drawing/2014/main" id="{9039033C-26EE-4E01-8837-76BDF412E3DA}"/>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5" name="text-715">
            <a:extLst xmlns:a="http://schemas.openxmlformats.org/drawingml/2006/main">
              <a:ext uri="{FF2B5EF4-FFF2-40B4-BE49-F238E27FC236}">
                <a16:creationId xmlns:a16="http://schemas.microsoft.com/office/drawing/2014/main" id="{B6311F03-AFCD-4E7C-97AC-C0615A67821B}"/>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44</a:t>
            </a:r>
          </a:p>
        </p:txBody>
      </p:sp>
      <p:sp>
        <p:nvSpPr>
          <p:cNvPr id="6" name="text-716">
            <a:extLst xmlns:a="http://schemas.openxmlformats.org/drawingml/2006/main">
              <a:ext uri="{FF2B5EF4-FFF2-40B4-BE49-F238E27FC236}">
                <a16:creationId xmlns:a16="http://schemas.microsoft.com/office/drawing/2014/main" id="{3060B4BC-008C-4F42-9D25-1D7BAF8E7B81}"/>
              </a:ext>
            </a:extLst>
          </p:cNvPr>
          <p:cNvSpPr>
            <a:spLocks xmlns:a="http://schemas.openxmlformats.org/drawingml/2006/main" noGrp="1"/>
          </p:cNvSpPr>
          <p:nvPr/>
        </p:nvSpPr>
        <p:spPr>
          <a:xfrm xmlns:a="http://schemas.openxmlformats.org/drawingml/2006/main">
            <a:off x="685800" y="2114550"/>
            <a:ext cx="3876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31518"/>
                </a:solidFill>
                <a:latin typeface="Arial"/>
                <a:ea typeface="Arial"/>
                <a:cs typeface="Arial"/>
              </a:defRPr>
            </a:pPr>
            <a:r>
              <a:rPr sz="2325" b="1">
                <a:solidFill>
                  <a:srgbClr val="131518"/>
                </a:solidFill>
                <a:latin typeface="Arial"/>
                <a:ea typeface="Arial"/>
                <a:cs typeface="Arial"/>
              </a:rPr>
              <a:t>Имена и объекты</a:t>
            </a:r>
          </a:p>
        </p:txBody>
      </p:sp>
      <p:sp>
        <p:nvSpPr>
          <p:cNvPr id="7" name="text-717">
            <a:extLst xmlns:a="http://schemas.openxmlformats.org/drawingml/2006/main">
              <a:ext uri="{FF2B5EF4-FFF2-40B4-BE49-F238E27FC236}">
                <a16:creationId xmlns:a16="http://schemas.microsoft.com/office/drawing/2014/main" id="{C81FF37F-1273-4917-99BE-5E43EA663105}"/>
              </a:ext>
            </a:extLst>
          </p:cNvPr>
          <p:cNvSpPr>
            <a:spLocks xmlns:a="http://schemas.openxmlformats.org/drawingml/2006/main" noGrp="1"/>
          </p:cNvSpPr>
          <p:nvPr/>
        </p:nvSpPr>
        <p:spPr>
          <a:xfrm xmlns:a="http://schemas.openxmlformats.org/drawingml/2006/main">
            <a:off x="4857750" y="2133600"/>
            <a:ext cx="6648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5A61"/>
                </a:solidFill>
                <a:latin typeface="Arial"/>
                <a:ea typeface="Arial"/>
                <a:cs typeface="Arial"/>
              </a:defRPr>
            </a:pPr>
            <a:r>
              <a:rPr sz="2100" b="0">
                <a:solidFill>
                  <a:srgbClr val="535A61"/>
                </a:solidFill>
                <a:latin typeface="Arial"/>
                <a:ea typeface="Arial"/>
                <a:cs typeface="Arial"/>
              </a:rPr>
              <a:t>Присваивание не копирует. Мутация видна через общие ссылки.</a:t>
            </a:r>
          </a:p>
        </p:txBody>
      </p:sp>
      <p:sp>
        <p:nvSpPr>
          <p:cNvPr id="8" name="surface-718">
            <a:extLst xmlns:a="http://schemas.openxmlformats.org/drawingml/2006/main">
              <a:ext uri="{FF2B5EF4-FFF2-40B4-BE49-F238E27FC236}">
                <a16:creationId xmlns:a16="http://schemas.microsoft.com/office/drawing/2014/main" id="{B5DD73EA-B467-4658-87F9-3AE5B7185F64}"/>
              </a:ext>
            </a:extLst>
          </p:cNvPr>
          <p:cNvSpPr>
            <a:spLocks xmlns:a="http://schemas.openxmlformats.org/drawingml/2006/main" noGrp="1"/>
          </p:cNvSpPr>
          <p:nvPr/>
        </p:nvSpPr>
        <p:spPr>
          <a:xfrm xmlns:a="http://schemas.openxmlformats.org/drawingml/2006/main">
            <a:off x="685800" y="2838450"/>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9" name="text-719">
            <a:extLst xmlns:a="http://schemas.openxmlformats.org/drawingml/2006/main">
              <a:ext uri="{FF2B5EF4-FFF2-40B4-BE49-F238E27FC236}">
                <a16:creationId xmlns:a16="http://schemas.microsoft.com/office/drawing/2014/main" id="{38589861-72F8-49CF-82C1-7BD94C49E56D}"/>
              </a:ext>
            </a:extLst>
          </p:cNvPr>
          <p:cNvSpPr>
            <a:spLocks xmlns:a="http://schemas.openxmlformats.org/drawingml/2006/main" noGrp="1"/>
          </p:cNvSpPr>
          <p:nvPr/>
        </p:nvSpPr>
        <p:spPr>
          <a:xfrm xmlns:a="http://schemas.openxmlformats.org/drawingml/2006/main">
            <a:off x="685800" y="3000375"/>
            <a:ext cx="3876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31518"/>
                </a:solidFill>
                <a:latin typeface="Arial"/>
                <a:ea typeface="Arial"/>
                <a:cs typeface="Arial"/>
              </a:defRPr>
            </a:pPr>
            <a:r>
              <a:rPr sz="2325" b="1">
                <a:solidFill>
                  <a:srgbClr val="131518"/>
                </a:solidFill>
                <a:latin typeface="Arial"/>
                <a:ea typeface="Arial"/>
                <a:cs typeface="Arial"/>
              </a:rPr>
              <a:t>Коллекции и алгоритмы</a:t>
            </a:r>
          </a:p>
        </p:txBody>
      </p:sp>
      <p:sp>
        <p:nvSpPr>
          <p:cNvPr id="10" name="text-720">
            <a:extLst xmlns:a="http://schemas.openxmlformats.org/drawingml/2006/main">
              <a:ext uri="{FF2B5EF4-FFF2-40B4-BE49-F238E27FC236}">
                <a16:creationId xmlns:a16="http://schemas.microsoft.com/office/drawing/2014/main" id="{AD7AAB03-91F5-4785-BC8B-CEA7F41C1836}"/>
              </a:ext>
            </a:extLst>
          </p:cNvPr>
          <p:cNvSpPr>
            <a:spLocks xmlns:a="http://schemas.openxmlformats.org/drawingml/2006/main" noGrp="1"/>
          </p:cNvSpPr>
          <p:nvPr/>
        </p:nvSpPr>
        <p:spPr>
          <a:xfrm xmlns:a="http://schemas.openxmlformats.org/drawingml/2006/main">
            <a:off x="4857750" y="3019425"/>
            <a:ext cx="6648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5A61"/>
                </a:solidFill>
                <a:latin typeface="Arial"/>
                <a:ea typeface="Arial"/>
                <a:cs typeface="Arial"/>
              </a:defRPr>
            </a:pPr>
            <a:r>
              <a:rPr sz="2100" b="0">
                <a:solidFill>
                  <a:srgbClr val="535A61"/>
                </a:solidFill>
                <a:latin typeface="Arial"/>
                <a:ea typeface="Arial"/>
                <a:cs typeface="Arial"/>
              </a:rPr>
              <a:t>Порядок, ключи, уникальность и цена операций определяют выбор.</a:t>
            </a:r>
          </a:p>
        </p:txBody>
      </p:sp>
      <p:sp>
        <p:nvSpPr>
          <p:cNvPr id="11" name="surface-721">
            <a:extLst xmlns:a="http://schemas.openxmlformats.org/drawingml/2006/main">
              <a:ext uri="{FF2B5EF4-FFF2-40B4-BE49-F238E27FC236}">
                <a16:creationId xmlns:a16="http://schemas.microsoft.com/office/drawing/2014/main" id="{81211833-0BB1-4A3A-B3AF-6C13B07B176E}"/>
              </a:ext>
            </a:extLst>
          </p:cNvPr>
          <p:cNvSpPr>
            <a:spLocks xmlns:a="http://schemas.openxmlformats.org/drawingml/2006/main" noGrp="1"/>
          </p:cNvSpPr>
          <p:nvPr/>
        </p:nvSpPr>
        <p:spPr>
          <a:xfrm xmlns:a="http://schemas.openxmlformats.org/drawingml/2006/main">
            <a:off x="685800" y="37242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2" name="text-722">
            <a:extLst xmlns:a="http://schemas.openxmlformats.org/drawingml/2006/main">
              <a:ext uri="{FF2B5EF4-FFF2-40B4-BE49-F238E27FC236}">
                <a16:creationId xmlns:a16="http://schemas.microsoft.com/office/drawing/2014/main" id="{3DA3205A-60E5-4526-B8D5-68B3D4D97B0E}"/>
              </a:ext>
            </a:extLst>
          </p:cNvPr>
          <p:cNvSpPr>
            <a:spLocks xmlns:a="http://schemas.openxmlformats.org/drawingml/2006/main" noGrp="1"/>
          </p:cNvSpPr>
          <p:nvPr/>
        </p:nvSpPr>
        <p:spPr>
          <a:xfrm xmlns:a="http://schemas.openxmlformats.org/drawingml/2006/main">
            <a:off x="685800" y="3886200"/>
            <a:ext cx="3876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31518"/>
                </a:solidFill>
                <a:latin typeface="Arial"/>
                <a:ea typeface="Arial"/>
                <a:cs typeface="Arial"/>
              </a:defRPr>
            </a:pPr>
            <a:r>
              <a:rPr sz="2325" b="1">
                <a:solidFill>
                  <a:srgbClr val="131518"/>
                </a:solidFill>
                <a:latin typeface="Arial"/>
                <a:ea typeface="Arial"/>
                <a:cs typeface="Arial"/>
              </a:rPr>
              <a:t>Классы и контракты</a:t>
            </a:r>
          </a:p>
        </p:txBody>
      </p:sp>
      <p:sp>
        <p:nvSpPr>
          <p:cNvPr id="13" name="text-723">
            <a:extLst xmlns:a="http://schemas.openxmlformats.org/drawingml/2006/main">
              <a:ext uri="{FF2B5EF4-FFF2-40B4-BE49-F238E27FC236}">
                <a16:creationId xmlns:a16="http://schemas.microsoft.com/office/drawing/2014/main" id="{FA78FD77-82C8-4409-A8CE-735A1EA211D3}"/>
              </a:ext>
            </a:extLst>
          </p:cNvPr>
          <p:cNvSpPr>
            <a:spLocks xmlns:a="http://schemas.openxmlformats.org/drawingml/2006/main" noGrp="1"/>
          </p:cNvSpPr>
          <p:nvPr/>
        </p:nvSpPr>
        <p:spPr>
          <a:xfrm xmlns:a="http://schemas.openxmlformats.org/drawingml/2006/main">
            <a:off x="4857750" y="3905250"/>
            <a:ext cx="6648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5A61"/>
                </a:solidFill>
                <a:latin typeface="Arial"/>
                <a:ea typeface="Arial"/>
                <a:cs typeface="Arial"/>
              </a:defRPr>
            </a:pPr>
            <a:r>
              <a:rPr sz="2100" b="0">
                <a:solidFill>
                  <a:srgbClr val="535A61"/>
                </a:solidFill>
                <a:latin typeface="Arial"/>
                <a:ea typeface="Arial"/>
                <a:cs typeface="Arial"/>
              </a:rPr>
              <a:t>Протокол задаёт операции; аннотация описывает ожидания.</a:t>
            </a:r>
          </a:p>
        </p:txBody>
      </p:sp>
      <p:sp>
        <p:nvSpPr>
          <p:cNvPr id="14" name="surface-724">
            <a:extLst xmlns:a="http://schemas.openxmlformats.org/drawingml/2006/main">
              <a:ext uri="{FF2B5EF4-FFF2-40B4-BE49-F238E27FC236}">
                <a16:creationId xmlns:a16="http://schemas.microsoft.com/office/drawing/2014/main" id="{E9F96296-784B-4DA1-894D-3C037366CEA1}"/>
              </a:ext>
            </a:extLst>
          </p:cNvPr>
          <p:cNvSpPr>
            <a:spLocks xmlns:a="http://schemas.openxmlformats.org/drawingml/2006/main" noGrp="1"/>
          </p:cNvSpPr>
          <p:nvPr/>
        </p:nvSpPr>
        <p:spPr>
          <a:xfrm xmlns:a="http://schemas.openxmlformats.org/drawingml/2006/main">
            <a:off x="685800" y="4610100"/>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5" name="text-725">
            <a:extLst xmlns:a="http://schemas.openxmlformats.org/drawingml/2006/main">
              <a:ext uri="{FF2B5EF4-FFF2-40B4-BE49-F238E27FC236}">
                <a16:creationId xmlns:a16="http://schemas.microsoft.com/office/drawing/2014/main" id="{917D7FBE-F1FB-4526-A244-B57F5777BFBF}"/>
              </a:ext>
            </a:extLst>
          </p:cNvPr>
          <p:cNvSpPr>
            <a:spLocks xmlns:a="http://schemas.openxmlformats.org/drawingml/2006/main" noGrp="1"/>
          </p:cNvSpPr>
          <p:nvPr/>
        </p:nvSpPr>
        <p:spPr>
          <a:xfrm xmlns:a="http://schemas.openxmlformats.org/drawingml/2006/main">
            <a:off x="685800" y="4772025"/>
            <a:ext cx="3876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31518"/>
                </a:solidFill>
                <a:latin typeface="Arial"/>
                <a:ea typeface="Arial"/>
                <a:cs typeface="Arial"/>
              </a:defRPr>
            </a:pPr>
            <a:r>
              <a:rPr sz="2325" b="1">
                <a:solidFill>
                  <a:srgbClr val="131518"/>
                </a:solidFill>
                <a:latin typeface="Arial"/>
                <a:ea typeface="Arial"/>
                <a:cs typeface="Arial"/>
              </a:rPr>
              <a:t>Метаклассы</a:t>
            </a:r>
          </a:p>
        </p:txBody>
      </p:sp>
      <p:sp>
        <p:nvSpPr>
          <p:cNvPr id="16" name="text-726">
            <a:extLst xmlns:a="http://schemas.openxmlformats.org/drawingml/2006/main">
              <a:ext uri="{FF2B5EF4-FFF2-40B4-BE49-F238E27FC236}">
                <a16:creationId xmlns:a16="http://schemas.microsoft.com/office/drawing/2014/main" id="{29540FE7-2BA6-462A-B010-091243D82628}"/>
              </a:ext>
            </a:extLst>
          </p:cNvPr>
          <p:cNvSpPr>
            <a:spLocks xmlns:a="http://schemas.openxmlformats.org/drawingml/2006/main" noGrp="1"/>
          </p:cNvSpPr>
          <p:nvPr/>
        </p:nvSpPr>
        <p:spPr>
          <a:xfrm xmlns:a="http://schemas.openxmlformats.org/drawingml/2006/main">
            <a:off x="4857750" y="4791075"/>
            <a:ext cx="6648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5A61"/>
                </a:solidFill>
                <a:latin typeface="Arial"/>
                <a:ea typeface="Arial"/>
                <a:cs typeface="Arial"/>
              </a:defRPr>
            </a:pPr>
            <a:r>
              <a:rPr sz="2100" b="0">
                <a:solidFill>
                  <a:srgbClr val="535A61"/>
                </a:solidFill>
                <a:latin typeface="Arial"/>
                <a:ea typeface="Arial"/>
                <a:cs typeface="Arial"/>
              </a:rPr>
              <a:t>Классы тоже объекты. Их тип может управлять созданием классов.</a:t>
            </a:r>
          </a:p>
        </p:txBody>
      </p:sp>
      <p:sp>
        <p:nvSpPr>
          <p:cNvPr id="17" name="takeaway-44">
            <a:extLst xmlns:a="http://schemas.openxmlformats.org/drawingml/2006/main">
              <a:ext uri="{FF2B5EF4-FFF2-40B4-BE49-F238E27FC236}">
                <a16:creationId xmlns:a16="http://schemas.microsoft.com/office/drawing/2014/main" id="{C378B4CC-BA3A-462C-A33A-4D355F648FB0}"/>
              </a:ext>
            </a:extLst>
          </p:cNvPr>
          <p:cNvSpPr>
            <a:spLocks xmlns:a="http://schemas.openxmlformats.org/drawingml/2006/main" noGrp="1"/>
          </p:cNvSpPr>
          <p:nvPr/>
        </p:nvSpPr>
        <p:spPr>
          <a:xfrm xmlns:a="http://schemas.openxmlformats.org/drawingml/2006/main">
            <a:off x="685800" y="59817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6DA6"/>
                </a:solidFill>
                <a:latin typeface="Arial"/>
                <a:ea typeface="Arial"/>
                <a:cs typeface="Arial"/>
              </a:defRPr>
            </a:pPr>
            <a:r>
              <a:rPr sz="1875" b="0">
                <a:solidFill>
                  <a:srgbClr val="286DA6"/>
                </a:solidFill>
                <a:latin typeface="Arial"/>
                <a:ea typeface="Arial"/>
                <a:cs typeface="Arial"/>
              </a:rPr>
              <a:t>Ответ на стартовый код: [10, 20, 30] и 1. Теперь оба результата объяснимы.</a:t>
            </a:r>
          </a:p>
        </p:txBody>
      </p:sp>
    </p:spTree>
    <p:extLst>
      <p:ext uri="{BB962C8B-B14F-4D97-AF65-F5344CB8AC3E}">
        <p14:creationId xmlns:p14="http://schemas.microsoft.com/office/powerpoint/2010/main" val="96398796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727">
            <a:extLst xmlns:a="http://schemas.openxmlformats.org/drawingml/2006/main">
              <a:ext uri="{FF2B5EF4-FFF2-40B4-BE49-F238E27FC236}">
                <a16:creationId xmlns:a16="http://schemas.microsoft.com/office/drawing/2014/main" id="{5021906E-3678-4296-9067-C66D0F62D2D5}"/>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СПРАВОЧНЫЕ МАТЕРИАЛЫ / 1</a:t>
            </a:r>
          </a:p>
        </p:txBody>
      </p:sp>
      <p:sp>
        <p:nvSpPr>
          <p:cNvPr id="2" name="title-45">
            <a:extLst xmlns:a="http://schemas.openxmlformats.org/drawingml/2006/main">
              <a:ext uri="{FF2B5EF4-FFF2-40B4-BE49-F238E27FC236}">
                <a16:creationId xmlns:a16="http://schemas.microsoft.com/office/drawing/2014/main" id="{72987F5D-AE4B-474E-A468-0636A88F7558}"/>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Основные типы: где уточнять детали</a:t>
            </a:r>
          </a:p>
        </p:txBody>
      </p:sp>
      <p:sp>
        <p:nvSpPr>
          <p:cNvPr id="3" name="surface-728">
            <a:extLst xmlns:a="http://schemas.openxmlformats.org/drawingml/2006/main">
              <a:ext uri="{FF2B5EF4-FFF2-40B4-BE49-F238E27FC236}">
                <a16:creationId xmlns:a16="http://schemas.microsoft.com/office/drawing/2014/main" id="{CDB0F2B6-89A4-4838-A24C-C89F9ECB41F5}"/>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4" name="text-729">
            <a:extLst xmlns:a="http://schemas.openxmlformats.org/drawingml/2006/main">
              <a:ext uri="{FF2B5EF4-FFF2-40B4-BE49-F238E27FC236}">
                <a16:creationId xmlns:a16="http://schemas.microsoft.com/office/drawing/2014/main" id="{6C434A94-E2D9-4915-9EF6-3084A038E05D}"/>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5" name="text-730">
            <a:extLst xmlns:a="http://schemas.openxmlformats.org/drawingml/2006/main">
              <a:ext uri="{FF2B5EF4-FFF2-40B4-BE49-F238E27FC236}">
                <a16:creationId xmlns:a16="http://schemas.microsoft.com/office/drawing/2014/main" id="{22F80865-C767-416A-8253-2CE32BCA9389}"/>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45</a:t>
            </a:r>
          </a:p>
        </p:txBody>
      </p:sp>
      <p:sp>
        <p:nvSpPr>
          <p:cNvPr id="6" name="text-731">
            <a:extLst xmlns:a="http://schemas.openxmlformats.org/drawingml/2006/main">
              <a:ext uri="{FF2B5EF4-FFF2-40B4-BE49-F238E27FC236}">
                <a16:creationId xmlns:a16="http://schemas.microsoft.com/office/drawing/2014/main" id="{6869504D-C202-499F-9147-1036BA65F54E}"/>
              </a:ext>
            </a:extLst>
          </p:cNvPr>
          <p:cNvSpPr>
            <a:spLocks xmlns:a="http://schemas.openxmlformats.org/drawingml/2006/main" noGrp="1"/>
          </p:cNvSpPr>
          <p:nvPr/>
        </p:nvSpPr>
        <p:spPr>
          <a:xfrm xmlns:a="http://schemas.openxmlformats.org/drawingml/2006/main">
            <a:off x="685800" y="20955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b365ecd027084224"/>
              </a:rPr>
              <a:t>Built-in Types</a:t>
            </a:r>
          </a:p>
        </p:txBody>
      </p:sp>
      <p:sp>
        <p:nvSpPr>
          <p:cNvPr id="7" name="text-732">
            <a:extLst xmlns:a="http://schemas.openxmlformats.org/drawingml/2006/main">
              <a:ext uri="{FF2B5EF4-FFF2-40B4-BE49-F238E27FC236}">
                <a16:creationId xmlns:a16="http://schemas.microsoft.com/office/drawing/2014/main" id="{ED45A516-17D0-4202-9468-B12EDFAC9E15}"/>
              </a:ext>
            </a:extLst>
          </p:cNvPr>
          <p:cNvSpPr>
            <a:spLocks xmlns:a="http://schemas.openxmlformats.org/drawingml/2006/main" noGrp="1"/>
          </p:cNvSpPr>
          <p:nvPr/>
        </p:nvSpPr>
        <p:spPr>
          <a:xfrm xmlns:a="http://schemas.openxmlformats.org/drawingml/2006/main">
            <a:off x="5600700" y="21145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Семейства типов, операции и правила контейнеров</a:t>
            </a:r>
          </a:p>
        </p:txBody>
      </p:sp>
      <p:sp>
        <p:nvSpPr>
          <p:cNvPr id="8" name="surface-733">
            <a:extLst xmlns:a="http://schemas.openxmlformats.org/drawingml/2006/main">
              <a:ext uri="{FF2B5EF4-FFF2-40B4-BE49-F238E27FC236}">
                <a16:creationId xmlns:a16="http://schemas.microsoft.com/office/drawing/2014/main" id="{97AF7705-3E56-447E-986A-A4AEE817CBFE}"/>
              </a:ext>
            </a:extLst>
          </p:cNvPr>
          <p:cNvSpPr>
            <a:spLocks xmlns:a="http://schemas.openxmlformats.org/drawingml/2006/main" noGrp="1"/>
          </p:cNvSpPr>
          <p:nvPr/>
        </p:nvSpPr>
        <p:spPr>
          <a:xfrm xmlns:a="http://schemas.openxmlformats.org/drawingml/2006/main">
            <a:off x="685800" y="26384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9" name="text-734">
            <a:extLst xmlns:a="http://schemas.openxmlformats.org/drawingml/2006/main">
              <a:ext uri="{FF2B5EF4-FFF2-40B4-BE49-F238E27FC236}">
                <a16:creationId xmlns:a16="http://schemas.microsoft.com/office/drawing/2014/main" id="{584F62DA-67EE-49A0-8A39-2406BE5B9C93}"/>
              </a:ext>
            </a:extLst>
          </p:cNvPr>
          <p:cNvSpPr>
            <a:spLocks xmlns:a="http://schemas.openxmlformats.org/drawingml/2006/main" noGrp="1"/>
          </p:cNvSpPr>
          <p:nvPr/>
        </p:nvSpPr>
        <p:spPr>
          <a:xfrm xmlns:a="http://schemas.openxmlformats.org/drawingml/2006/main">
            <a:off x="685800" y="27813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ac25b062bd4d4b5d"/>
              </a:rPr>
              <a:t>Data Structures</a:t>
            </a:r>
          </a:p>
        </p:txBody>
      </p:sp>
      <p:sp>
        <p:nvSpPr>
          <p:cNvPr id="10" name="text-735">
            <a:extLst xmlns:a="http://schemas.openxmlformats.org/drawingml/2006/main">
              <a:ext uri="{FF2B5EF4-FFF2-40B4-BE49-F238E27FC236}">
                <a16:creationId xmlns:a16="http://schemas.microsoft.com/office/drawing/2014/main" id="{37C80AC5-0B06-43E5-B9F3-E84262F08B77}"/>
              </a:ext>
            </a:extLst>
          </p:cNvPr>
          <p:cNvSpPr>
            <a:spLocks xmlns:a="http://schemas.openxmlformats.org/drawingml/2006/main" noGrp="1"/>
          </p:cNvSpPr>
          <p:nvPr/>
        </p:nvSpPr>
        <p:spPr>
          <a:xfrm xmlns:a="http://schemas.openxmlformats.org/drawingml/2006/main">
            <a:off x="5600700" y="28003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Практические примеры list, tuple, dict и set</a:t>
            </a:r>
          </a:p>
        </p:txBody>
      </p:sp>
      <p:sp>
        <p:nvSpPr>
          <p:cNvPr id="11" name="surface-736">
            <a:extLst xmlns:a="http://schemas.openxmlformats.org/drawingml/2006/main">
              <a:ext uri="{FF2B5EF4-FFF2-40B4-BE49-F238E27FC236}">
                <a16:creationId xmlns:a16="http://schemas.microsoft.com/office/drawing/2014/main" id="{F05CA97E-54C0-4858-95C9-291B076E7339}"/>
              </a:ext>
            </a:extLst>
          </p:cNvPr>
          <p:cNvSpPr>
            <a:spLocks xmlns:a="http://schemas.openxmlformats.org/drawingml/2006/main" noGrp="1"/>
          </p:cNvSpPr>
          <p:nvPr/>
        </p:nvSpPr>
        <p:spPr>
          <a:xfrm xmlns:a="http://schemas.openxmlformats.org/drawingml/2006/main">
            <a:off x="685800" y="33242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2" name="text-737">
            <a:extLst xmlns:a="http://schemas.openxmlformats.org/drawingml/2006/main">
              <a:ext uri="{FF2B5EF4-FFF2-40B4-BE49-F238E27FC236}">
                <a16:creationId xmlns:a16="http://schemas.microsoft.com/office/drawing/2014/main" id="{013E623C-4A3F-451E-9C8C-49DDBE28BE6B}"/>
              </a:ext>
            </a:extLst>
          </p:cNvPr>
          <p:cNvSpPr>
            <a:spLocks xmlns:a="http://schemas.openxmlformats.org/drawingml/2006/main" noGrp="1"/>
          </p:cNvSpPr>
          <p:nvPr/>
        </p:nvSpPr>
        <p:spPr>
          <a:xfrm xmlns:a="http://schemas.openxmlformats.org/drawingml/2006/main">
            <a:off x="685800" y="34671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40e628b679ee47bb"/>
              </a:rPr>
              <a:t>Floating-Point Arithmetic</a:t>
            </a:r>
          </a:p>
        </p:txBody>
      </p:sp>
      <p:sp>
        <p:nvSpPr>
          <p:cNvPr id="13" name="text-738">
            <a:extLst xmlns:a="http://schemas.openxmlformats.org/drawingml/2006/main">
              <a:ext uri="{FF2B5EF4-FFF2-40B4-BE49-F238E27FC236}">
                <a16:creationId xmlns:a16="http://schemas.microsoft.com/office/drawing/2014/main" id="{10646DC8-F840-40EF-89AD-2A739669F99E}"/>
              </a:ext>
            </a:extLst>
          </p:cNvPr>
          <p:cNvSpPr>
            <a:spLocks xmlns:a="http://schemas.openxmlformats.org/drawingml/2006/main" noGrp="1"/>
          </p:cNvSpPr>
          <p:nvPr/>
        </p:nvSpPr>
        <p:spPr>
          <a:xfrm xmlns:a="http://schemas.openxmlformats.org/drawingml/2006/main">
            <a:off x="5600700" y="34861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Как появляются ошибки представления float</a:t>
            </a:r>
          </a:p>
        </p:txBody>
      </p:sp>
      <p:sp>
        <p:nvSpPr>
          <p:cNvPr id="14" name="surface-739">
            <a:extLst xmlns:a="http://schemas.openxmlformats.org/drawingml/2006/main">
              <a:ext uri="{FF2B5EF4-FFF2-40B4-BE49-F238E27FC236}">
                <a16:creationId xmlns:a16="http://schemas.microsoft.com/office/drawing/2014/main" id="{5DB761B6-9DEE-43AC-9C47-A2AC304B819A}"/>
              </a:ext>
            </a:extLst>
          </p:cNvPr>
          <p:cNvSpPr>
            <a:spLocks xmlns:a="http://schemas.openxmlformats.org/drawingml/2006/main" noGrp="1"/>
          </p:cNvSpPr>
          <p:nvPr/>
        </p:nvSpPr>
        <p:spPr>
          <a:xfrm xmlns:a="http://schemas.openxmlformats.org/drawingml/2006/main">
            <a:off x="685800" y="40100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5" name="text-740">
            <a:extLst xmlns:a="http://schemas.openxmlformats.org/drawingml/2006/main">
              <a:ext uri="{FF2B5EF4-FFF2-40B4-BE49-F238E27FC236}">
                <a16:creationId xmlns:a16="http://schemas.microsoft.com/office/drawing/2014/main" id="{A227CC03-0BCE-41F5-8788-AA77A352769D}"/>
              </a:ext>
            </a:extLst>
          </p:cNvPr>
          <p:cNvSpPr>
            <a:spLocks xmlns:a="http://schemas.openxmlformats.org/drawingml/2006/main" noGrp="1"/>
          </p:cNvSpPr>
          <p:nvPr/>
        </p:nvSpPr>
        <p:spPr>
          <a:xfrm xmlns:a="http://schemas.openxmlformats.org/drawingml/2006/main">
            <a:off x="685800" y="41529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2eeb24a30f3f4396"/>
              </a:rPr>
              <a:t>Unicode HOWTO</a:t>
            </a:r>
          </a:p>
        </p:txBody>
      </p:sp>
      <p:sp>
        <p:nvSpPr>
          <p:cNvPr id="16" name="text-741">
            <a:extLst xmlns:a="http://schemas.openxmlformats.org/drawingml/2006/main">
              <a:ext uri="{FF2B5EF4-FFF2-40B4-BE49-F238E27FC236}">
                <a16:creationId xmlns:a16="http://schemas.microsoft.com/office/drawing/2014/main" id="{3AA5CC49-6908-42A0-8565-768116BF5F09}"/>
              </a:ext>
            </a:extLst>
          </p:cNvPr>
          <p:cNvSpPr>
            <a:spLocks xmlns:a="http://schemas.openxmlformats.org/drawingml/2006/main" noGrp="1"/>
          </p:cNvSpPr>
          <p:nvPr/>
        </p:nvSpPr>
        <p:spPr>
          <a:xfrm xmlns:a="http://schemas.openxmlformats.org/drawingml/2006/main">
            <a:off x="5600700" y="41719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Кодовые точки, кодировки и нормализация</a:t>
            </a:r>
          </a:p>
        </p:txBody>
      </p:sp>
      <p:sp>
        <p:nvSpPr>
          <p:cNvPr id="17" name="surface-742">
            <a:extLst xmlns:a="http://schemas.openxmlformats.org/drawingml/2006/main">
              <a:ext uri="{FF2B5EF4-FFF2-40B4-BE49-F238E27FC236}">
                <a16:creationId xmlns:a16="http://schemas.microsoft.com/office/drawing/2014/main" id="{8538B373-6F7F-45F0-A1C0-91C0C12B5409}"/>
              </a:ext>
            </a:extLst>
          </p:cNvPr>
          <p:cNvSpPr>
            <a:spLocks xmlns:a="http://schemas.openxmlformats.org/drawingml/2006/main" noGrp="1"/>
          </p:cNvSpPr>
          <p:nvPr/>
        </p:nvSpPr>
        <p:spPr>
          <a:xfrm xmlns:a="http://schemas.openxmlformats.org/drawingml/2006/main">
            <a:off x="685800" y="46958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8" name="text-743">
            <a:extLst xmlns:a="http://schemas.openxmlformats.org/drawingml/2006/main">
              <a:ext uri="{FF2B5EF4-FFF2-40B4-BE49-F238E27FC236}">
                <a16:creationId xmlns:a16="http://schemas.microsoft.com/office/drawing/2014/main" id="{88D88792-1A4A-4ADC-8848-EAC765E0FC28}"/>
              </a:ext>
            </a:extLst>
          </p:cNvPr>
          <p:cNvSpPr>
            <a:spLocks xmlns:a="http://schemas.openxmlformats.org/drawingml/2006/main" noGrp="1"/>
          </p:cNvSpPr>
          <p:nvPr/>
        </p:nvSpPr>
        <p:spPr>
          <a:xfrm xmlns:a="http://schemas.openxmlformats.org/drawingml/2006/main">
            <a:off x="685800" y="48387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ff95aef207fe4332"/>
              </a:rPr>
              <a:t>copy / Time complexity</a:t>
            </a:r>
          </a:p>
        </p:txBody>
      </p:sp>
      <p:sp>
        <p:nvSpPr>
          <p:cNvPr id="19" name="text-744">
            <a:extLst xmlns:a="http://schemas.openxmlformats.org/drawingml/2006/main">
              <a:ext uri="{FF2B5EF4-FFF2-40B4-BE49-F238E27FC236}">
                <a16:creationId xmlns:a16="http://schemas.microsoft.com/office/drawing/2014/main" id="{C223DC4D-FBDE-4AC6-B819-FA0A291DE829}"/>
              </a:ext>
            </a:extLst>
          </p:cNvPr>
          <p:cNvSpPr>
            <a:spLocks xmlns:a="http://schemas.openxmlformats.org/drawingml/2006/main" noGrp="1"/>
          </p:cNvSpPr>
          <p:nvPr/>
        </p:nvSpPr>
        <p:spPr>
          <a:xfrm xmlns:a="http://schemas.openxmlformats.org/drawingml/2006/main">
            <a:off x="5600700" y="48577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Копирование и стоимость операций</a:t>
            </a:r>
          </a:p>
        </p:txBody>
      </p:sp>
      <p:sp>
        <p:nvSpPr>
          <p:cNvPr id="20" name="surface-745">
            <a:extLst xmlns:a="http://schemas.openxmlformats.org/drawingml/2006/main">
              <a:ext uri="{FF2B5EF4-FFF2-40B4-BE49-F238E27FC236}">
                <a16:creationId xmlns:a16="http://schemas.microsoft.com/office/drawing/2014/main" id="{C40980AF-A839-4098-97C1-BE7C8F9C013C}"/>
              </a:ext>
            </a:extLst>
          </p:cNvPr>
          <p:cNvSpPr>
            <a:spLocks xmlns:a="http://schemas.openxmlformats.org/drawingml/2006/main" noGrp="1"/>
          </p:cNvSpPr>
          <p:nvPr/>
        </p:nvSpPr>
        <p:spPr>
          <a:xfrm xmlns:a="http://schemas.openxmlformats.org/drawingml/2006/main">
            <a:off x="685800" y="53816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21" name="text-746">
            <a:extLst xmlns:a="http://schemas.openxmlformats.org/drawingml/2006/main">
              <a:ext uri="{FF2B5EF4-FFF2-40B4-BE49-F238E27FC236}">
                <a16:creationId xmlns:a16="http://schemas.microsoft.com/office/drawing/2014/main" id="{DB8769C2-FF9E-499B-8ECB-881BC7F1C0F2}"/>
              </a:ext>
            </a:extLst>
          </p:cNvPr>
          <p:cNvSpPr>
            <a:spLocks xmlns:a="http://schemas.openxmlformats.org/drawingml/2006/main" noGrp="1"/>
          </p:cNvSpPr>
          <p:nvPr/>
        </p:nvSpPr>
        <p:spPr>
          <a:xfrm xmlns:a="http://schemas.openxmlformats.org/drawingml/2006/main">
            <a:off x="685800" y="55245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accba591c83b460d"/>
              </a:rPr>
              <a:t>CPython: Time complexity</a:t>
            </a:r>
          </a:p>
        </p:txBody>
      </p:sp>
      <p:sp>
        <p:nvSpPr>
          <p:cNvPr id="22" name="text-747">
            <a:extLst xmlns:a="http://schemas.openxmlformats.org/drawingml/2006/main">
              <a:ext uri="{FF2B5EF4-FFF2-40B4-BE49-F238E27FC236}">
                <a16:creationId xmlns:a16="http://schemas.microsoft.com/office/drawing/2014/main" id="{FBCE8064-05B6-41F1-95AB-AF065CB1BE2A}"/>
              </a:ext>
            </a:extLst>
          </p:cNvPr>
          <p:cNvSpPr>
            <a:spLocks xmlns:a="http://schemas.openxmlformats.org/drawingml/2006/main" noGrp="1"/>
          </p:cNvSpPr>
          <p:nvPr/>
        </p:nvSpPr>
        <p:spPr>
          <a:xfrm xmlns:a="http://schemas.openxmlformats.org/drawingml/2006/main">
            <a:off x="5600700" y="55435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Условия оценок сложности встроенных операций</a:t>
            </a:r>
          </a:p>
        </p:txBody>
      </p:sp>
    </p:spTree>
    <p:extLst>
      <p:ext uri="{BB962C8B-B14F-4D97-AF65-F5344CB8AC3E}">
        <p14:creationId xmlns:p14="http://schemas.microsoft.com/office/powerpoint/2010/main" val="209438518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748">
            <a:extLst xmlns:a="http://schemas.openxmlformats.org/drawingml/2006/main">
              <a:ext uri="{FF2B5EF4-FFF2-40B4-BE49-F238E27FC236}">
                <a16:creationId xmlns:a16="http://schemas.microsoft.com/office/drawing/2014/main" id="{E97395EA-F62A-4B56-9F24-9FD4EA13E074}"/>
              </a:ext>
            </a:extLst>
          </p:cNvPr>
          <p:cNvSpPr>
            <a:spLocks xmlns:a="http://schemas.openxmlformats.org/drawingml/2006/main" noGrp="1"/>
          </p:cNvSpPr>
          <p:nvPr/>
        </p:nvSpPr>
        <p:spPr>
          <a:xfrm xmlns:a="http://schemas.openxmlformats.org/drawingml/2006/main">
            <a:off x="685800" y="266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1" b="1">
                <a:solidFill>
                  <a:srgbClr val="286DA6"/>
                </a:solidFill>
                <a:latin typeface="Arial"/>
                <a:ea typeface="Arial"/>
                <a:cs typeface="Arial"/>
              </a:defRPr>
            </a:pPr>
            <a:r>
              <a:rPr sz="1601" b="1">
                <a:solidFill>
                  <a:srgbClr val="286DA6"/>
                </a:solidFill>
                <a:latin typeface="Arial"/>
                <a:ea typeface="Arial"/>
                <a:cs typeface="Arial"/>
              </a:rPr>
              <a:t>СПРАВОЧНЫЕ МАТЕРИАЛЫ / 2</a:t>
            </a:r>
          </a:p>
        </p:txBody>
      </p:sp>
      <p:sp>
        <p:nvSpPr>
          <p:cNvPr id="2" name="title-46">
            <a:extLst xmlns:a="http://schemas.openxmlformats.org/drawingml/2006/main">
              <a:ext uri="{FF2B5EF4-FFF2-40B4-BE49-F238E27FC236}">
                <a16:creationId xmlns:a16="http://schemas.microsoft.com/office/drawing/2014/main" id="{6C316320-6398-4559-B073-DC1F88410E81}"/>
              </a:ext>
            </a:extLst>
          </p:cNvPr>
          <p:cNvSpPr>
            <a:spLocks xmlns:a="http://schemas.openxmlformats.org/drawingml/2006/main" noGrp="1"/>
          </p:cNvSpPr>
          <p:nvPr/>
        </p:nvSpPr>
        <p:spPr>
          <a:xfrm xmlns:a="http://schemas.openxmlformats.org/drawingml/2006/main">
            <a:off x="685800" y="762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131518"/>
                </a:solidFill>
                <a:latin typeface="Arial"/>
                <a:ea typeface="Arial"/>
                <a:cs typeface="Arial"/>
              </a:defRPr>
            </a:pPr>
            <a:r>
              <a:rPr sz="3525" b="1">
                <a:solidFill>
                  <a:srgbClr val="131518"/>
                </a:solidFill>
                <a:latin typeface="Arial"/>
                <a:ea typeface="Arial"/>
                <a:cs typeface="Arial"/>
              </a:rPr>
              <a:t>Модель объектов и устройство классов</a:t>
            </a:r>
          </a:p>
        </p:txBody>
      </p:sp>
      <p:sp>
        <p:nvSpPr>
          <p:cNvPr id="3" name="surface-749">
            <a:extLst xmlns:a="http://schemas.openxmlformats.org/drawingml/2006/main">
              <a:ext uri="{FF2B5EF4-FFF2-40B4-BE49-F238E27FC236}">
                <a16:creationId xmlns:a16="http://schemas.microsoft.com/office/drawing/2014/main" id="{8BBDE853-0865-4461-9B98-CC252DB626CF}"/>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4" name="text-750">
            <a:extLst xmlns:a="http://schemas.openxmlformats.org/drawingml/2006/main">
              <a:ext uri="{FF2B5EF4-FFF2-40B4-BE49-F238E27FC236}">
                <a16:creationId xmlns:a16="http://schemas.microsoft.com/office/drawing/2014/main" id="{E4752DD6-AACC-4C9D-B730-5ED9A2F6CEE4}"/>
              </a:ext>
            </a:extLst>
          </p:cNvPr>
          <p:cNvSpPr>
            <a:spLocks xmlns:a="http://schemas.openxmlformats.org/drawingml/2006/main" noGrp="1"/>
          </p:cNvSpPr>
          <p:nvPr/>
        </p:nvSpPr>
        <p:spPr>
          <a:xfrm xmlns:a="http://schemas.openxmlformats.org/drawingml/2006/main">
            <a:off x="685800" y="65722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01" b="0">
                <a:solidFill>
                  <a:srgbClr val="535A61"/>
                </a:solidFill>
                <a:latin typeface="Arial"/>
                <a:ea typeface="Arial"/>
                <a:cs typeface="Arial"/>
              </a:defRPr>
            </a:pPr>
            <a:r>
              <a:rPr sz="1601" b="0">
                <a:solidFill>
                  <a:srgbClr val="535A61"/>
                </a:solidFill>
                <a:latin typeface="Arial"/>
                <a:ea typeface="Arial"/>
                <a:cs typeface="Arial"/>
              </a:rPr>
              <a:t>ПРОГРАММИРОВАНИЕ НА PYTHON</a:t>
            </a:r>
          </a:p>
        </p:txBody>
      </p:sp>
      <p:sp>
        <p:nvSpPr>
          <p:cNvPr id="5" name="text-751">
            <a:extLst xmlns:a="http://schemas.openxmlformats.org/drawingml/2006/main">
              <a:ext uri="{FF2B5EF4-FFF2-40B4-BE49-F238E27FC236}">
                <a16:creationId xmlns:a16="http://schemas.microsoft.com/office/drawing/2014/main" id="{E79C085F-CFE3-4B10-81F7-80027221A979}"/>
              </a:ext>
            </a:extLst>
          </p:cNvPr>
          <p:cNvSpPr>
            <a:spLocks xmlns:a="http://schemas.openxmlformats.org/drawingml/2006/main" noGrp="1"/>
          </p:cNvSpPr>
          <p:nvPr/>
        </p:nvSpPr>
        <p:spPr>
          <a:xfrm xmlns:a="http://schemas.openxmlformats.org/drawingml/2006/main">
            <a:off x="10858500" y="6553200"/>
            <a:ext cx="647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535A61"/>
                </a:solidFill>
                <a:latin typeface="Arial"/>
                <a:ea typeface="Arial"/>
                <a:cs typeface="Arial"/>
              </a:defRPr>
            </a:pPr>
            <a:r>
              <a:rPr sz="1725" b="0">
                <a:solidFill>
                  <a:srgbClr val="535A61"/>
                </a:solidFill>
                <a:latin typeface="Arial"/>
                <a:ea typeface="Arial"/>
                <a:cs typeface="Arial"/>
              </a:rPr>
              <a:t>46</a:t>
            </a:r>
          </a:p>
        </p:txBody>
      </p:sp>
      <p:sp>
        <p:nvSpPr>
          <p:cNvPr id="6" name="text-752">
            <a:extLst xmlns:a="http://schemas.openxmlformats.org/drawingml/2006/main">
              <a:ext uri="{FF2B5EF4-FFF2-40B4-BE49-F238E27FC236}">
                <a16:creationId xmlns:a16="http://schemas.microsoft.com/office/drawing/2014/main" id="{87E2932E-DCDE-4833-9735-41C6467B8950}"/>
              </a:ext>
            </a:extLst>
          </p:cNvPr>
          <p:cNvSpPr>
            <a:spLocks xmlns:a="http://schemas.openxmlformats.org/drawingml/2006/main" noGrp="1"/>
          </p:cNvSpPr>
          <p:nvPr/>
        </p:nvSpPr>
        <p:spPr>
          <a:xfrm xmlns:a="http://schemas.openxmlformats.org/drawingml/2006/main">
            <a:off x="685800" y="20955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05f2f972feb341ee"/>
              </a:rPr>
              <a:t>Data model</a:t>
            </a:r>
          </a:p>
        </p:txBody>
      </p:sp>
      <p:sp>
        <p:nvSpPr>
          <p:cNvPr id="7" name="text-753">
            <a:extLst xmlns:a="http://schemas.openxmlformats.org/drawingml/2006/main">
              <a:ext uri="{FF2B5EF4-FFF2-40B4-BE49-F238E27FC236}">
                <a16:creationId xmlns:a16="http://schemas.microsoft.com/office/drawing/2014/main" id="{89B659D7-2C1F-4F7C-AF55-9BB456EBFDF8}"/>
              </a:ext>
            </a:extLst>
          </p:cNvPr>
          <p:cNvSpPr>
            <a:spLocks xmlns:a="http://schemas.openxmlformats.org/drawingml/2006/main" noGrp="1"/>
          </p:cNvSpPr>
          <p:nvPr/>
        </p:nvSpPr>
        <p:spPr>
          <a:xfrm xmlns:a="http://schemas.openxmlformats.org/drawingml/2006/main">
            <a:off x="5600700" y="21145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Идентичность, протоколы и создание классов</a:t>
            </a:r>
          </a:p>
        </p:txBody>
      </p:sp>
      <p:sp>
        <p:nvSpPr>
          <p:cNvPr id="8" name="surface-754">
            <a:extLst xmlns:a="http://schemas.openxmlformats.org/drawingml/2006/main">
              <a:ext uri="{FF2B5EF4-FFF2-40B4-BE49-F238E27FC236}">
                <a16:creationId xmlns:a16="http://schemas.microsoft.com/office/drawing/2014/main" id="{AB36399A-F881-40EE-B517-86B4604B4E2F}"/>
              </a:ext>
            </a:extLst>
          </p:cNvPr>
          <p:cNvSpPr>
            <a:spLocks xmlns:a="http://schemas.openxmlformats.org/drawingml/2006/main" noGrp="1"/>
          </p:cNvSpPr>
          <p:nvPr/>
        </p:nvSpPr>
        <p:spPr>
          <a:xfrm xmlns:a="http://schemas.openxmlformats.org/drawingml/2006/main">
            <a:off x="685800" y="26384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9" name="text-755">
            <a:extLst xmlns:a="http://schemas.openxmlformats.org/drawingml/2006/main">
              <a:ext uri="{FF2B5EF4-FFF2-40B4-BE49-F238E27FC236}">
                <a16:creationId xmlns:a16="http://schemas.microsoft.com/office/drawing/2014/main" id="{15F81D1A-C9B4-4E83-83F0-2CB9B06C1A73}"/>
              </a:ext>
            </a:extLst>
          </p:cNvPr>
          <p:cNvSpPr>
            <a:spLocks xmlns:a="http://schemas.openxmlformats.org/drawingml/2006/main" noGrp="1"/>
          </p:cNvSpPr>
          <p:nvPr/>
        </p:nvSpPr>
        <p:spPr>
          <a:xfrm xmlns:a="http://schemas.openxmlformats.org/drawingml/2006/main">
            <a:off x="685800" y="27813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cb5c79c01c324a4a"/>
              </a:rPr>
              <a:t>dataclasses</a:t>
            </a:r>
          </a:p>
        </p:txBody>
      </p:sp>
      <p:sp>
        <p:nvSpPr>
          <p:cNvPr id="10" name="text-756">
            <a:extLst xmlns:a="http://schemas.openxmlformats.org/drawingml/2006/main">
              <a:ext uri="{FF2B5EF4-FFF2-40B4-BE49-F238E27FC236}">
                <a16:creationId xmlns:a16="http://schemas.microsoft.com/office/drawing/2014/main" id="{71410149-7EE3-4269-BDE9-9B583FAF3838}"/>
              </a:ext>
            </a:extLst>
          </p:cNvPr>
          <p:cNvSpPr>
            <a:spLocks xmlns:a="http://schemas.openxmlformats.org/drawingml/2006/main" noGrp="1"/>
          </p:cNvSpPr>
          <p:nvPr/>
        </p:nvSpPr>
        <p:spPr>
          <a:xfrm xmlns:a="http://schemas.openxmlformats.org/drawingml/2006/main">
            <a:off x="5600700" y="28003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Генерация методов, default_factory и frozen</a:t>
            </a:r>
          </a:p>
        </p:txBody>
      </p:sp>
      <p:sp>
        <p:nvSpPr>
          <p:cNvPr id="11" name="surface-757">
            <a:extLst xmlns:a="http://schemas.openxmlformats.org/drawingml/2006/main">
              <a:ext uri="{FF2B5EF4-FFF2-40B4-BE49-F238E27FC236}">
                <a16:creationId xmlns:a16="http://schemas.microsoft.com/office/drawing/2014/main" id="{983CB6B4-7F6E-4272-8735-3E9F7C532A6C}"/>
              </a:ext>
            </a:extLst>
          </p:cNvPr>
          <p:cNvSpPr>
            <a:spLocks xmlns:a="http://schemas.openxmlformats.org/drawingml/2006/main" noGrp="1"/>
          </p:cNvSpPr>
          <p:nvPr/>
        </p:nvSpPr>
        <p:spPr>
          <a:xfrm xmlns:a="http://schemas.openxmlformats.org/drawingml/2006/main">
            <a:off x="685800" y="33242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2" name="text-758">
            <a:extLst xmlns:a="http://schemas.openxmlformats.org/drawingml/2006/main">
              <a:ext uri="{FF2B5EF4-FFF2-40B4-BE49-F238E27FC236}">
                <a16:creationId xmlns:a16="http://schemas.microsoft.com/office/drawing/2014/main" id="{A4AC1AC1-4112-43F8-91AF-A656504EA42E}"/>
              </a:ext>
            </a:extLst>
          </p:cNvPr>
          <p:cNvSpPr>
            <a:spLocks xmlns:a="http://schemas.openxmlformats.org/drawingml/2006/main" noGrp="1"/>
          </p:cNvSpPr>
          <p:nvPr/>
        </p:nvSpPr>
        <p:spPr>
          <a:xfrm xmlns:a="http://schemas.openxmlformats.org/drawingml/2006/main">
            <a:off x="685800" y="34671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50cf38d6161148ea"/>
              </a:rPr>
              <a:t>typing / collections.abc</a:t>
            </a:r>
          </a:p>
        </p:txBody>
      </p:sp>
      <p:sp>
        <p:nvSpPr>
          <p:cNvPr id="13" name="text-759">
            <a:extLst xmlns:a="http://schemas.openxmlformats.org/drawingml/2006/main">
              <a:ext uri="{FF2B5EF4-FFF2-40B4-BE49-F238E27FC236}">
                <a16:creationId xmlns:a16="http://schemas.microsoft.com/office/drawing/2014/main" id="{B37D95C0-5CFD-4944-8802-0C48A0AAB282}"/>
              </a:ext>
            </a:extLst>
          </p:cNvPr>
          <p:cNvSpPr>
            <a:spLocks xmlns:a="http://schemas.openxmlformats.org/drawingml/2006/main" noGrp="1"/>
          </p:cNvSpPr>
          <p:nvPr/>
        </p:nvSpPr>
        <p:spPr>
          <a:xfrm xmlns:a="http://schemas.openxmlformats.org/drawingml/2006/main">
            <a:off x="5600700" y="34861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Аннотации и интерфейсы контейнеров</a:t>
            </a:r>
          </a:p>
        </p:txBody>
      </p:sp>
      <p:sp>
        <p:nvSpPr>
          <p:cNvPr id="14" name="surface-760">
            <a:extLst xmlns:a="http://schemas.openxmlformats.org/drawingml/2006/main">
              <a:ext uri="{FF2B5EF4-FFF2-40B4-BE49-F238E27FC236}">
                <a16:creationId xmlns:a16="http://schemas.microsoft.com/office/drawing/2014/main" id="{3B4A0AD5-9D3C-4219-A61C-B5DEFFB985CA}"/>
              </a:ext>
            </a:extLst>
          </p:cNvPr>
          <p:cNvSpPr>
            <a:spLocks xmlns:a="http://schemas.openxmlformats.org/drawingml/2006/main" noGrp="1"/>
          </p:cNvSpPr>
          <p:nvPr/>
        </p:nvSpPr>
        <p:spPr>
          <a:xfrm xmlns:a="http://schemas.openxmlformats.org/drawingml/2006/main">
            <a:off x="685800" y="40100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5" name="text-761">
            <a:extLst xmlns:a="http://schemas.openxmlformats.org/drawingml/2006/main">
              <a:ext uri="{FF2B5EF4-FFF2-40B4-BE49-F238E27FC236}">
                <a16:creationId xmlns:a16="http://schemas.microsoft.com/office/drawing/2014/main" id="{EF91B9BF-03F5-4754-BA28-FED1CC25E183}"/>
              </a:ext>
            </a:extLst>
          </p:cNvPr>
          <p:cNvSpPr>
            <a:spLocks xmlns:a="http://schemas.openxmlformats.org/drawingml/2006/main" noGrp="1"/>
          </p:cNvSpPr>
          <p:nvPr/>
        </p:nvSpPr>
        <p:spPr>
          <a:xfrm xmlns:a="http://schemas.openxmlformats.org/drawingml/2006/main">
            <a:off x="685800" y="41529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3d37c90a097d4685"/>
              </a:rPr>
              <a:t>PEP 3115</a:t>
            </a:r>
          </a:p>
        </p:txBody>
      </p:sp>
      <p:sp>
        <p:nvSpPr>
          <p:cNvPr id="16" name="text-762">
            <a:extLst xmlns:a="http://schemas.openxmlformats.org/drawingml/2006/main">
              <a:ext uri="{FF2B5EF4-FFF2-40B4-BE49-F238E27FC236}">
                <a16:creationId xmlns:a16="http://schemas.microsoft.com/office/drawing/2014/main" id="{D86C3035-AC7A-42A0-A2DD-81429F1BCA18}"/>
              </a:ext>
            </a:extLst>
          </p:cNvPr>
          <p:cNvSpPr>
            <a:spLocks xmlns:a="http://schemas.openxmlformats.org/drawingml/2006/main" noGrp="1"/>
          </p:cNvSpPr>
          <p:nvPr/>
        </p:nvSpPr>
        <p:spPr>
          <a:xfrm xmlns:a="http://schemas.openxmlformats.org/drawingml/2006/main">
            <a:off x="5600700" y="41719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Подготовка пространства имён и метаклассы</a:t>
            </a:r>
          </a:p>
        </p:txBody>
      </p:sp>
      <p:sp>
        <p:nvSpPr>
          <p:cNvPr id="17" name="surface-763">
            <a:extLst xmlns:a="http://schemas.openxmlformats.org/drawingml/2006/main">
              <a:ext uri="{FF2B5EF4-FFF2-40B4-BE49-F238E27FC236}">
                <a16:creationId xmlns:a16="http://schemas.microsoft.com/office/drawing/2014/main" id="{7EC89025-73C6-4B1D-8125-F14E7A505C2B}"/>
              </a:ext>
            </a:extLst>
          </p:cNvPr>
          <p:cNvSpPr>
            <a:spLocks xmlns:a="http://schemas.openxmlformats.org/drawingml/2006/main" noGrp="1"/>
          </p:cNvSpPr>
          <p:nvPr/>
        </p:nvSpPr>
        <p:spPr>
          <a:xfrm xmlns:a="http://schemas.openxmlformats.org/drawingml/2006/main">
            <a:off x="685800" y="46958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18" name="text-764">
            <a:extLst xmlns:a="http://schemas.openxmlformats.org/drawingml/2006/main">
              <a:ext uri="{FF2B5EF4-FFF2-40B4-BE49-F238E27FC236}">
                <a16:creationId xmlns:a16="http://schemas.microsoft.com/office/drawing/2014/main" id="{3A29B040-690B-43A2-85B5-1A4CC2363320}"/>
              </a:ext>
            </a:extLst>
          </p:cNvPr>
          <p:cNvSpPr>
            <a:spLocks xmlns:a="http://schemas.openxmlformats.org/drawingml/2006/main" noGrp="1"/>
          </p:cNvSpPr>
          <p:nvPr/>
        </p:nvSpPr>
        <p:spPr>
          <a:xfrm xmlns:a="http://schemas.openxmlformats.org/drawingml/2006/main">
            <a:off x="685800" y="48387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f38821f1659a4746"/>
              </a:rPr>
              <a:t>PEP 487</a:t>
            </a:r>
          </a:p>
        </p:txBody>
      </p:sp>
      <p:sp>
        <p:nvSpPr>
          <p:cNvPr id="19" name="text-765">
            <a:extLst xmlns:a="http://schemas.openxmlformats.org/drawingml/2006/main">
              <a:ext uri="{FF2B5EF4-FFF2-40B4-BE49-F238E27FC236}">
                <a16:creationId xmlns:a16="http://schemas.microsoft.com/office/drawing/2014/main" id="{803FC21A-FA19-44DA-8984-58C2431A3003}"/>
              </a:ext>
            </a:extLst>
          </p:cNvPr>
          <p:cNvSpPr>
            <a:spLocks xmlns:a="http://schemas.openxmlformats.org/drawingml/2006/main" noGrp="1"/>
          </p:cNvSpPr>
          <p:nvPr/>
        </p:nvSpPr>
        <p:spPr>
          <a:xfrm xmlns:a="http://schemas.openxmlformats.org/drawingml/2006/main">
            <a:off x="5600700" y="48577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Более простые hooks создания подклассов</a:t>
            </a:r>
          </a:p>
        </p:txBody>
      </p:sp>
      <p:sp>
        <p:nvSpPr>
          <p:cNvPr id="20" name="surface-766">
            <a:extLst xmlns:a="http://schemas.openxmlformats.org/drawingml/2006/main">
              <a:ext uri="{FF2B5EF4-FFF2-40B4-BE49-F238E27FC236}">
                <a16:creationId xmlns:a16="http://schemas.microsoft.com/office/drawing/2014/main" id="{7C09128E-7806-4AE5-92A6-0D0DE1C9BA0B}"/>
              </a:ext>
            </a:extLst>
          </p:cNvPr>
          <p:cNvSpPr>
            <a:spLocks xmlns:a="http://schemas.openxmlformats.org/drawingml/2006/main" noGrp="1"/>
          </p:cNvSpPr>
          <p:nvPr/>
        </p:nvSpPr>
        <p:spPr>
          <a:xfrm xmlns:a="http://schemas.openxmlformats.org/drawingml/2006/main">
            <a:off x="685800" y="5381625"/>
            <a:ext cx="10820400" cy="9525"/>
          </a:xfrm>
          <a:prstGeom xmlns:a="http://schemas.openxmlformats.org/drawingml/2006/main" prst="rect">
            <a:avLst/>
          </a:prstGeom>
          <a:solidFill xmlns:a="http://schemas.openxmlformats.org/drawingml/2006/main">
            <a:srgbClr val="C6CAD0"/>
          </a:solidFill>
          <a:ln xmlns:a="http://schemas.openxmlformats.org/drawingml/2006/main" w="0">
            <a:noFill/>
            <a:prstDash val="solid"/>
          </a:ln>
        </p:spPr>
      </p:sp>
      <p:sp>
        <p:nvSpPr>
          <p:cNvPr id="21" name="text-767">
            <a:extLst xmlns:a="http://schemas.openxmlformats.org/drawingml/2006/main">
              <a:ext uri="{FF2B5EF4-FFF2-40B4-BE49-F238E27FC236}">
                <a16:creationId xmlns:a16="http://schemas.microsoft.com/office/drawing/2014/main" id="{5E7B7314-AFB6-42BE-B364-E4F7902173BC}"/>
              </a:ext>
            </a:extLst>
          </p:cNvPr>
          <p:cNvSpPr>
            <a:spLocks xmlns:a="http://schemas.openxmlformats.org/drawingml/2006/main" noGrp="1"/>
          </p:cNvSpPr>
          <p:nvPr/>
        </p:nvSpPr>
        <p:spPr>
          <a:xfrm xmlns:a="http://schemas.openxmlformats.org/drawingml/2006/main">
            <a:off x="685800" y="5524500"/>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86DA6"/>
                </a:solidFill>
                <a:latin typeface="Arial"/>
                <a:ea typeface="Arial"/>
                <a:cs typeface="Arial"/>
              </a:defRPr>
            </a:pPr>
            <a:r>
              <a:rPr sz="1950" b="1">
                <a:solidFill>
                  <a:srgbClr val="286DA6"/>
                </a:solidFill>
                <a:latin typeface="Arial"/>
                <a:ea typeface="Arial"/>
                <a:cs typeface="Arial"/>
                <a:hlinkClick xmlns:r="http://schemas.openxmlformats.org/officeDocument/2006/relationships" r:id="Rac3c30735ef049da"/>
              </a:rPr>
              <a:t>Classes tutorial</a:t>
            </a:r>
          </a:p>
        </p:txBody>
      </p:sp>
      <p:sp>
        <p:nvSpPr>
          <p:cNvPr id="22" name="text-768">
            <a:extLst xmlns:a="http://schemas.openxmlformats.org/drawingml/2006/main">
              <a:ext uri="{FF2B5EF4-FFF2-40B4-BE49-F238E27FC236}">
                <a16:creationId xmlns:a16="http://schemas.microsoft.com/office/drawing/2014/main" id="{925D0477-713E-46A4-BE9B-165EB5E43929}"/>
              </a:ext>
            </a:extLst>
          </p:cNvPr>
          <p:cNvSpPr>
            <a:spLocks xmlns:a="http://schemas.openxmlformats.org/drawingml/2006/main" noGrp="1"/>
          </p:cNvSpPr>
          <p:nvPr/>
        </p:nvSpPr>
        <p:spPr>
          <a:xfrm xmlns:a="http://schemas.openxmlformats.org/drawingml/2006/main">
            <a:off x="5600700" y="55435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5A61"/>
                </a:solidFill>
                <a:latin typeface="Arial"/>
                <a:ea typeface="Arial"/>
                <a:cs typeface="Arial"/>
              </a:defRPr>
            </a:pPr>
            <a:r>
              <a:rPr sz="1800" b="0">
                <a:solidFill>
                  <a:srgbClr val="535A61"/>
                </a:solidFill>
                <a:latin typeface="Arial"/>
                <a:ea typeface="Arial"/>
                <a:cs typeface="Arial"/>
              </a:rPr>
              <a:t>Связи имён, классы, наследование и итераторы</a:t>
            </a:r>
          </a:p>
        </p:txBody>
      </p:sp>
    </p:spTree>
    <p:extLst>
      <p:ext uri="{BB962C8B-B14F-4D97-AF65-F5344CB8AC3E}">
        <p14:creationId xmlns:p14="http://schemas.microsoft.com/office/powerpoint/2010/main" val="924077540"/>
      </p:ext>
    </p:extLst>
  </p:cSld>
</p:sld>
</file>

<file path=ppt/theme/theme1.xml><?xml version="1.0" encoding="utf-8"?>
<a:theme xmlns:a="http://schemas.openxmlformats.org/drawingml/2006/main" name="ChatGPT">
  <a:themeElements>
    <a:clrScheme name="Python — lecture">
      <a:dk1>
        <a:srgbClr val="131518"/>
      </a:dk1>
      <a:lt1>
        <a:srgbClr val="FFFFFF"/>
      </a:lt1>
      <a:dk2>
        <a:srgbClr val="535A61"/>
      </a:dk2>
      <a:lt2>
        <a:srgbClr val="F0F1F2"/>
      </a:lt2>
      <a:accent1>
        <a:srgbClr val="286DA6"/>
      </a:accent1>
      <a:accent2>
        <a:srgbClr val="6DCBF4"/>
      </a:accent2>
      <a:accent3>
        <a:srgbClr val="30343A"/>
      </a:accent3>
      <a:accent4>
        <a:srgbClr val="808890"/>
      </a:accent4>
      <a:accent5>
        <a:srgbClr val="A8ADB3"/>
      </a:accent5>
      <a:accent6>
        <a:srgbClr val="DCECF8"/>
      </a:accent6>
      <a:hlink>
        <a:srgbClr val="286DA6"/>
      </a:hlink>
      <a:folHlink>
        <a:srgbClr val="286DA6"/>
      </a:folHlink>
    </a:clrScheme>
    <a:fontScheme name="Office">
      <a:majorFont>
        <a:latin typeface="Calibri Light"/>
        <a:ea typeface="Calibri Light"/>
        <a:cs typeface="Calibri Light"/>
      </a:majorFont>
      <a:minorFont>
        <a:latin typeface="Calibri"/>
        <a:ea typeface="Calibri"/>
        <a:cs typeface="Calibri"/>
      </a:minorFont>
    </a:fontScheme>
    <a:fmtScheme name="Python — l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2026-09-05T12:52:53.1010000Z</dcterms:created>
  <dcterms:modified xsi:type="dcterms:W3CDTF">2026-09-05T12:52:53.1010000Z</dcterms:modified>
</coreProperties>
</file>